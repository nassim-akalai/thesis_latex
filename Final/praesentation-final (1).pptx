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31"/>
  </p:notesMasterIdLst>
  <p:sldIdLst>
    <p:sldId id="362" r:id="rId2"/>
    <p:sldId id="259" r:id="rId3"/>
    <p:sldId id="363" r:id="rId4"/>
    <p:sldId id="364" r:id="rId5"/>
    <p:sldId id="365" r:id="rId6"/>
    <p:sldId id="3932" r:id="rId7"/>
    <p:sldId id="382" r:id="rId8"/>
    <p:sldId id="354" r:id="rId9"/>
    <p:sldId id="366" r:id="rId10"/>
    <p:sldId id="367" r:id="rId11"/>
    <p:sldId id="368" r:id="rId12"/>
    <p:sldId id="380" r:id="rId13"/>
    <p:sldId id="369" r:id="rId14"/>
    <p:sldId id="370" r:id="rId15"/>
    <p:sldId id="371" r:id="rId16"/>
    <p:sldId id="372" r:id="rId17"/>
    <p:sldId id="379" r:id="rId18"/>
    <p:sldId id="373" r:id="rId19"/>
    <p:sldId id="374" r:id="rId20"/>
    <p:sldId id="375" r:id="rId21"/>
    <p:sldId id="376" r:id="rId22"/>
    <p:sldId id="3933" r:id="rId23"/>
    <p:sldId id="377" r:id="rId24"/>
    <p:sldId id="3937" r:id="rId25"/>
    <p:sldId id="378" r:id="rId26"/>
    <p:sldId id="3934" r:id="rId27"/>
    <p:sldId id="3935" r:id="rId28"/>
    <p:sldId id="3938" r:id="rId29"/>
    <p:sldId id="393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6226445-A72C-4B6E-8E15-76FB6988B5DA}">
          <p14:sldIdLst>
            <p14:sldId id="362"/>
            <p14:sldId id="259"/>
          </p14:sldIdLst>
        </p14:section>
        <p14:section name="Einführung" id="{6FB69721-A9B1-462D-8858-C543E907DD50}">
          <p14:sldIdLst>
            <p14:sldId id="363"/>
          </p14:sldIdLst>
        </p14:section>
        <p14:section name="Backend Team" id="{93FFCA88-7CB2-41E9-BA9E-957C694234A9}">
          <p14:sldIdLst>
            <p14:sldId id="364"/>
            <p14:sldId id="365"/>
          </p14:sldIdLst>
        </p14:section>
        <p14:section name="Daily Tools" id="{818F29C6-D1BB-48BD-A118-B1881EB6052E}">
          <p14:sldIdLst>
            <p14:sldId id="3932"/>
            <p14:sldId id="382"/>
          </p14:sldIdLst>
        </p14:section>
        <p14:section name="Projekt 1" id="{7AEDD5B4-AACE-4C82-8C5D-DACD8AA3FB25}">
          <p14:sldIdLst>
            <p14:sldId id="354"/>
            <p14:sldId id="366"/>
            <p14:sldId id="367"/>
            <p14:sldId id="368"/>
            <p14:sldId id="380"/>
          </p14:sldIdLst>
        </p14:section>
        <p14:section name="Projekt 2" id="{9A828B72-2EE6-4A76-BBEA-38C8F6233687}">
          <p14:sldIdLst>
            <p14:sldId id="369"/>
            <p14:sldId id="370"/>
            <p14:sldId id="371"/>
            <p14:sldId id="372"/>
            <p14:sldId id="379"/>
          </p14:sldIdLst>
        </p14:section>
        <p14:section name="Projekt 3" id="{66D591C8-B03A-4F34-95D3-22E0E57F0214}">
          <p14:sldIdLst>
            <p14:sldId id="373"/>
            <p14:sldId id="374"/>
            <p14:sldId id="375"/>
            <p14:sldId id="376"/>
            <p14:sldId id="3933"/>
          </p14:sldIdLst>
        </p14:section>
        <p14:section name="Reflexion" id="{4608F46A-AD80-4D2E-9443-0D33C7D46BB9}">
          <p14:sldIdLst>
            <p14:sldId id="377"/>
          </p14:sldIdLst>
        </p14:section>
        <p14:section name="Danksagung" id="{44166DF1-BF8C-4B0E-8E62-7F75BE5934CA}">
          <p14:sldIdLst>
            <p14:sldId id="3937"/>
          </p14:sldIdLst>
        </p14:section>
        <p14:section name="Quellen" id="{146C06E0-473A-4EC0-A026-5E7C0E771B05}">
          <p14:sldIdLst>
            <p14:sldId id="378"/>
            <p14:sldId id="3934"/>
            <p14:sldId id="3935"/>
            <p14:sldId id="3938"/>
            <p14:sldId id="39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E2F7"/>
    <a:srgbClr val="007EB9"/>
    <a:srgbClr val="72B904"/>
    <a:srgbClr val="DBE38F"/>
    <a:srgbClr val="FFD200"/>
    <a:srgbClr val="FFEB7F"/>
    <a:srgbClr val="EF8700"/>
    <a:srgbClr val="FDD490"/>
    <a:srgbClr val="9B006B"/>
    <a:srgbClr val="E3A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9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55C18-273B-4A9F-8AB6-FC51CCC36520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CAB80-D71C-4D31-9306-0B954A67F8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32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736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869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 bwMode="gray">
          <a:xfrm>
            <a:off x="0" y="765174"/>
            <a:ext cx="12191187" cy="609282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1" cy="1728880"/>
          </a:xfrm>
          <a:solidFill>
            <a:schemeClr val="bg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1" cy="433553"/>
          </a:xfrm>
          <a:solidFill>
            <a:schemeClr val="bg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tx2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Optional: max.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info</a:t>
            </a:r>
            <a:r>
              <a:rPr lang="de-DE" dirty="0"/>
              <a:t> like Date, Place, Speaker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9B0168-770F-4801-9C13-0838EAD3E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6131181"/>
            <a:ext cx="5760511" cy="360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398E6D-33D6-46F7-8AFA-388FFEAE2094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20D68B-838B-49EC-B5FD-F8575DA971C5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2DB86D0-A38B-46C2-822E-9075FA7CE18F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6C35ACA-FFE5-4D07-87CA-69EB152877AB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762C505-B72C-4E31-8D49-23011A8B442A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1B616AB-AC4C-4535-8AA8-FA274A5A6CDF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9A90105-7DD1-4635-A357-65AA3E3DBB77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79EC5FA-7FF7-40AB-BC64-526CC9BE9186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D089EA6-D662-4D5B-8457-79120918B7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8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icture Placeholder 4">
            <a:extLst>
              <a:ext uri="{FF2B5EF4-FFF2-40B4-BE49-F238E27FC236}">
                <a16:creationId xmlns:a16="http://schemas.microsoft.com/office/drawing/2014/main" id="{DE883543-1193-44C9-8F80-BBB7E39B5D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767064"/>
            <a:ext cx="12191187" cy="609093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3" cy="1728880"/>
          </a:xfrm>
          <a:solidFill>
            <a:schemeClr val="accent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3" cy="433553"/>
          </a:xfrm>
          <a:solidFill>
            <a:schemeClr val="accent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Optional: max. one subline with info like Date, Place, Speaker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A86BAE-8E8F-4C4D-8D00-C7361B7C095E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32B3CDC-BC01-40E0-BBB1-2BF03171B76B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30283F5-ADEF-4F84-A838-10B925064F41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8F48637-E8FA-4F56-96E4-CAA199124989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5239923-96F1-42D3-B636-506D9CEB12D5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3BEE575-66BD-45D6-B1B9-5B053D49E52D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679313C-BFBC-4EB6-8412-642D1124D4CB}"/>
                  </a:ext>
                </a:extLst>
              </p:cNvPr>
              <p:cNvCxnSpPr>
                <a:cxnSpLocks/>
                <a:stCxn id="17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5691493-0FE1-4CDF-B828-8BA373940150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EF5A409E-3CB4-4949-8324-59E9365A1E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073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774DAC3A-E673-4071-B765-16109B4841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1592262"/>
            <a:ext cx="11522074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6322A0-0106-4857-A9FA-185F3973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CFB3BA-047D-4CBA-84BF-B9B3DD622C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FE989E-5B07-43D5-A814-1B0F77E8D3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991465-BAB0-4A21-A9F0-84C0C1B36CB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353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62538E-5126-4DA2-95D5-F5F53F8F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5098" y="1592264"/>
            <a:ext cx="5651940" cy="47894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3DF55B-EEB5-42AE-9F85-943FEEAE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B05A83-A6F5-4201-8D1E-B9E61038665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8BB4EC-A5DD-499A-9C01-B25AD3F2F50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E7B3F2-BE78-431F-8BE0-BBE2B67070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687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5098" y="1592262"/>
            <a:ext cx="5651940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DF714F-BDDB-45A6-B1BB-8CF87F9AAD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97AAE-1E2A-4D5E-BC44-0374E2CC68B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B3651-2105-4E49-90B5-C9A76522BFB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7F017D-D418-4A1C-B487-A6605334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4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3" y="1592263"/>
            <a:ext cx="5653087" cy="477996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5098" y="1592264"/>
            <a:ext cx="5651940" cy="47894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14B362-18EF-415C-ABAA-103ECE93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ADD940-A913-41BD-9857-7301F684ABA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6F099-2F59-4FC2-A5CC-296050927FD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3EDB932-0738-48D5-9838-40C9D626478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8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3950" y="765176"/>
            <a:ext cx="5988049" cy="609282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816" y="1592264"/>
            <a:ext cx="5653088" cy="47894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B4C320-2699-4CC8-A0BE-D0BD5C442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ADFD02-BC87-4C28-ADC8-1EF7AC14366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D6F252-8CAC-4F27-8E70-08A9AA37D35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4237C85-CDEC-47F2-B187-E8DEF1E56D3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54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0" y="765174"/>
            <a:ext cx="5988050" cy="609282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0" y="1592262"/>
            <a:ext cx="5653088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A23FD4-D874-4D71-94BC-E70EC65E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50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966C04-233A-4A76-92A1-041834A5C64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FA2E52-CA74-4A4F-9A04-DB75964370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DDB9838-23B9-4CF4-82FA-A8A368A9F03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794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7415D5-38BB-48D1-8432-FBC44DF1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61F149-E92B-4962-8F7A-E73AC1DE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E73C8FA-C947-4A34-87C5-61064CF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47BDC61-A510-43BF-B972-608927F3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7774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1E8FB8-778B-4E61-9EE5-9265814F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57A5DB-9DEF-4E19-9C37-C3CAB252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A12F9-D854-4893-A79B-E73040B0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283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4" y="1592263"/>
            <a:ext cx="11522074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D39577-2DFA-48AB-97A8-D6159707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204F8-A4D5-4368-95D3-D48ACB47F5B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BB880-F729-49B3-8A17-865E49C306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2F5441-9315-426B-B20C-93C85FFA30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381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DC1E94E-C9A6-4C8C-9EB4-05957B71C3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-1" y="765175"/>
            <a:ext cx="12192000" cy="6092824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9663E8-67FA-4939-AF62-5F42DFF82A7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6DCB3D-8EEF-44E7-898B-6F2B8ABC0B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40FB5F-EED9-4B17-A2B6-E9B435EE6E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314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334964" y="765174"/>
            <a:ext cx="11522074" cy="561657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19C69C-30F4-4CAF-898F-2B576BCF11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A1473E-6B1F-4659-8E44-51FDD9EFE1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93609FA6-1085-40F3-802D-0820964280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12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-1" y="0"/>
            <a:ext cx="12194787" cy="68580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3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ildplatzhalter 27">
            <a:extLst>
              <a:ext uri="{FF2B5EF4-FFF2-40B4-BE49-F238E27FC236}">
                <a16:creationId xmlns:a16="http://schemas.microsoft.com/office/drawing/2014/main" id="{6FE7DCC3-36C3-4864-8FAC-9BD36D98D80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44027" y="1589637"/>
            <a:ext cx="3613011" cy="2159013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7">
            <a:extLst>
              <a:ext uri="{FF2B5EF4-FFF2-40B4-BE49-F238E27FC236}">
                <a16:creationId xmlns:a16="http://schemas.microsoft.com/office/drawing/2014/main" id="{DF3C1791-FBD9-4BC3-9322-41B9B0D3C2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99909" y="1589669"/>
            <a:ext cx="3606454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7" name="Textplatzhalter 29">
            <a:extLst>
              <a:ext uri="{FF2B5EF4-FFF2-40B4-BE49-F238E27FC236}">
                <a16:creationId xmlns:a16="http://schemas.microsoft.com/office/drawing/2014/main" id="{ABBF58A8-1EDF-4AA1-916D-46D91DCF0E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6260" y="3968750"/>
            <a:ext cx="3588866" cy="2410406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.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263"/>
            <a:ext cx="3606455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3756" y="3968750"/>
            <a:ext cx="3588867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</p:txBody>
      </p:sp>
      <p:sp>
        <p:nvSpPr>
          <p:cNvPr id="41" name="Textplatzhalter 29">
            <a:extLst>
              <a:ext uri="{FF2B5EF4-FFF2-40B4-BE49-F238E27FC236}">
                <a16:creationId xmlns:a16="http://schemas.microsoft.com/office/drawing/2014/main" id="{D5AA0C8B-C3F2-46D1-82A2-DE2CC24AA68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2821" y="3968750"/>
            <a:ext cx="3595391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B20DD99-0390-405A-A290-EAB8B2BFD5D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6545783-B76C-44E6-8F61-6485E286CD0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F227043-03C2-4DB7-B4E9-1E27905F375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77934011-2113-4671-9F8E-4F33CBA3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74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854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7A9ED2-EBDC-4D99-A798-A8698C22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4282" y="1593881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762F50-AA69-4469-A9FA-46561DF72E4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E7CFB-BDEC-4412-8780-BBC768337B1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A709E7-45F0-4447-B4B7-379A8395D08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r"/>
            <a:fld id="{4F3EDCA4-FD3C-457D-A8B2-E658E51B7E07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6" y="3975069"/>
            <a:ext cx="3643992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3975069"/>
            <a:ext cx="3643940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3444" y="1593290"/>
            <a:ext cx="3643594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1592263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07170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_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2339509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23401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4968" y="2340000"/>
            <a:ext cx="3642070" cy="1900309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5806" y="23400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4479604"/>
            <a:ext cx="3643931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4481222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5" y="4480950"/>
            <a:ext cx="3642071" cy="1899454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448095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751C7E5D-1C31-4604-8001-938ABF644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4962" y="1592263"/>
            <a:ext cx="11522075" cy="553634"/>
          </a:xfrm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A23D03-4076-42CD-B842-7C9CFDE8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296C5-3D78-439A-99CF-600A36F140F2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596695-C69C-413D-A38B-A3451961F01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FAB6A7-BDC6-482F-B086-4EC40A88025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746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4963" y="873125"/>
            <a:ext cx="11522075" cy="53975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34964" y="1592263"/>
            <a:ext cx="11522074" cy="4789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34963" y="6524985"/>
            <a:ext cx="10211293" cy="143099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67678" y="6524985"/>
            <a:ext cx="389359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C0C8E03-F117-4A5C-A126-D3D18DB0519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662445" y="6524985"/>
            <a:ext cx="689044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>
              <a:defRPr lang="en-US" sz="900" smtClean="0">
                <a:solidFill>
                  <a:schemeClr val="tx2"/>
                </a:solidFill>
              </a:defRPr>
            </a:lvl1pPr>
          </a:lstStyle>
          <a:p>
            <a:pPr algn="r"/>
            <a:fld id="{97728B36-2AAA-419D-83E6-AC7881E8E844}" type="datetime1">
              <a:rPr lang="en-US" smtClean="0"/>
              <a:t>9/23/2026</a:t>
            </a:fld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80DFF3A-A270-4DA9-845C-CEC2C8D3A27C}"/>
              </a:ext>
            </a:extLst>
          </p:cNvPr>
          <p:cNvCxnSpPr/>
          <p:nvPr userDrawn="1"/>
        </p:nvCxnSpPr>
        <p:spPr bwMode="gray">
          <a:xfrm>
            <a:off x="-1019175" y="765175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AE6FF62-D5FC-4572-8E36-147D97C13AD5}"/>
              </a:ext>
            </a:extLst>
          </p:cNvPr>
          <p:cNvSpPr txBox="1"/>
          <p:nvPr userDrawn="1"/>
        </p:nvSpPr>
        <p:spPr bwMode="gray">
          <a:xfrm>
            <a:off x="-1019175" y="250814"/>
            <a:ext cx="995111" cy="4349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dirty="0" err="1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272A78F-E52E-4AA1-BE7F-1BB50E165594}"/>
              </a:ext>
            </a:extLst>
          </p:cNvPr>
          <p:cNvCxnSpPr/>
          <p:nvPr userDrawn="1"/>
        </p:nvCxnSpPr>
        <p:spPr bwMode="gray">
          <a:xfrm>
            <a:off x="-1019175" y="0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B470433-6221-41BD-91AD-CE215515AF6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-257175" y="0"/>
            <a:ext cx="0" cy="756000"/>
          </a:xfrm>
          <a:prstGeom prst="straightConnector1">
            <a:avLst/>
          </a:prstGeom>
          <a:ln w="63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4DA686A-2B4B-45CD-9952-5DF06A5A3A55}"/>
              </a:ext>
            </a:extLst>
          </p:cNvPr>
          <p:cNvSpPr txBox="1"/>
          <p:nvPr userDrawn="1"/>
        </p:nvSpPr>
        <p:spPr bwMode="gray">
          <a:xfrm>
            <a:off x="-1421239" y="0"/>
            <a:ext cx="1087852" cy="7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200" noProof="0" dirty="0">
                <a:solidFill>
                  <a:srgbClr val="FF0000"/>
                </a:solidFill>
              </a:rPr>
              <a:t>Don‘t place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any elements in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the brand zone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66BCEF-2CE5-41AF-8724-F8E6C00C50D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252000"/>
            <a:ext cx="151152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0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22" r:id="rId2"/>
    <p:sldLayoutId id="2147483702" r:id="rId3"/>
    <p:sldLayoutId id="2147483725" r:id="rId4"/>
    <p:sldLayoutId id="2147483703" r:id="rId5"/>
    <p:sldLayoutId id="2147483704" r:id="rId6"/>
    <p:sldLayoutId id="2147483723" r:id="rId7"/>
    <p:sldLayoutId id="2147483724" r:id="rId8"/>
    <p:sldLayoutId id="2147483705" r:id="rId9"/>
    <p:sldLayoutId id="2147483721" r:id="rId10"/>
    <p:sldLayoutId id="2147483706" r:id="rId11"/>
    <p:sldLayoutId id="2147483720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 Black" panose="020B0A04020102020204" pitchFamily="34" charset="0"/>
        <a:buNone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162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324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86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5pPr>
      <a:lvl6pPr marL="810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6pPr>
      <a:lvl7pPr marL="972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7pPr>
      <a:lvl8pPr marL="1134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8pPr>
      <a:lvl9pPr marL="1296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4020" userDrawn="1">
          <p15:clr>
            <a:srgbClr val="F26B43"/>
          </p15:clr>
        </p15:guide>
        <p15:guide id="1" pos="211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003" userDrawn="1">
          <p15:clr>
            <a:srgbClr val="547EBF"/>
          </p15:clr>
        </p15:guide>
        <p15:guide id="4" orient="horz" pos="482" userDrawn="1">
          <p15:clr>
            <a:srgbClr val="F26B43"/>
          </p15:clr>
        </p15:guide>
        <p15:guide id="5" orient="horz" pos="550" userDrawn="1">
          <p15:clr>
            <a:srgbClr val="547EBF"/>
          </p15:clr>
        </p15:guide>
        <p15:guide id="7" orient="horz" pos="2500" userDrawn="1">
          <p15:clr>
            <a:srgbClr val="547EBF"/>
          </p15:clr>
        </p15:guide>
        <p15:guide id="9" pos="3908" userDrawn="1">
          <p15:clr>
            <a:srgbClr val="547EBF"/>
          </p15:clr>
        </p15:guide>
        <p15:guide id="10" pos="3772" userDrawn="1">
          <p15:clr>
            <a:srgbClr val="547EBF"/>
          </p15:clr>
        </p15:guide>
        <p15:guide id="11" pos="3840" userDrawn="1">
          <p15:clr>
            <a:srgbClr val="F26B43"/>
          </p15:clr>
        </p15:guide>
        <p15:guide id="12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8.svg"/><Relationship Id="rId7" Type="http://schemas.openxmlformats.org/officeDocument/2006/relationships/hyperlink" Target="https://www.google.com/search?q=https%3A%2F%2Fseeklogo.com%2Fvector-logo%2F331553%2Factive-directory" TargetMode="External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svg"/><Relationship Id="rId11" Type="http://schemas.openxmlformats.org/officeDocument/2006/relationships/image" Target="../media/image15.jpg"/><Relationship Id="rId5" Type="http://schemas.openxmlformats.org/officeDocument/2006/relationships/image" Target="../media/image10.svg"/><Relationship Id="rId10" Type="http://schemas.openxmlformats.org/officeDocument/2006/relationships/image" Target="../media/image14.png"/><Relationship Id="rId4" Type="http://schemas.openxmlformats.org/officeDocument/2006/relationships/image" Target="../media/image9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dns/dns-records/dns-a-record/?utm_source=gemini" TargetMode="External"/><Relationship Id="rId7" Type="http://schemas.openxmlformats.org/officeDocument/2006/relationships/hyperlink" Target="https://www.dash0.com/guides/serilog?utm_source=gemini" TargetMode="External"/><Relationship Id="rId2" Type="http://schemas.openxmlformats.org/officeDocument/2006/relationships/hyperlink" Target="https://www.cloudflare.com/de-de/learning/security/threats/cross-site-request-forgery/?utm_source=gemini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cloudflare.com/learning/dns/dns-records/dns-txt-record/?utm_source=gemini" TargetMode="External"/><Relationship Id="rId5" Type="http://schemas.openxmlformats.org/officeDocument/2006/relationships/hyperlink" Target="https://www.cloudflare.com/de-de/learning/dns/dns-records/?utm_source=gemini" TargetMode="External"/><Relationship Id="rId4" Type="http://schemas.openxmlformats.org/officeDocument/2006/relationships/hyperlink" Target="https://www.cloudflare.com/learning/dns/dns-records/dns-cname-record/?utm_source=gemini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de-de/think/topics/dns-records?utm_source=gemini" TargetMode="External"/><Relationship Id="rId7" Type="http://schemas.openxmlformats.org/officeDocument/2006/relationships/hyperlink" Target="https://www.servicenow.com/de/what-is-servicenow.html?utm_source=gemini" TargetMode="External"/><Relationship Id="rId2" Type="http://schemas.openxmlformats.org/officeDocument/2006/relationships/hyperlink" Target="https://www.heraeus.com/de/about-heraeus/history/?utm_source=gemini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learn.microsoft.com/de-de/windows-server/networking/technologies/dhcp/dhcp-scopes" TargetMode="External"/><Relationship Id="rId5" Type="http://schemas.openxmlformats.org/officeDocument/2006/relationships/hyperlink" Target="https://learn.microsoft.com/de-de/aspnet/overview?utm_source=gemini" TargetMode="External"/><Relationship Id="rId4" Type="http://schemas.openxmlformats.org/officeDocument/2006/relationships/hyperlink" Target="https://learn.microsoft.com/de-de/aspnet/core/overview?view=aspnetcore-10.0&amp;utm_source=gemini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ogos-world.net/azure-devops-logo/" TargetMode="External"/><Relationship Id="rId2" Type="http://schemas.openxmlformats.org/officeDocument/2006/relationships/hyperlink" Target="https://www.pressebox.de/pressemitteilung/guidevision-deutschland-gmbh/mit-servicenow-und-tanium-zu-modernen-it-workflows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seeklogo.com/vector-logo/331553/active-directory?utm_source=gemini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ocusign.com/de-de/blog/was-ist-ein-audit-trail-bedeutung-und-nutzen" TargetMode="Externa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10">
            <a:extLst>
              <a:ext uri="{FF2B5EF4-FFF2-40B4-BE49-F238E27FC236}">
                <a16:creationId xmlns:a16="http://schemas.microsoft.com/office/drawing/2014/main" id="{3C19B778-A1A8-4864-9551-EBA05E17CC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E7C73B-9353-4195-A6EF-11E895EF7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3907194"/>
            <a:ext cx="5953103" cy="1790436"/>
          </a:xfrm>
        </p:spPr>
        <p:txBody>
          <a:bodyPr/>
          <a:lstStyle/>
          <a:p>
            <a:r>
              <a:rPr lang="de-DE" sz="2200" dirty="0">
                <a:solidFill>
                  <a:srgbClr val="007EB9"/>
                </a:solidFill>
              </a:rPr>
              <a:t>Cloud </a:t>
            </a:r>
            <a:r>
              <a:rPr lang="de-DE" sz="2200" dirty="0" err="1">
                <a:solidFill>
                  <a:srgbClr val="007EB9"/>
                </a:solidFill>
              </a:rPr>
              <a:t>infrastructure</a:t>
            </a:r>
            <a:r>
              <a:rPr lang="de-DE" sz="2200" dirty="0">
                <a:solidFill>
                  <a:srgbClr val="007EB9"/>
                </a:solidFill>
              </a:rPr>
              <a:t> </a:t>
            </a:r>
            <a:r>
              <a:rPr lang="de-DE" sz="2200" dirty="0" err="1">
                <a:solidFill>
                  <a:srgbClr val="007EB9"/>
                </a:solidFill>
              </a:rPr>
              <a:t>automation</a:t>
            </a:r>
            <a:br>
              <a:rPr lang="de-DE" sz="2200" dirty="0">
                <a:solidFill>
                  <a:srgbClr val="007EB9"/>
                </a:solidFill>
              </a:rPr>
            </a:br>
            <a:br>
              <a:rPr lang="de-DE" sz="2200" dirty="0">
                <a:solidFill>
                  <a:srgbClr val="007EB9"/>
                </a:solidFill>
              </a:rPr>
            </a:br>
            <a:br>
              <a:rPr lang="de-DE" sz="2200" dirty="0">
                <a:solidFill>
                  <a:srgbClr val="007EB9"/>
                </a:solidFill>
              </a:rPr>
            </a:br>
            <a:endParaRPr lang="de-DE" sz="22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A3C7B8-4295-4F05-97EA-0017FE271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963" y="5697630"/>
            <a:ext cx="5953103" cy="433553"/>
          </a:xfrm>
        </p:spPr>
        <p:txBody>
          <a:bodyPr/>
          <a:lstStyle/>
          <a:p>
            <a:pPr lvl="0">
              <a:spcBef>
                <a:spcPts val="300"/>
              </a:spcBef>
            </a:pPr>
            <a:r>
              <a:rPr lang="de-DE" dirty="0"/>
              <a:t>Seminar zur Praxisphase</a:t>
            </a:r>
          </a:p>
          <a:p>
            <a:pPr lvl="0">
              <a:spcBef>
                <a:spcPts val="300"/>
              </a:spcBef>
            </a:pPr>
            <a:r>
              <a:rPr lang="de-DE" dirty="0"/>
              <a:t>Nassim Akalai - 1456967 </a:t>
            </a:r>
          </a:p>
          <a:p>
            <a:pPr lvl="0">
              <a:spcBef>
                <a:spcPts val="300"/>
              </a:spcBef>
            </a:pPr>
            <a:r>
              <a:rPr lang="de-DE" dirty="0"/>
              <a:t>Heraeus Consulting &amp; IT Solutions GmbH</a:t>
            </a:r>
          </a:p>
          <a:p>
            <a:pPr lvl="0">
              <a:spcBef>
                <a:spcPts val="300"/>
              </a:spcBef>
            </a:pPr>
            <a:r>
              <a:rPr lang="de-DE" dirty="0"/>
              <a:t>Frankfurt University of Applied Sciences - 25/09/2026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FB3B72-2784-4A49-821E-7D474C7B0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6131181"/>
            <a:ext cx="5953103" cy="36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4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F7C350-3AC0-4E54-9391-C754A956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9" name="Titel 88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Agenda – 6 topics</a:t>
            </a:r>
          </a:p>
        </p:txBody>
      </p:sp>
      <p:graphicFrame>
        <p:nvGraphicFramePr>
          <p:cNvPr id="10" name="Tabelle 3">
            <a:extLst>
              <a:ext uri="{FF2B5EF4-FFF2-40B4-BE49-F238E27FC236}">
                <a16:creationId xmlns:a16="http://schemas.microsoft.com/office/drawing/2014/main" id="{F5DFD5FB-95E9-45AF-BEE2-71DDB0700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601933"/>
              </p:ext>
            </p:extLst>
          </p:nvPr>
        </p:nvGraphicFramePr>
        <p:xfrm>
          <a:off x="334963" y="2040133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48805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EINFÜHRUNG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Heraeus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Heraeus Consulting &amp; IT Solutions GmbH</a:t>
                      </a: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1" name="Tabelle 3">
            <a:extLst>
              <a:ext uri="{FF2B5EF4-FFF2-40B4-BE49-F238E27FC236}">
                <a16:creationId xmlns:a16="http://schemas.microsoft.com/office/drawing/2014/main" id="{AC288C2F-8DE0-4B89-A02F-46CEAAB65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499402"/>
              </p:ext>
            </p:extLst>
          </p:nvPr>
        </p:nvGraphicFramePr>
        <p:xfrm>
          <a:off x="334963" y="3230750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BACKEND TEAM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Kernaufgaben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Meine Aufgaben</a:t>
                      </a: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2" name="Tabelle 3">
            <a:extLst>
              <a:ext uri="{FF2B5EF4-FFF2-40B4-BE49-F238E27FC236}">
                <a16:creationId xmlns:a16="http://schemas.microsoft.com/office/drawing/2014/main" id="{662EA7AE-EDD9-481D-AAF4-CFB591D31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920012"/>
              </p:ext>
            </p:extLst>
          </p:nvPr>
        </p:nvGraphicFramePr>
        <p:xfrm>
          <a:off x="6210476" y="2040132"/>
          <a:ext cx="5653087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PROJEKT 2 – TXT-Records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Situation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Task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Action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Result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3" name="Tabelle 3">
            <a:extLst>
              <a:ext uri="{FF2B5EF4-FFF2-40B4-BE49-F238E27FC236}">
                <a16:creationId xmlns:a16="http://schemas.microsoft.com/office/drawing/2014/main" id="{649364C6-EEC6-4BCD-B867-629030FDB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369810"/>
              </p:ext>
            </p:extLst>
          </p:nvPr>
        </p:nvGraphicFramePr>
        <p:xfrm>
          <a:off x="6203949" y="3230750"/>
          <a:ext cx="5653087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PROJEKT 3 – PW-Change-</a:t>
                      </a:r>
                      <a:r>
                        <a:rPr lang="de-DE" b="1" dirty="0" err="1">
                          <a:solidFill>
                            <a:schemeClr val="tx2"/>
                          </a:solidFill>
                        </a:rPr>
                        <a:t>WebApp</a:t>
                      </a:r>
                      <a:endParaRPr lang="de-DE" b="1" dirty="0">
                        <a:solidFill>
                          <a:schemeClr val="tx2"/>
                        </a:solidFill>
                      </a:endParaRP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Situation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Task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Action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Result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4" name="Tabelle 3">
            <a:extLst>
              <a:ext uri="{FF2B5EF4-FFF2-40B4-BE49-F238E27FC236}">
                <a16:creationId xmlns:a16="http://schemas.microsoft.com/office/drawing/2014/main" id="{4FDE5039-700F-475B-BFD1-AF580FF3A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98943"/>
              </p:ext>
            </p:extLst>
          </p:nvPr>
        </p:nvGraphicFramePr>
        <p:xfrm>
          <a:off x="334963" y="4421367"/>
          <a:ext cx="5653087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PROJEKT 1 - LOGGING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Situation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Task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Action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Result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5" name="Tabelle 3">
            <a:extLst>
              <a:ext uri="{FF2B5EF4-FFF2-40B4-BE49-F238E27FC236}">
                <a16:creationId xmlns:a16="http://schemas.microsoft.com/office/drawing/2014/main" id="{448FF128-3FB0-4AE3-8C20-A4A111D09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057200"/>
              </p:ext>
            </p:extLst>
          </p:nvPr>
        </p:nvGraphicFramePr>
        <p:xfrm>
          <a:off x="6203949" y="4421367"/>
          <a:ext cx="5653087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REFLEXION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Was habe ich mitgenommen?</a:t>
                      </a: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B62E8-F12A-41BB-B96C-832DA897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873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F16B20-1A6A-3754-D656-64E40FF1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42EB509-A285-7D34-4C1E-E120FACD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DE13F4C-A689-A45D-0043-9B38E3AEB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Einführung</a:t>
            </a:r>
            <a:endParaRPr lang="de-DE" dirty="0"/>
          </a:p>
        </p:txBody>
      </p:sp>
      <p:pic>
        <p:nvPicPr>
          <p:cNvPr id="7" name="Bildplatzhalter 7">
            <a:extLst>
              <a:ext uri="{FF2B5EF4-FFF2-40B4-BE49-F238E27FC236}">
                <a16:creationId xmlns:a16="http://schemas.microsoft.com/office/drawing/2014/main" id="{8CA5F0D2-A251-ECFF-BB36-4CC3C04D72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6" r="10656"/>
          <a:stretch>
            <a:fillRect/>
          </a:stretch>
        </p:blipFill>
        <p:spPr bwMode="gray">
          <a:xfrm>
            <a:off x="6203947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CFA22903-2299-36A7-9DF5-D099E2A0CE47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Heraeus &amp; HC&amp;IT</a:t>
            </a:r>
          </a:p>
          <a:p>
            <a:pPr lvl="1"/>
            <a:r>
              <a:rPr lang="de-DE" sz="2000" dirty="0"/>
              <a:t>Globaler deutscher Familien- und Technologiekonzern, Hauptsitz in Hanau</a:t>
            </a:r>
          </a:p>
          <a:p>
            <a:pPr lvl="1"/>
            <a:r>
              <a:rPr lang="de-DE" sz="2000" dirty="0"/>
              <a:t>Ca. 15.000 Mitarbeiter</a:t>
            </a:r>
          </a:p>
          <a:p>
            <a:pPr lvl="1"/>
            <a:r>
              <a:rPr lang="de-DE" sz="2000" dirty="0"/>
              <a:t>HC&amp;IT: Eigene IT-Gesellschaft innerhalb der Heraeus-Gruppe</a:t>
            </a:r>
          </a:p>
          <a:p>
            <a:pPr lvl="1"/>
            <a:r>
              <a:rPr lang="de-DE" sz="2000" dirty="0"/>
              <a:t>Dienstleistungen für die Gruppe &amp; Dritte</a:t>
            </a:r>
          </a:p>
          <a:p>
            <a:pPr lvl="1"/>
            <a:r>
              <a:rPr lang="de-DE" sz="2000" dirty="0"/>
              <a:t>Mein Bereich: Heraeus IT (HIT), Backend Team</a:t>
            </a:r>
          </a:p>
        </p:txBody>
      </p:sp>
    </p:spTree>
    <p:extLst>
      <p:ext uri="{BB962C8B-B14F-4D97-AF65-F5344CB8AC3E}">
        <p14:creationId xmlns:p14="http://schemas.microsoft.com/office/powerpoint/2010/main" val="7702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356BF-5681-5B20-908A-DA019DD0D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BF9C408-128E-DCF0-94EA-76283B6F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B20510-8EEA-DFD2-92F5-7C13D4D7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50D8BA5-2828-B1EE-2873-B351DF9A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Backend </a:t>
            </a:r>
            <a:r>
              <a:rPr lang="de-DE" dirty="0" err="1"/>
              <a:t>team</a:t>
            </a:r>
            <a:endParaRPr lang="de-DE" dirty="0"/>
          </a:p>
        </p:txBody>
      </p:sp>
      <p:pic>
        <p:nvPicPr>
          <p:cNvPr id="7" name="Bildplatzhalter 7">
            <a:extLst>
              <a:ext uri="{FF2B5EF4-FFF2-40B4-BE49-F238E27FC236}">
                <a16:creationId xmlns:a16="http://schemas.microsoft.com/office/drawing/2014/main" id="{01107E11-1470-0355-BA55-DB615427AC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6" r="10656"/>
          <a:stretch>
            <a:fillRect/>
          </a:stretch>
        </p:blipFill>
        <p:spPr bwMode="gray">
          <a:xfrm>
            <a:off x="6203947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B5A9A94-6ACE-876E-4C42-389E4F5644D0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sz="2000" dirty="0"/>
              <a:t>Kernaufgaben</a:t>
            </a:r>
          </a:p>
          <a:p>
            <a:pPr lvl="1"/>
            <a:r>
              <a:rPr lang="de-DE" sz="2000" dirty="0"/>
              <a:t>Automatisierung</a:t>
            </a:r>
          </a:p>
          <a:p>
            <a:pPr lvl="1"/>
            <a:r>
              <a:rPr lang="de-DE" sz="2000" dirty="0"/>
              <a:t>Backup &amp; Monitoring</a:t>
            </a:r>
          </a:p>
          <a:p>
            <a:pPr lvl="1"/>
            <a:r>
              <a:rPr lang="de-DE" sz="2000" dirty="0"/>
              <a:t>Azure &amp; </a:t>
            </a:r>
            <a:r>
              <a:rPr lang="de-DE" sz="2000" dirty="0" err="1"/>
              <a:t>OnPrem</a:t>
            </a:r>
            <a:endParaRPr lang="de-DE" sz="2000" dirty="0"/>
          </a:p>
          <a:p>
            <a:pPr lvl="1"/>
            <a:r>
              <a:rPr lang="de-DE" sz="2000" dirty="0" err="1"/>
              <a:t>Nutanix</a:t>
            </a:r>
            <a:endParaRPr lang="de-DE" sz="2000" dirty="0"/>
          </a:p>
          <a:p>
            <a:pPr lvl="1"/>
            <a:r>
              <a:rPr lang="de-DE" sz="2000" dirty="0"/>
              <a:t>Azure (</a:t>
            </a:r>
            <a:r>
              <a:rPr lang="de-DE" sz="2000" dirty="0" err="1"/>
              <a:t>Cost</a:t>
            </a:r>
            <a:r>
              <a:rPr lang="de-DE" sz="2000" dirty="0"/>
              <a:t>- &amp; Cloud Management)</a:t>
            </a:r>
          </a:p>
          <a:p>
            <a:pPr lvl="1"/>
            <a:r>
              <a:rPr lang="de-DE" sz="2000" dirty="0"/>
              <a:t>Windows Server</a:t>
            </a:r>
          </a:p>
        </p:txBody>
      </p:sp>
      <p:pic>
        <p:nvPicPr>
          <p:cNvPr id="5" name="Bildplatzhalter 7">
            <a:extLst>
              <a:ext uri="{FF2B5EF4-FFF2-40B4-BE49-F238E27FC236}">
                <a16:creationId xmlns:a16="http://schemas.microsoft.com/office/drawing/2014/main" id="{BF5BADA7-4250-1C7A-562C-4606214856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3" r="3293"/>
          <a:stretch>
            <a:fillRect/>
          </a:stretch>
        </p:blipFill>
        <p:spPr bwMode="gray">
          <a:xfrm>
            <a:off x="6205100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6" name="Grafik 12">
            <a:extLst>
              <a:ext uri="{FF2B5EF4-FFF2-40B4-BE49-F238E27FC236}">
                <a16:creationId xmlns:a16="http://schemas.microsoft.com/office/drawing/2014/main" id="{EEEEF23E-542F-9889-E414-260DDD89F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944" y="3128299"/>
            <a:ext cx="2236375" cy="236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4">
            <a:extLst>
              <a:ext uri="{FF2B5EF4-FFF2-40B4-BE49-F238E27FC236}">
                <a16:creationId xmlns:a16="http://schemas.microsoft.com/office/drawing/2014/main" id="{F80D6B18-E723-0DB9-CA4E-7D9807D59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0155" y="5517910"/>
            <a:ext cx="2067165" cy="698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525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953C-711F-2F51-8057-862B21029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8C6E41E-482B-E8FC-E046-E0189090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D37CA2D-C089-55B2-2977-D1C53A60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64A3402-E2BE-71E6-ADC4-55C40A30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Backend </a:t>
            </a:r>
            <a:r>
              <a:rPr lang="de-DE" dirty="0" err="1"/>
              <a:t>team</a:t>
            </a:r>
            <a:endParaRPr lang="de-DE" dirty="0"/>
          </a:p>
        </p:txBody>
      </p:sp>
      <p:pic>
        <p:nvPicPr>
          <p:cNvPr id="7" name="Bildplatzhalter 7">
            <a:extLst>
              <a:ext uri="{FF2B5EF4-FFF2-40B4-BE49-F238E27FC236}">
                <a16:creationId xmlns:a16="http://schemas.microsoft.com/office/drawing/2014/main" id="{2513EF56-DA3F-3B6C-55ED-838EFF1569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6" r="10656"/>
          <a:stretch>
            <a:fillRect/>
          </a:stretch>
        </p:blipFill>
        <p:spPr bwMode="gray">
          <a:xfrm>
            <a:off x="6203947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DFDA4CA-A0FD-6DE0-B2A9-73093C4A113E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sz="2000" dirty="0"/>
              <a:t>Meine Aufgaben</a:t>
            </a:r>
          </a:p>
          <a:p>
            <a:pPr lvl="1"/>
            <a:r>
              <a:rPr lang="de-DE" sz="2000" dirty="0"/>
              <a:t>Automatisierung der Infrastrukturverwaltung</a:t>
            </a:r>
          </a:p>
          <a:p>
            <a:pPr lvl="1"/>
            <a:r>
              <a:rPr lang="de-DE" sz="2000" dirty="0"/>
              <a:t>APIs/CI-CD/Tools (PowerShell/Python/C#)</a:t>
            </a:r>
          </a:p>
          <a:p>
            <a:pPr lvl="1"/>
            <a:r>
              <a:rPr lang="de-DE" sz="2000" dirty="0"/>
              <a:t>Containerlandschaft (</a:t>
            </a:r>
            <a:r>
              <a:rPr lang="de-DE" sz="2000" dirty="0" err="1"/>
              <a:t>Kubernetes</a:t>
            </a:r>
            <a:r>
              <a:rPr lang="de-DE" sz="2000" dirty="0"/>
              <a:t> &amp; Rancher via </a:t>
            </a:r>
            <a:r>
              <a:rPr lang="de-DE" sz="2000" dirty="0" err="1"/>
              <a:t>IaC</a:t>
            </a:r>
            <a:r>
              <a:rPr lang="de-DE" sz="2000" dirty="0"/>
              <a:t>)</a:t>
            </a:r>
          </a:p>
          <a:p>
            <a:pPr marL="162004" lvl="2" indent="0">
              <a:buNone/>
            </a:pPr>
            <a:endParaRPr lang="de-DE" sz="2000" dirty="0"/>
          </a:p>
        </p:txBody>
      </p:sp>
      <p:pic>
        <p:nvPicPr>
          <p:cNvPr id="5" name="Bildplatzhalter 7">
            <a:extLst>
              <a:ext uri="{FF2B5EF4-FFF2-40B4-BE49-F238E27FC236}">
                <a16:creationId xmlns:a16="http://schemas.microsoft.com/office/drawing/2014/main" id="{18072B8A-1E8C-F255-0B61-720482A874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3" r="3293"/>
          <a:stretch>
            <a:fillRect/>
          </a:stretch>
        </p:blipFill>
        <p:spPr bwMode="gray">
          <a:xfrm>
            <a:off x="6205100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6" name="Grafik 12">
            <a:extLst>
              <a:ext uri="{FF2B5EF4-FFF2-40B4-BE49-F238E27FC236}">
                <a16:creationId xmlns:a16="http://schemas.microsoft.com/office/drawing/2014/main" id="{26BB1FE6-9CAA-3FBA-62B5-24AB0579F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944" y="3128299"/>
            <a:ext cx="2236375" cy="236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4">
            <a:extLst>
              <a:ext uri="{FF2B5EF4-FFF2-40B4-BE49-F238E27FC236}">
                <a16:creationId xmlns:a16="http://schemas.microsoft.com/office/drawing/2014/main" id="{5ED927F9-7491-48D2-67BD-9444E6DF0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0155" y="5517910"/>
            <a:ext cx="2067165" cy="698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445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7701">
            <a:extLst>
              <a:ext uri="{FF2B5EF4-FFF2-40B4-BE49-F238E27FC236}">
                <a16:creationId xmlns:a16="http://schemas.microsoft.com/office/drawing/2014/main" id="{F71E6B36-8C16-4ACA-AF0B-5FB79D789A3E}"/>
              </a:ext>
            </a:extLst>
          </p:cNvPr>
          <p:cNvSpPr/>
          <p:nvPr/>
        </p:nvSpPr>
        <p:spPr bwMode="gray">
          <a:xfrm>
            <a:off x="6234206" y="1592263"/>
            <a:ext cx="2674050" cy="16267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6" name="Shape 7701">
            <a:extLst>
              <a:ext uri="{FF2B5EF4-FFF2-40B4-BE49-F238E27FC236}">
                <a16:creationId xmlns:a16="http://schemas.microsoft.com/office/drawing/2014/main" id="{7F236F3D-23A4-4BF2-8A61-408E9EF2B559}"/>
              </a:ext>
            </a:extLst>
          </p:cNvPr>
          <p:cNvSpPr/>
          <p:nvPr/>
        </p:nvSpPr>
        <p:spPr bwMode="gray">
          <a:xfrm>
            <a:off x="9182988" y="1592263"/>
            <a:ext cx="2674050" cy="16267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5" name="Shape 7701">
            <a:extLst>
              <a:ext uri="{FF2B5EF4-FFF2-40B4-BE49-F238E27FC236}">
                <a16:creationId xmlns:a16="http://schemas.microsoft.com/office/drawing/2014/main" id="{4D05AC42-FF57-4787-83E5-807EF28B283B}"/>
              </a:ext>
            </a:extLst>
          </p:cNvPr>
          <p:cNvSpPr/>
          <p:nvPr/>
        </p:nvSpPr>
        <p:spPr bwMode="gray">
          <a:xfrm>
            <a:off x="337542" y="1592263"/>
            <a:ext cx="2674050" cy="1626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A7B52D-382D-4BA4-B582-A21E2B58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Daily tools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CD3EEDD-2AEA-4FE3-B8C5-DDFEC3590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8466" y="1913813"/>
            <a:ext cx="978677" cy="97867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C25A113-B393-4527-AF80-4823CAD4C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0438" y="1914850"/>
            <a:ext cx="977640" cy="97764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3DFEA86-D2DC-4708-89B1-F3AFFB39D0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9220" y="1914851"/>
            <a:ext cx="977639" cy="977639"/>
          </a:xfrm>
          <a:prstGeom prst="rect">
            <a:avLst/>
          </a:prstGeom>
        </p:spPr>
      </p:pic>
      <p:pic>
        <p:nvPicPr>
          <p:cNvPr id="28" name="Grafik 46">
            <a:extLst>
              <a:ext uri="{FF2B5EF4-FFF2-40B4-BE49-F238E27FC236}">
                <a16:creationId xmlns:a16="http://schemas.microsoft.com/office/drawing/2014/main" id="{8FD6AC0C-25A0-4AC8-8E80-D1CD0D54BA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3741" y="1913813"/>
            <a:ext cx="978677" cy="97867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3C97EF-426C-4A3C-8F29-73E15DFB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Bildquellen:</a:t>
            </a:r>
          </a:p>
          <a:p>
            <a:r>
              <a:rPr lang="de-DE" dirty="0"/>
              <a:t>[1] </a:t>
            </a:r>
            <a:r>
              <a:rPr lang="de-DE" dirty="0" err="1"/>
              <a:t>seeklogo</a:t>
            </a:r>
            <a:r>
              <a:rPr lang="de-DE" dirty="0"/>
              <a:t>: </a:t>
            </a:r>
            <a:r>
              <a:rPr lang="de-DE" i="1" dirty="0" err="1"/>
              <a:t>Active</a:t>
            </a:r>
            <a:r>
              <a:rPr lang="de-DE" i="1" dirty="0"/>
              <a:t> Directory</a:t>
            </a:r>
            <a:r>
              <a:rPr lang="de-DE" dirty="0"/>
              <a:t>, </a:t>
            </a:r>
            <a:r>
              <a:rPr lang="de-DE" dirty="0">
                <a:hlinkClick r:id="rId7"/>
              </a:rPr>
              <a:t>seeklogo.com/</a:t>
            </a:r>
            <a:r>
              <a:rPr lang="de-DE" dirty="0" err="1">
                <a:hlinkClick r:id="rId7"/>
              </a:rPr>
              <a:t>vector</a:t>
            </a:r>
            <a:r>
              <a:rPr lang="de-DE" dirty="0">
                <a:hlinkClick r:id="rId7"/>
              </a:rPr>
              <a:t>-logo/331553/</a:t>
            </a:r>
            <a:r>
              <a:rPr lang="de-DE" dirty="0" err="1">
                <a:hlinkClick r:id="rId7"/>
              </a:rPr>
              <a:t>active</a:t>
            </a:r>
            <a:r>
              <a:rPr lang="de-DE" dirty="0">
                <a:hlinkClick r:id="rId7"/>
              </a:rPr>
              <a:t>-directory</a:t>
            </a:r>
            <a:endParaRPr lang="de-DE" dirty="0"/>
          </a:p>
          <a:p>
            <a:r>
              <a:rPr lang="de-DE" dirty="0"/>
              <a:t>[2] </a:t>
            </a:r>
            <a:r>
              <a:rPr lang="de-DE" dirty="0" err="1"/>
              <a:t>GuideVision</a:t>
            </a:r>
            <a:r>
              <a:rPr lang="de-DE" dirty="0"/>
              <a:t>: </a:t>
            </a:r>
            <a:r>
              <a:rPr lang="de-DE" i="1" dirty="0"/>
              <a:t>ServiceNow/</a:t>
            </a:r>
            <a:r>
              <a:rPr lang="de-DE" i="1" dirty="0" err="1"/>
              <a:t>Tanium</a:t>
            </a:r>
            <a:r>
              <a:rPr lang="de-DE" dirty="0"/>
              <a:t>, pressebox.de/</a:t>
            </a:r>
            <a:r>
              <a:rPr lang="de-DE" dirty="0" err="1"/>
              <a:t>boxid</a:t>
            </a:r>
            <a:r>
              <a:rPr lang="de-DE" dirty="0"/>
              <a:t>/1016135</a:t>
            </a:r>
          </a:p>
          <a:p>
            <a:r>
              <a:rPr lang="de-DE" dirty="0"/>
              <a:t>[3] Logos-World: </a:t>
            </a:r>
            <a:r>
              <a:rPr lang="de-DE" i="1" dirty="0"/>
              <a:t>Azure DevOps</a:t>
            </a:r>
            <a:r>
              <a:rPr lang="de-DE" dirty="0"/>
              <a:t>, logos-world.net/</a:t>
            </a:r>
            <a:r>
              <a:rPr lang="de-DE" dirty="0" err="1"/>
              <a:t>azure</a:t>
            </a:r>
            <a:r>
              <a:rPr lang="de-DE" dirty="0"/>
              <a:t>-</a:t>
            </a:r>
            <a:r>
              <a:rPr lang="de-DE" dirty="0" err="1"/>
              <a:t>devops</a:t>
            </a:r>
            <a:r>
              <a:rPr lang="de-DE" dirty="0"/>
              <a:t>-logo/</a:t>
            </a:r>
          </a:p>
          <a:p>
            <a:endParaRPr lang="de-DE" dirty="0"/>
          </a:p>
        </p:txBody>
      </p:sp>
      <p:pic>
        <p:nvPicPr>
          <p:cNvPr id="4" name="Bildplatzhalter 41">
            <a:extLst>
              <a:ext uri="{FF2B5EF4-FFF2-40B4-BE49-F238E27FC236}">
                <a16:creationId xmlns:a16="http://schemas.microsoft.com/office/drawing/2014/main" id="{B7BE61A2-E044-3F20-E913-6BB14E4A12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" t="-42626" r="5381" b="-43072"/>
          <a:stretch>
            <a:fillRect/>
          </a:stretch>
        </p:blipFill>
        <p:spPr bwMode="gray">
          <a:xfrm>
            <a:off x="334963" y="1592264"/>
            <a:ext cx="2720743" cy="1626798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12" name="Shape 7701">
            <a:extLst>
              <a:ext uri="{FF2B5EF4-FFF2-40B4-BE49-F238E27FC236}">
                <a16:creationId xmlns:a16="http://schemas.microsoft.com/office/drawing/2014/main" id="{85764FF5-864B-AFF5-F291-B7FE790266CA}"/>
              </a:ext>
            </a:extLst>
          </p:cNvPr>
          <p:cNvSpPr/>
          <p:nvPr/>
        </p:nvSpPr>
        <p:spPr bwMode="gray">
          <a:xfrm>
            <a:off x="3307931" y="1589752"/>
            <a:ext cx="2674050" cy="16267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13" name="Bildplatzhalter 47">
            <a:extLst>
              <a:ext uri="{FF2B5EF4-FFF2-40B4-BE49-F238E27FC236}">
                <a16:creationId xmlns:a16="http://schemas.microsoft.com/office/drawing/2014/main" id="{0DCE75A6-8E18-F4D7-BD6D-C28B9C9D5C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79" b="20079"/>
          <a:stretch>
            <a:fillRect/>
          </a:stretch>
        </p:blipFill>
        <p:spPr bwMode="gray">
          <a:xfrm>
            <a:off x="3227316" y="1533091"/>
            <a:ext cx="2838703" cy="1697330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20" name="Bildplatzhalter 49">
            <a:extLst>
              <a:ext uri="{FF2B5EF4-FFF2-40B4-BE49-F238E27FC236}">
                <a16:creationId xmlns:a16="http://schemas.microsoft.com/office/drawing/2014/main" id="{2906A1AA-CEFC-BBB0-5185-66E02BE7F0A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5144" t="-85184" r="-5144" b="-85503"/>
          <a:stretch>
            <a:fillRect/>
          </a:stretch>
        </p:blipFill>
        <p:spPr bwMode="gray">
          <a:xfrm>
            <a:off x="9030059" y="1598757"/>
            <a:ext cx="2699471" cy="1613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2430CF60-A7BC-6607-CA82-632875F672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191" y="1574481"/>
            <a:ext cx="2955637" cy="1662546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BAF7DCBC-5DE2-30E8-3A3E-80023CEDE3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0491" y="1428235"/>
            <a:ext cx="3749365" cy="541067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0B208CBD-E526-C738-D1AB-62A305A403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776" y="2746015"/>
            <a:ext cx="3749365" cy="541067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FCDE1F3A-F18A-3C41-B4F4-0C519A0F85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0686" y="1587241"/>
            <a:ext cx="3749365" cy="541067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D2C0A0CF-BA05-228D-D776-419DA11BD8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67590" y="2695960"/>
            <a:ext cx="3624410" cy="541067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FBA97967-3B06-56BF-BCCE-6D83D3292C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0428" y="1980007"/>
            <a:ext cx="257986" cy="864254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EB9CC22-40A4-EB03-9512-8C0825ACA4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16371" y="1949629"/>
            <a:ext cx="344816" cy="864254"/>
          </a:xfrm>
          <a:prstGeom prst="rect">
            <a:avLst/>
          </a:prstGeom>
        </p:spPr>
      </p:pic>
      <p:graphicFrame>
        <p:nvGraphicFramePr>
          <p:cNvPr id="45" name="Tabelle 3">
            <a:extLst>
              <a:ext uri="{FF2B5EF4-FFF2-40B4-BE49-F238E27FC236}">
                <a16:creationId xmlns:a16="http://schemas.microsoft.com/office/drawing/2014/main" id="{C70395F1-E91E-F4CD-161F-7A20C9161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385256"/>
              </p:ext>
            </p:extLst>
          </p:nvPr>
        </p:nvGraphicFramePr>
        <p:xfrm>
          <a:off x="358309" y="3463682"/>
          <a:ext cx="2674050" cy="2374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ServiceNow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Ticketing-System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Aufträge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annehmen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Dokumentation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47" name="Tabelle 3">
            <a:extLst>
              <a:ext uri="{FF2B5EF4-FFF2-40B4-BE49-F238E27FC236}">
                <a16:creationId xmlns:a16="http://schemas.microsoft.com/office/drawing/2014/main" id="{D760BD6C-6CEC-334E-55AB-EE7A3D66A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623227"/>
              </p:ext>
            </p:extLst>
          </p:nvPr>
        </p:nvGraphicFramePr>
        <p:xfrm>
          <a:off x="3296257" y="3463682"/>
          <a:ext cx="2674050" cy="2374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Active Directory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Benutzer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- und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Geräteverwaltung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Rechteverwaltung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49" name="Tabelle 3">
            <a:extLst>
              <a:ext uri="{FF2B5EF4-FFF2-40B4-BE49-F238E27FC236}">
                <a16:creationId xmlns:a16="http://schemas.microsoft.com/office/drawing/2014/main" id="{AA2D042F-F2AB-A487-C2F4-B8195537B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96456"/>
              </p:ext>
            </p:extLst>
          </p:nvPr>
        </p:nvGraphicFramePr>
        <p:xfrm>
          <a:off x="6234205" y="3460142"/>
          <a:ext cx="2674050" cy="2374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Azure DevOps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Microsoft Plattform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Planung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Entwicklung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 und Testen von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Softwareprojekten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Aufgabenverwaltung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Versionskontrolle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, etc.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51" name="Tabelle 3">
            <a:extLst>
              <a:ext uri="{FF2B5EF4-FFF2-40B4-BE49-F238E27FC236}">
                <a16:creationId xmlns:a16="http://schemas.microsoft.com/office/drawing/2014/main" id="{E41F7A5D-9DA9-C9E8-4AD1-C0E678855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079014"/>
              </p:ext>
            </p:extLst>
          </p:nvPr>
        </p:nvGraphicFramePr>
        <p:xfrm>
          <a:off x="9172153" y="3460141"/>
          <a:ext cx="2674050" cy="2374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Deployment Tool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Eigenentwickelte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 Web-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</a:rPr>
                        <a:t>Anwendung</a:t>
                      </a: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Interne Deployment API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endParaRPr 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82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A04F0-9415-ABF6-B6F3-5071F91A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769C3DF-9852-4AB1-FD4F-98FF5E5F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FF9F55-28E0-ED36-172C-07D51DA9B05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06F73A-1939-FB95-2B00-96DEB93A43C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5E26FD-194B-023A-9BFB-2ADA61AE654B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Heraeus &amp; HC&amp;IT</a:t>
            </a:r>
          </a:p>
          <a:p>
            <a:pPr lvl="1"/>
            <a:r>
              <a:rPr lang="de-DE" sz="2000" dirty="0"/>
              <a:t>Globaler deutscher Familien- und Technologiekonzern, Hauptsitz in Hanau</a:t>
            </a:r>
          </a:p>
          <a:p>
            <a:pPr lvl="1"/>
            <a:r>
              <a:rPr lang="de-DE" sz="2000" dirty="0"/>
              <a:t>Ca. 15.000 Mitarbeiter</a:t>
            </a:r>
          </a:p>
          <a:p>
            <a:pPr lvl="1"/>
            <a:r>
              <a:rPr lang="de-DE" sz="2000" dirty="0"/>
              <a:t>HC&amp;IT: Eigene IT-Gesellschaft innerhalb der Heraeus-Gruppe</a:t>
            </a:r>
          </a:p>
          <a:p>
            <a:pPr lvl="1"/>
            <a:r>
              <a:rPr lang="de-DE" sz="2000" dirty="0"/>
              <a:t>Dienstleistungen für die Gruppe &amp; Dritte</a:t>
            </a:r>
          </a:p>
          <a:p>
            <a:pPr lvl="1"/>
            <a:r>
              <a:rPr lang="de-DE" sz="2000" dirty="0"/>
              <a:t>Mein Bereich: Heraeus IT (HIT), Backend Team</a:t>
            </a: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F95E144B-F1AA-609D-0EF4-10508A5B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7060"/>
            <a:ext cx="12292983" cy="60709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499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297AFF1-FB5A-4DF5-BAF2-E47EF19B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E22C90-2DF1-45EC-ADA9-8627C2726E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F93A26-7188-4BA5-8868-D6F75BEAE9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F0C84D-AFD5-F526-008C-D96C50E0DEDB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Situation</a:t>
            </a:r>
          </a:p>
          <a:p>
            <a:pPr lvl="1"/>
            <a:r>
              <a:rPr lang="de-DE" sz="2000" dirty="0" err="1"/>
              <a:t>Deployment</a:t>
            </a:r>
            <a:r>
              <a:rPr lang="de-DE" sz="2000" dirty="0"/>
              <a:t> API hatte nur flüchtiges Laufzeit-</a:t>
            </a:r>
            <a:r>
              <a:rPr lang="de-DE" sz="2000" dirty="0" err="1"/>
              <a:t>Logging</a:t>
            </a:r>
            <a:r>
              <a:rPr lang="de-DE" sz="2000" dirty="0"/>
              <a:t> (Konsole)</a:t>
            </a:r>
          </a:p>
          <a:p>
            <a:pPr lvl="1"/>
            <a:r>
              <a:rPr lang="de-DE" sz="2000" dirty="0"/>
              <a:t>Kein Audit-Trail: Wer hat wann was aufgerufen?</a:t>
            </a:r>
          </a:p>
          <a:p>
            <a:pPr lvl="1"/>
            <a:r>
              <a:rPr lang="de-DE" sz="2000" dirty="0"/>
              <a:t>Fehleranalyse und Security-Nachvollziehbarkeit nicht möglich</a:t>
            </a:r>
          </a:p>
        </p:txBody>
      </p:sp>
      <p:pic>
        <p:nvPicPr>
          <p:cNvPr id="17" name="Bildplatzhalter 16">
            <a:extLst>
              <a:ext uri="{FF2B5EF4-FFF2-40B4-BE49-F238E27FC236}">
                <a16:creationId xmlns:a16="http://schemas.microsoft.com/office/drawing/2014/main" id="{4A6A492F-31F2-2538-CF9B-FD9D27C1B81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98256" r="-20" b="-481785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DC8174C7-E83B-5EE4-AD6A-1DF80B45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0795"/>
            <a:ext cx="6021219" cy="399288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5395A44-41D9-F602-1ADF-18308D99B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689804"/>
            <a:ext cx="6096000" cy="940875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5FDB3741-4B37-E9C5-3BCD-688F2509F265}"/>
              </a:ext>
            </a:extLst>
          </p:cNvPr>
          <p:cNvSpPr txBox="1"/>
          <p:nvPr/>
        </p:nvSpPr>
        <p:spPr bwMode="gray">
          <a:xfrm>
            <a:off x="6507480" y="3886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de-DE" dirty="0" err="1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3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7D57A-D7B6-2968-53EA-9C00512A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07E14BB-E10C-B3A8-0842-E351C080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D997E5-C645-AFD4-FE79-A73902D2F93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5928D1-950F-2BBD-D536-81C4323DD2B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8A8403-F8D8-95D5-DDBF-3FE1C3FD2BC9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Task</a:t>
            </a:r>
          </a:p>
          <a:p>
            <a:pPr lvl="1"/>
            <a:r>
              <a:rPr lang="de-DE" sz="2000" dirty="0"/>
              <a:t>Komplette, persistente </a:t>
            </a:r>
            <a:r>
              <a:rPr lang="de-DE" sz="2000" dirty="0" err="1"/>
              <a:t>Logging</a:t>
            </a:r>
            <a:r>
              <a:rPr lang="de-DE" sz="2000" dirty="0"/>
              <a:t>-Lösung aufbauen</a:t>
            </a:r>
          </a:p>
          <a:p>
            <a:pPr lvl="1"/>
            <a:r>
              <a:rPr lang="de-DE" sz="2000" dirty="0"/>
              <a:t>Jeder API-Request in die Datenbank</a:t>
            </a:r>
          </a:p>
          <a:p>
            <a:pPr lvl="1"/>
            <a:r>
              <a:rPr lang="de-DE" sz="2000" dirty="0"/>
              <a:t>Logs müssen aufrufbar und filterbar sein</a:t>
            </a:r>
          </a:p>
          <a:p>
            <a:pPr lvl="1"/>
            <a:r>
              <a:rPr lang="de-DE" sz="2000" dirty="0"/>
              <a:t>Datenbank darf nicht unkontrolliert wachsen</a:t>
            </a:r>
          </a:p>
          <a:p>
            <a:pPr lvl="1"/>
            <a:endParaRPr lang="de-DE" sz="2000" dirty="0"/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BFF4BFA2-54E5-4677-18E2-D97FA73F21C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21044" r="-21" b="-60873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001F234-FACB-D66E-799C-0542AF9B0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9325"/>
            <a:ext cx="6096000" cy="81895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63D6E43-9F04-02BE-B832-7441A6EEE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46203"/>
            <a:ext cx="6096000" cy="2023935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6AD6D689-4C49-EBD3-365F-56B693256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806" y="1412875"/>
            <a:ext cx="76207" cy="316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9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86C62-BE6E-ED55-7B02-8EE5F3A4A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B59209C-1E5C-3360-CE9E-2569ED12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A37296-AF59-E775-B812-91F6B87FBD6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E6E064-D95E-B521-2614-8FB3DBD724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0F268D-3C3E-15CC-6B65-8AECB26C2303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Action</a:t>
            </a:r>
          </a:p>
          <a:p>
            <a:pPr lvl="1"/>
            <a:r>
              <a:rPr lang="de-DE" sz="2000" dirty="0" err="1"/>
              <a:t>Serilog</a:t>
            </a:r>
            <a:r>
              <a:rPr lang="de-DE" sz="2000" dirty="0"/>
              <a:t> eingeführt (Konsole + Datei mit Rotation)</a:t>
            </a:r>
          </a:p>
          <a:p>
            <a:pPr lvl="1"/>
            <a:r>
              <a:rPr lang="de-DE" sz="2000" dirty="0"/>
              <a:t>Eigene Middleware: Misst Dauer, erfasst Statuscodes, Pfad, IP, Caller &amp; Host</a:t>
            </a:r>
          </a:p>
          <a:p>
            <a:pPr lvl="1"/>
            <a:r>
              <a:rPr lang="de-DE" sz="2000" dirty="0"/>
              <a:t>DB-Tabellen entworfen (SQL-Skript) + Schreiblogik</a:t>
            </a:r>
          </a:p>
          <a:p>
            <a:pPr lvl="1"/>
            <a:r>
              <a:rPr lang="de-DE" sz="2000" dirty="0" err="1"/>
              <a:t>Activity</a:t>
            </a:r>
            <a:r>
              <a:rPr lang="de-DE" sz="2000" dirty="0"/>
              <a:t>-Endpoints zum Auslesen mit Filtern (Zeit, Caller, Status, etc.)</a:t>
            </a:r>
          </a:p>
          <a:p>
            <a:pPr lvl="1"/>
            <a:r>
              <a:rPr lang="de-DE" sz="2000" dirty="0"/>
              <a:t>Hintergrund-Service löscht alte Logs täglich automatisch</a:t>
            </a:r>
          </a:p>
          <a:p>
            <a:pPr lvl="1"/>
            <a:endParaRPr lang="de-DE" sz="2000" dirty="0"/>
          </a:p>
          <a:p>
            <a:pPr lvl="1"/>
            <a:endParaRPr lang="de-DE" sz="2000" dirty="0"/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FF99BECD-277A-39EF-7C44-5ED23490490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 r="537" b="-60571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A1F20FA-0517-B9B4-B33C-7985FC84C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95545"/>
            <a:ext cx="4105075" cy="186813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EECBA4B-BBFB-C2AB-B778-FE8D10029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36719"/>
            <a:ext cx="6096000" cy="31242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9648FF7-B39F-E6D3-C4C7-A6ED055EE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075" y="4334848"/>
            <a:ext cx="2098875" cy="202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5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4C12-C343-06E9-D36D-668DC65B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E7F866-6E65-E376-34A2-9458FD47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AEDF4A-F76F-59C4-E850-82132053F31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279BE9-E3ED-A311-47C7-2777990854D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484798-378D-B959-19B4-30C8F6774458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 err="1"/>
              <a:t>Result</a:t>
            </a:r>
            <a:endParaRPr lang="de-DE" sz="2000" dirty="0"/>
          </a:p>
          <a:p>
            <a:pPr lvl="1"/>
            <a:r>
              <a:rPr lang="de-DE" sz="2000" dirty="0"/>
              <a:t>End-to-End-Nachvollziehbarkeit: Jeder Request auffindbar</a:t>
            </a:r>
          </a:p>
          <a:p>
            <a:pPr lvl="1"/>
            <a:r>
              <a:rPr lang="de-DE" sz="2000" dirty="0" err="1"/>
              <a:t>Activity</a:t>
            </a:r>
            <a:r>
              <a:rPr lang="de-DE" sz="2000" dirty="0"/>
              <a:t>-Ansicht im Praxiseinsatz beim Team</a:t>
            </a:r>
          </a:p>
          <a:p>
            <a:pPr lvl="1"/>
            <a:r>
              <a:rPr lang="de-DE" sz="2000" dirty="0"/>
              <a:t>DB wächst kontrolliert (automatische Bereinigung)</a:t>
            </a:r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7478DC38-D3A9-EA77-A44C-5B3508D30B7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984" r="-20" b="-166348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DB3EA56-65FB-88BD-1C10-DB72F6BE0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73795"/>
            <a:ext cx="5988050" cy="64809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6A6230A-486E-E5C6-E867-ADD9D41EA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2" y="689805"/>
            <a:ext cx="6096000" cy="88438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7708573-0CE1-7497-5F19-5B0D2F7F6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2" y="3314699"/>
            <a:ext cx="6096000" cy="759095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D674DB2-0747-56F3-8CA5-F7894E6DD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2" y="4676346"/>
            <a:ext cx="6096000" cy="176331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215B8E9-0666-52E7-4F73-6FB87AE93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2" y="689804"/>
            <a:ext cx="6096000" cy="92468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8B5A99F-3E0B-8F9D-5BAA-1B12FD4EC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1144675"/>
            <a:ext cx="221678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5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ECE02-F113-0120-A6E4-1312EA4EA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45BA1BB-A96C-1E34-75FA-8FB79A5C5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1 - logging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8494C0-DA0D-DB1B-B52C-64E11B378E7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647223-3C39-59FA-4B66-1EB713A0958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2AA06A-49FC-BBDA-2F2F-524FF819F281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Heraeus &amp; HC&amp;IT</a:t>
            </a:r>
          </a:p>
          <a:p>
            <a:pPr lvl="1"/>
            <a:r>
              <a:rPr lang="de-DE" sz="2000" dirty="0"/>
              <a:t>Globaler deutscher Familien- und Technologiekonzern, Hauptsitz in Hanau</a:t>
            </a:r>
          </a:p>
          <a:p>
            <a:pPr lvl="1"/>
            <a:r>
              <a:rPr lang="de-DE" sz="2000" dirty="0"/>
              <a:t>Ca. 15.000 Mitarbeiter</a:t>
            </a:r>
          </a:p>
          <a:p>
            <a:pPr lvl="1"/>
            <a:r>
              <a:rPr lang="de-DE" sz="2000" dirty="0"/>
              <a:t>HC&amp;IT: Eigene IT-Gesellschaft innerhalb der Heraeus-Gruppe</a:t>
            </a:r>
          </a:p>
          <a:p>
            <a:pPr lvl="1"/>
            <a:r>
              <a:rPr lang="de-DE" sz="2000" dirty="0"/>
              <a:t>Dienstleistungen für die Gruppe &amp; Dritte</a:t>
            </a:r>
          </a:p>
          <a:p>
            <a:pPr lvl="1"/>
            <a:r>
              <a:rPr lang="de-DE" sz="2000" dirty="0"/>
              <a:t>Mein Bereich: Heraeus IT (HIT), Backend Team</a:t>
            </a:r>
          </a:p>
        </p:txBody>
      </p:sp>
      <p:pic>
        <p:nvPicPr>
          <p:cNvPr id="9" name="Grafik 140">
            <a:extLst>
              <a:ext uri="{FF2B5EF4-FFF2-40B4-BE49-F238E27FC236}">
                <a16:creationId xmlns:a16="http://schemas.microsoft.com/office/drawing/2014/main" id="{DEE47738-84FE-0107-414C-C1C6CD1BC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767"/>
            <a:ext cx="12191996" cy="61182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35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B6B5-1DEF-8F9E-EEA9-3E28FD9F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CE9D634-9E23-F797-17B6-A04A002B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2 – TXT-Records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8C257B-0907-99ED-D073-0F50B316958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6017E8-C507-11C6-45CE-BD4EE837A3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57BEA6-B5A5-F55D-82FE-22FD2AACD09D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Situation</a:t>
            </a:r>
          </a:p>
          <a:p>
            <a:pPr lvl="1"/>
            <a:r>
              <a:rPr lang="de-DE" sz="2000" dirty="0"/>
              <a:t>DNS-API automatisiert bisher nur A- &amp; CNAME-Records</a:t>
            </a:r>
          </a:p>
          <a:p>
            <a:pPr lvl="1"/>
            <a:r>
              <a:rPr lang="de-DE" sz="2000" dirty="0"/>
              <a:t>Server brauchen aber TLS-Zertifikate für interne HTTPS-Dienste</a:t>
            </a:r>
          </a:p>
          <a:p>
            <a:pPr lvl="1"/>
            <a:r>
              <a:rPr lang="de-DE" sz="2000" dirty="0"/>
              <a:t>CA-Validierung per ACME DNS-Challenge </a:t>
            </a:r>
            <a:r>
              <a:rPr lang="de-DE" sz="2000" dirty="0">
                <a:sym typeface="Wingdings" panose="05000000000000000000" pitchFamily="2" charset="2"/>
              </a:rPr>
              <a:t> Braucht TXT-Records</a:t>
            </a:r>
            <a:endParaRPr lang="de-DE" sz="2000" dirty="0"/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CD72BA4F-692C-B889-1ECC-3EAAD63B5C0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3111" r="-20" b="-96047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18D8BF-6ECA-C393-E984-DAFA64E30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8930"/>
            <a:ext cx="6096000" cy="239474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AD4BDAA-068B-CCE8-778A-E57124C4C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5"/>
            <a:ext cx="6096000" cy="91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2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FD60B-806E-E79D-AD96-C676CB70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1CAD77A-3843-F7ED-7226-E97BE837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2 – TXT-Records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653036-895B-38F9-8409-ACDC4334E4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CCF447-2921-FB35-3F78-2FC6C8FA898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B8E040-7970-C8D2-6D5D-6C0015F08F26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Task</a:t>
            </a:r>
          </a:p>
          <a:p>
            <a:pPr lvl="1"/>
            <a:r>
              <a:rPr lang="de-DE" sz="2000" dirty="0"/>
              <a:t>TXT-</a:t>
            </a:r>
            <a:r>
              <a:rPr lang="de-DE" sz="2000" dirty="0" err="1"/>
              <a:t>Record</a:t>
            </a:r>
            <a:r>
              <a:rPr lang="de-DE" sz="2000" dirty="0"/>
              <a:t>-Support in die bestehende API einbauen</a:t>
            </a:r>
          </a:p>
          <a:p>
            <a:pPr lvl="1"/>
            <a:r>
              <a:rPr lang="de-DE" sz="2000" dirty="0"/>
              <a:t>Security-Anforderung: Nicht jeder API-Key darf überall TXT schreiben</a:t>
            </a:r>
          </a:p>
          <a:p>
            <a:pPr lvl="1"/>
            <a:r>
              <a:rPr lang="de-DE" sz="2000" dirty="0"/>
              <a:t>Berechtigungen pro Nutzer und pro DNS-Zone</a:t>
            </a:r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00A290AE-8FBD-98BB-A174-B5E74B29633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30742" r="-21" b="-82028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64EB88-5FEF-8B08-DFDC-F6CEA5D1A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61719"/>
            <a:ext cx="7020560" cy="227972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3D6AE8A-E22F-C76C-C241-E70DE5626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5"/>
            <a:ext cx="6096000" cy="8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3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1EC9-1D0A-BF6D-059C-F5FA48A4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E4FFFCF-6DE3-A9D0-C459-8D3D9AD1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2 – TXT-Records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818365-731F-1D47-B10E-FCC70DAD153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309A2E-A533-DEC3-FCEB-0569A6A180E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1C27E2-9043-8242-3F7C-AC264DD58474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Action</a:t>
            </a:r>
          </a:p>
          <a:p>
            <a:pPr lvl="1"/>
            <a:r>
              <a:rPr lang="de-DE" sz="2000" dirty="0"/>
              <a:t>Berechtigungsmodell: </a:t>
            </a:r>
            <a:r>
              <a:rPr lang="de-DE" sz="2000" i="1" dirty="0" err="1"/>
              <a:t>txt_allowed</a:t>
            </a:r>
            <a:r>
              <a:rPr lang="de-DE" sz="2000" dirty="0" err="1"/>
              <a:t>-Flag</a:t>
            </a:r>
            <a:r>
              <a:rPr lang="de-DE" sz="2000" dirty="0"/>
              <a:t> pro User + Zonen-</a:t>
            </a:r>
            <a:r>
              <a:rPr lang="de-DE" sz="2000" dirty="0" err="1"/>
              <a:t>Allowlist</a:t>
            </a:r>
            <a:r>
              <a:rPr lang="de-DE" sz="2000" dirty="0"/>
              <a:t> (Neue Tabelle)</a:t>
            </a:r>
          </a:p>
          <a:p>
            <a:pPr lvl="1"/>
            <a:r>
              <a:rPr lang="de-DE" sz="2000" dirty="0"/>
              <a:t>Security-Checks vor jedem Schreibzugriff (</a:t>
            </a:r>
            <a:r>
              <a:rPr lang="de-DE" sz="2000" dirty="0" err="1"/>
              <a:t>Flag</a:t>
            </a:r>
            <a:r>
              <a:rPr lang="de-DE" sz="2000" dirty="0"/>
              <a:t>- &amp; Zonen-Prüfung)</a:t>
            </a:r>
          </a:p>
          <a:p>
            <a:pPr lvl="1"/>
            <a:r>
              <a:rPr lang="de-DE" sz="2000" dirty="0"/>
              <a:t>Validierung: ACME-konforme TXT-Werte, Hostname-</a:t>
            </a:r>
            <a:r>
              <a:rPr lang="de-DE" sz="2000" dirty="0" err="1"/>
              <a:t>Regex</a:t>
            </a:r>
            <a:r>
              <a:rPr lang="de-DE" sz="2000" dirty="0"/>
              <a:t>, 255-Zeichen-Limit</a:t>
            </a:r>
          </a:p>
          <a:p>
            <a:pPr lvl="1"/>
            <a:r>
              <a:rPr lang="de-DE" sz="2000" dirty="0"/>
              <a:t>Existenz-Check &amp; genaue Fehlermeldungen</a:t>
            </a:r>
          </a:p>
          <a:p>
            <a:pPr lvl="1"/>
            <a:r>
              <a:rPr lang="de-DE" sz="2000" dirty="0"/>
              <a:t>Admin-Funktionen um TXT-Verwaltung erweitert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968AA636-DAFA-45A8-C759-C14912F8D61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043" r="-20" b="-89731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02C0D6A-9C48-505B-6C52-F31A63A1B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3954"/>
            <a:ext cx="6096000" cy="227972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800BBEB-359A-F7C1-293C-DF8DE53D7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5"/>
            <a:ext cx="6096000" cy="8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1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A087-D280-D2F2-6CA7-874F2075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422877B-A1A9-19BA-429C-9B7B1B24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2 – TXT-Records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2C2314-5D9F-841E-9565-130288170F2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9E3C65-3D3C-10E5-88C7-E95F4F0C37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67B6E4-CE12-B0A8-F937-693843BFDDA4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 err="1"/>
              <a:t>Result</a:t>
            </a:r>
            <a:endParaRPr lang="de-DE" sz="2000" dirty="0"/>
          </a:p>
          <a:p>
            <a:pPr lvl="1"/>
            <a:r>
              <a:rPr lang="de-DE" sz="2000" dirty="0"/>
              <a:t>ACME-Clients können TXT-Records per API anlegen &amp; löschen</a:t>
            </a:r>
          </a:p>
          <a:p>
            <a:pPr lvl="1"/>
            <a:r>
              <a:rPr lang="de-DE" sz="2000" dirty="0"/>
              <a:t>Mehrstufiges Berechtigungsmodell (Key </a:t>
            </a:r>
            <a:r>
              <a:rPr lang="de-DE" sz="2000" dirty="0">
                <a:sym typeface="Wingdings" panose="05000000000000000000" pitchFamily="2" charset="2"/>
              </a:rPr>
              <a:t> </a:t>
            </a:r>
            <a:r>
              <a:rPr lang="de-DE" sz="2000" dirty="0" err="1">
                <a:sym typeface="Wingdings" panose="05000000000000000000" pitchFamily="2" charset="2"/>
              </a:rPr>
              <a:t>Flag</a:t>
            </a:r>
            <a:r>
              <a:rPr lang="de-DE" sz="2000" dirty="0">
                <a:sym typeface="Wingdings" panose="05000000000000000000" pitchFamily="2" charset="2"/>
              </a:rPr>
              <a:t>  Zone  </a:t>
            </a:r>
            <a:r>
              <a:rPr lang="de-DE" sz="2000" dirty="0" err="1">
                <a:sym typeface="Wingdings" panose="05000000000000000000" pitchFamily="2" charset="2"/>
              </a:rPr>
              <a:t>Regex</a:t>
            </a:r>
            <a:r>
              <a:rPr lang="de-DE" sz="2000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de-DE" sz="2000" dirty="0">
                <a:sym typeface="Wingdings" panose="05000000000000000000" pitchFamily="2" charset="2"/>
              </a:rPr>
              <a:t>Bestehende Architektur-Muster wiederverwendet  Wartbar</a:t>
            </a:r>
          </a:p>
          <a:p>
            <a:pPr lvl="1"/>
            <a:r>
              <a:rPr lang="de-DE" sz="2000" dirty="0">
                <a:sym typeface="Wingdings" panose="05000000000000000000" pitchFamily="2" charset="2"/>
              </a:rPr>
              <a:t>Status: Work in Progress</a:t>
            </a:r>
            <a:endParaRPr lang="de-DE" sz="2000" dirty="0"/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349F4680-3939-480D-8865-407976F4731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31748" r="-21" b="-87975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D1BF743-EE0F-13BC-5BA0-C8EB9A04D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3954"/>
            <a:ext cx="6203950" cy="227972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9CEBECCB-59F3-1B92-9675-0D2E5D3E9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5"/>
            <a:ext cx="6096000" cy="86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0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2DF0-2EBF-7FAD-A084-2461A3C3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2F3C2CD-AF70-58BF-3C39-CBBAA2E8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2 – TXT-Records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C2F3F7-5F97-D79B-53E9-9E282689FED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5DEBC5-90BE-B17F-4662-CA08B66C290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38F07D-C455-72A0-D860-7D8349513FB3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Heraeus &amp; HC&amp;IT</a:t>
            </a:r>
          </a:p>
          <a:p>
            <a:pPr lvl="1"/>
            <a:r>
              <a:rPr lang="de-DE" sz="2000" dirty="0"/>
              <a:t>Globaler deutscher Familien- und Technologiekonzern, Hauptsitz in Hanau</a:t>
            </a:r>
          </a:p>
          <a:p>
            <a:pPr lvl="1"/>
            <a:r>
              <a:rPr lang="de-DE" sz="2000" dirty="0"/>
              <a:t>Ca. 15.000 Mitarbeiter</a:t>
            </a:r>
          </a:p>
          <a:p>
            <a:pPr lvl="1"/>
            <a:r>
              <a:rPr lang="de-DE" sz="2000" dirty="0"/>
              <a:t>HC&amp;IT: Eigene IT-Gesellschaft innerhalb der Heraeus-Gruppe</a:t>
            </a:r>
          </a:p>
          <a:p>
            <a:pPr lvl="1"/>
            <a:r>
              <a:rPr lang="de-DE" sz="2000" dirty="0"/>
              <a:t>Dienstleistungen für die Gruppe &amp; Dritte</a:t>
            </a:r>
          </a:p>
          <a:p>
            <a:pPr lvl="1"/>
            <a:r>
              <a:rPr lang="de-DE" sz="2000" dirty="0"/>
              <a:t>Mein Bereich: Heraeus IT (HIT), Backend Team</a:t>
            </a: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DE6871C7-22C8-8744-3566-0C6D7F8D7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236"/>
            <a:ext cx="12191996" cy="607376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555FF1D-3E16-C4EF-9028-43A9B5FEDC65}"/>
              </a:ext>
            </a:extLst>
          </p:cNvPr>
          <p:cNvSpPr/>
          <p:nvPr/>
        </p:nvSpPr>
        <p:spPr bwMode="gray">
          <a:xfrm>
            <a:off x="2686832" y="1872641"/>
            <a:ext cx="3457183" cy="107723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28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155E8-3E29-8EC1-B1B0-63E707D4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3D86A54-269A-9E9A-746E-37C231ED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3 – PW-CHange-webapp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058A12-FFED-3DF5-5056-EDD7D424C52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135966-391B-452E-15C4-313FB4F5EE7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34D182-E8EB-6C0F-35D4-AA0EE49E3FC0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Situation</a:t>
            </a:r>
          </a:p>
          <a:p>
            <a:pPr lvl="1"/>
            <a:r>
              <a:rPr lang="de-DE" sz="2000" dirty="0"/>
              <a:t>Passwörter in </a:t>
            </a:r>
            <a:r>
              <a:rPr lang="de-DE" sz="2000" dirty="0" err="1"/>
              <a:t>Heraeusprod</a:t>
            </a:r>
            <a:r>
              <a:rPr lang="de-DE" sz="2000" dirty="0"/>
              <a:t> müssen regelmäßig geändert werden</a:t>
            </a:r>
          </a:p>
          <a:p>
            <a:pPr lvl="1"/>
            <a:r>
              <a:rPr lang="de-DE" sz="2000" dirty="0"/>
              <a:t>Bisher: Manuelle Tickets, Bearbeitung per Hand im AD</a:t>
            </a:r>
          </a:p>
          <a:p>
            <a:pPr lvl="1"/>
            <a:r>
              <a:rPr lang="de-DE" sz="2000" dirty="0"/>
              <a:t>Gesucht: Zentrale Self-Service-</a:t>
            </a:r>
            <a:r>
              <a:rPr lang="de-DE" sz="2000" dirty="0" err="1"/>
              <a:t>WebApp</a:t>
            </a:r>
            <a:r>
              <a:rPr lang="de-DE" sz="2000" dirty="0"/>
              <a:t> für alle Mitarbeiter</a:t>
            </a:r>
          </a:p>
        </p:txBody>
      </p:sp>
      <p:pic>
        <p:nvPicPr>
          <p:cNvPr id="15" name="Bildplatzhalter 15">
            <a:extLst>
              <a:ext uri="{FF2B5EF4-FFF2-40B4-BE49-F238E27FC236}">
                <a16:creationId xmlns:a16="http://schemas.microsoft.com/office/drawing/2014/main" id="{06329C7B-79D5-8DD3-CBAE-96C96989134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-13677" r="1221" b="-20165"/>
          <a:stretch>
            <a:fillRect/>
          </a:stretch>
        </p:blipFill>
        <p:spPr>
          <a:xfrm>
            <a:off x="0" y="765175"/>
            <a:ext cx="5988050" cy="5599113"/>
          </a:xfrm>
          <a:solidFill>
            <a:srgbClr val="BBBCBD"/>
          </a:solidFill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7206EEF-20A7-5FA2-D4E4-AD82AF78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0401"/>
            <a:ext cx="6156542" cy="154428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F569D00-B660-CA58-B782-52EF1B112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735"/>
            <a:ext cx="6096000" cy="77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89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2F7C-366A-5DE9-883C-0CFFAEDA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0EE258F-CE63-7AB2-785D-5D656A35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3 – PW-CHange-webapp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177DB7-243A-CFAF-D489-80F15BE7EE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7CF36A-60EC-E687-DB1C-5389A4541BB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5A6100-E5FF-D443-BB7A-194130F27223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Task</a:t>
            </a:r>
          </a:p>
          <a:p>
            <a:pPr lvl="1"/>
            <a:r>
              <a:rPr lang="de-DE" sz="2000" dirty="0" err="1"/>
              <a:t>WebApp</a:t>
            </a:r>
            <a:r>
              <a:rPr lang="de-DE" sz="2000" dirty="0"/>
              <a:t> für AD-Passwortänderung entwickeln, von Null bis Produktion</a:t>
            </a:r>
          </a:p>
          <a:p>
            <a:pPr lvl="1"/>
            <a:r>
              <a:rPr lang="de-DE" sz="2000" dirty="0"/>
              <a:t>Sicherheit: Rate-</a:t>
            </a:r>
            <a:r>
              <a:rPr lang="de-DE" sz="2000" dirty="0" err="1"/>
              <a:t>Limiting</a:t>
            </a:r>
            <a:r>
              <a:rPr lang="de-DE" sz="2000" dirty="0"/>
              <a:t>, CSRF-Schutz, Audit-</a:t>
            </a:r>
            <a:r>
              <a:rPr lang="de-DE" sz="2000" dirty="0" err="1"/>
              <a:t>Logging</a:t>
            </a:r>
            <a:endParaRPr lang="de-DE" sz="2000" dirty="0"/>
          </a:p>
          <a:p>
            <a:pPr lvl="1"/>
            <a:r>
              <a:rPr lang="de-DE" sz="2000" dirty="0"/>
              <a:t>Benutzerfreundlichkeit: Passwort-Generator, Mehrsprachigkeit</a:t>
            </a:r>
          </a:p>
          <a:p>
            <a:pPr lvl="1"/>
            <a:r>
              <a:rPr lang="de-DE" sz="2000" dirty="0"/>
              <a:t>Betrieb: </a:t>
            </a:r>
            <a:r>
              <a:rPr lang="de-DE" sz="2000" dirty="0" err="1"/>
              <a:t>Deployment</a:t>
            </a:r>
            <a:r>
              <a:rPr lang="de-DE" sz="2000" dirty="0"/>
              <a:t> auf Azure-VM inkl. TLS-Zertifikat</a:t>
            </a:r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7F98F8D1-B4E8-91D8-C6C2-5B3FCD4675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0888" r="833" b="-142093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AAC3B67-2197-5863-16F3-D131099B7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" y="3487770"/>
            <a:ext cx="6096000" cy="295656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1904EE5-AA13-8375-A521-F2E6A0B92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4"/>
            <a:ext cx="6096000" cy="88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8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3B4F0-3960-2D0F-A1FB-F8F5CD57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412C99D-2D8A-8926-6CD7-175035AC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3 – PW-CHange-webapp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43FD62-4D03-981A-8A31-7CBE6611773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A1C7EE-F2CF-8A43-EEB6-A59563ECBAC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3F3FE2-F268-ABEC-D31B-C5F63C589668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Action</a:t>
            </a:r>
          </a:p>
          <a:p>
            <a:pPr lvl="1"/>
            <a:r>
              <a:rPr lang="de-DE" sz="2000" dirty="0"/>
              <a:t>ASP.NET Core </a:t>
            </a:r>
            <a:r>
              <a:rPr lang="de-DE" sz="2000" dirty="0" err="1"/>
              <a:t>WebApp</a:t>
            </a:r>
            <a:r>
              <a:rPr lang="de-DE" sz="2000" dirty="0"/>
              <a:t> komplett selbst konzipiert &amp; implementiert</a:t>
            </a:r>
          </a:p>
          <a:p>
            <a:pPr lvl="1"/>
            <a:r>
              <a:rPr lang="de-DE" sz="2000" dirty="0"/>
              <a:t>Architekturentscheidung: Self-Service via RODC, kein privilegierter Service-Account nötig</a:t>
            </a:r>
          </a:p>
          <a:p>
            <a:pPr lvl="1"/>
            <a:r>
              <a:rPr lang="de-DE" sz="2000" dirty="0"/>
              <a:t>Zweistufiges Rate-</a:t>
            </a:r>
            <a:r>
              <a:rPr lang="de-DE" sz="2000" dirty="0" err="1"/>
              <a:t>Limiting</a:t>
            </a:r>
            <a:r>
              <a:rPr lang="de-DE" sz="2000" dirty="0"/>
              <a:t>: </a:t>
            </a:r>
          </a:p>
          <a:p>
            <a:pPr lvl="2"/>
            <a:r>
              <a:rPr lang="de-DE" sz="1800" dirty="0"/>
              <a:t>20 Versuche/h pro Nutzer</a:t>
            </a:r>
          </a:p>
          <a:p>
            <a:pPr lvl="2"/>
            <a:r>
              <a:rPr lang="de-DE" sz="1800" dirty="0"/>
              <a:t>Global 30 Nutzer/h</a:t>
            </a:r>
          </a:p>
          <a:p>
            <a:pPr lvl="1"/>
            <a:r>
              <a:rPr lang="de-DE" sz="2000" dirty="0"/>
              <a:t>Audit-</a:t>
            </a:r>
            <a:r>
              <a:rPr lang="de-DE" sz="2000" dirty="0" err="1"/>
              <a:t>Logging</a:t>
            </a:r>
            <a:r>
              <a:rPr lang="de-DE" sz="2000" dirty="0"/>
              <a:t> mit fachlichem Outcome pro Request (Erfolg/ Grund des Scheiterns)</a:t>
            </a:r>
          </a:p>
          <a:p>
            <a:pPr lvl="1"/>
            <a:r>
              <a:rPr lang="de-DE" sz="2000" dirty="0"/>
              <a:t>UI: Passwort-Generator, drei Sprachen (DE/EN/</a:t>
            </a:r>
            <a:r>
              <a:rPr lang="en-US" sz="2000" dirty="0" err="1"/>
              <a:t>中文</a:t>
            </a:r>
            <a:r>
              <a:rPr lang="en-US" sz="2000" dirty="0"/>
              <a:t>), Dark Mode</a:t>
            </a:r>
            <a:endParaRPr lang="de-DE" sz="2000" dirty="0"/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AC3E4D23-7FB3-C3B4-7E0D-CEF7E079971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082" r="884" b="-119539"/>
          <a:stretch>
            <a:fillRect/>
          </a:stretch>
        </p:blipFill>
        <p:spPr bwMode="gray">
          <a:xfrm>
            <a:off x="0" y="765174"/>
            <a:ext cx="5988050" cy="5598501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D583A76-9E5C-2D89-3DF2-7B92FBF3F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" y="3968930"/>
            <a:ext cx="6005108" cy="194959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EC7DBBB-D7AF-7BDB-816A-1BE989527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" y="3667760"/>
            <a:ext cx="6022169" cy="38608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494B5A84-B577-7CB4-7467-C89C93D9F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5492818"/>
            <a:ext cx="6022169" cy="874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43DF666-B7AD-453D-437F-6B02DA7CF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08949"/>
            <a:ext cx="6022168" cy="198137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C460A4AB-1151-5673-F3D0-8B35765146C1}"/>
              </a:ext>
            </a:extLst>
          </p:cNvPr>
          <p:cNvSpPr txBox="1"/>
          <p:nvPr/>
        </p:nvSpPr>
        <p:spPr bwMode="gray">
          <a:xfrm>
            <a:off x="6339840" y="3454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de-DE" dirty="0" err="1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89AC9556-74B3-26B0-7149-6982604F2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790556"/>
            <a:ext cx="6022169" cy="81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6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1ACC-0118-EC72-29FB-98903808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F65A83D-76B0-96C8-23FA-671D1FC0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3 – PW-CHange-webapp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1CD430-716F-ADDC-CF5D-0E4CC759B4B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178D46-E319-27A8-7443-32BF2268F89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02AAC2-952B-6E29-0FC1-805C3276CDC6}"/>
              </a:ext>
            </a:extLst>
          </p:cNvPr>
          <p:cNvSpPr txBox="1">
            <a:spLocks/>
          </p:cNvSpPr>
          <p:nvPr/>
        </p:nvSpPr>
        <p:spPr bwMode="gray">
          <a:xfrm>
            <a:off x="6205095" y="1574185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 err="1"/>
              <a:t>Result</a:t>
            </a:r>
            <a:endParaRPr lang="de-DE" sz="2000" dirty="0"/>
          </a:p>
          <a:p>
            <a:pPr lvl="1"/>
            <a:r>
              <a:rPr lang="de-DE" sz="2000" dirty="0"/>
              <a:t>Produktiv auf Azure-VM: IIS, DNS, TLS-Zertifikat (Eigener PKI-Prozess)</a:t>
            </a:r>
          </a:p>
          <a:p>
            <a:pPr lvl="1"/>
            <a:r>
              <a:rPr lang="de-DE" sz="2000" dirty="0"/>
              <a:t>End-to-End-Test mit realem Account erfolgreich</a:t>
            </a:r>
          </a:p>
          <a:p>
            <a:pPr lvl="1"/>
            <a:r>
              <a:rPr lang="de-DE" sz="2000" dirty="0"/>
              <a:t>Ticket-Prozess durch Self-Service ersetzt</a:t>
            </a:r>
          </a:p>
          <a:p>
            <a:pPr lvl="1"/>
            <a:r>
              <a:rPr lang="de-DE" sz="2000" dirty="0"/>
              <a:t>Sicher, wartbar, erweiterbar</a:t>
            </a:r>
          </a:p>
          <a:p>
            <a:pPr lvl="1"/>
            <a:r>
              <a:rPr lang="de-DE" sz="2000" dirty="0"/>
              <a:t>Aktuell live in Nutzung</a:t>
            </a:r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FD52872C-54BA-1E05-1BB8-B0A040EE1AE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41955" r="779" b="-170126"/>
          <a:stretch>
            <a:fillRect/>
          </a:stretch>
        </p:blipFill>
        <p:spPr bwMode="gray">
          <a:xfrm>
            <a:off x="0" y="765175"/>
            <a:ext cx="5988050" cy="5599113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DE74342-A82A-54E8-F6E1-5145371A2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5745"/>
            <a:ext cx="6096000" cy="305793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8B48DD3D-1564-1805-C36E-EF4573505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175"/>
            <a:ext cx="6096000" cy="80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9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F3D31-48B9-BE9E-DE0A-11399C52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390AAB-9824-B4A9-241B-9C24FC1E4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BBBEFF-5A57-039F-397A-4A181AA4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CB1E66F-7E5F-7130-6630-F3159429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reflexion</a:t>
            </a:r>
            <a:endParaRPr lang="de-DE" dirty="0"/>
          </a:p>
        </p:txBody>
      </p:sp>
      <p:pic>
        <p:nvPicPr>
          <p:cNvPr id="7" name="Bildplatzhalter 7">
            <a:extLst>
              <a:ext uri="{FF2B5EF4-FFF2-40B4-BE49-F238E27FC236}">
                <a16:creationId xmlns:a16="http://schemas.microsoft.com/office/drawing/2014/main" id="{3A53E71B-75AE-D172-9BCD-5C7097A3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6" r="10656"/>
          <a:stretch>
            <a:fillRect/>
          </a:stretch>
        </p:blipFill>
        <p:spPr bwMode="gray">
          <a:xfrm>
            <a:off x="6203947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9DF1690-F247-02FC-FD63-8A2BD8154F80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Was habe ich mitgenommen?</a:t>
            </a:r>
          </a:p>
          <a:p>
            <a:pPr lvl="1"/>
            <a:r>
              <a:rPr lang="de-DE" sz="2000" dirty="0"/>
              <a:t>Vielfältige Einblicke in den DevOps-Bereich</a:t>
            </a:r>
          </a:p>
          <a:p>
            <a:pPr lvl="1"/>
            <a:r>
              <a:rPr lang="de-DE" sz="2000" dirty="0"/>
              <a:t>Praxisnahe Erfahrung in API- und Web-Entwicklung</a:t>
            </a:r>
          </a:p>
          <a:p>
            <a:pPr lvl="1"/>
            <a:r>
              <a:rPr lang="de-DE" sz="2000" dirty="0"/>
              <a:t>Volle Verantwortung von der Anforderung bis zur Produktion</a:t>
            </a:r>
          </a:p>
          <a:p>
            <a:pPr lvl="1"/>
            <a:r>
              <a:rPr lang="de-DE" sz="2000" dirty="0"/>
              <a:t>Automatisierung ersetzt manuelle Prozesse</a:t>
            </a:r>
          </a:p>
          <a:p>
            <a:pPr lvl="1"/>
            <a:r>
              <a:rPr lang="de-DE" sz="2000" dirty="0"/>
              <a:t>Klarer Ausblick auf die Berufswelt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64BD871-F062-328A-4FFF-982CC46D7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0590"/>
            <a:ext cx="12192000" cy="606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BBDB-B2A8-B673-F054-FF567B37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79EDB32-2D28-9A65-7E20-77396B7F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C6607F-6B3C-9DB4-5752-AB422816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34B9C28-B1A2-A52B-2544-80844D00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reflexion</a:t>
            </a:r>
            <a:endParaRPr lang="de-DE" dirty="0"/>
          </a:p>
        </p:txBody>
      </p:sp>
      <p:pic>
        <p:nvPicPr>
          <p:cNvPr id="7" name="Bildplatzhalter 7">
            <a:extLst>
              <a:ext uri="{FF2B5EF4-FFF2-40B4-BE49-F238E27FC236}">
                <a16:creationId xmlns:a16="http://schemas.microsoft.com/office/drawing/2014/main" id="{2A38C87F-C52C-C7F5-54C7-38740670F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6" r="10656"/>
          <a:stretch>
            <a:fillRect/>
          </a:stretch>
        </p:blipFill>
        <p:spPr bwMode="gray">
          <a:xfrm>
            <a:off x="6203947" y="1592263"/>
            <a:ext cx="5653085" cy="4789490"/>
          </a:xfrm>
          <a:prstGeom prst="rect">
            <a:avLst/>
          </a:prstGeom>
          <a:solidFill>
            <a:srgbClr val="BBBCBD"/>
          </a:solidFill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057C902-0B55-47C7-F2BB-3EC46414DC75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5651942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/>
              <a:t>Was habe ich mitgenommen?</a:t>
            </a:r>
          </a:p>
          <a:p>
            <a:pPr lvl="1"/>
            <a:r>
              <a:rPr lang="de-DE" sz="2000" dirty="0"/>
              <a:t>Vielfältige Einblicke in den DevOps-Bereich</a:t>
            </a:r>
          </a:p>
          <a:p>
            <a:pPr lvl="1"/>
            <a:r>
              <a:rPr lang="de-DE" sz="2000" dirty="0"/>
              <a:t>Praxisnahe Erfahrung in API- und Web-Entwicklung</a:t>
            </a:r>
          </a:p>
          <a:p>
            <a:pPr lvl="1"/>
            <a:r>
              <a:rPr lang="de-DE" sz="2000" dirty="0"/>
              <a:t>Volle Verantwortung von der Anforderung bis zur Produktion</a:t>
            </a:r>
          </a:p>
          <a:p>
            <a:pPr lvl="1"/>
            <a:r>
              <a:rPr lang="de-DE" sz="2000" dirty="0"/>
              <a:t>Automatisierung ersetzt manuelle Prozesse</a:t>
            </a:r>
          </a:p>
          <a:p>
            <a:pPr lvl="1"/>
            <a:r>
              <a:rPr lang="de-DE" sz="2000" dirty="0"/>
              <a:t>Klarer Ausblick auf die Berufswelt</a:t>
            </a:r>
          </a:p>
        </p:txBody>
      </p:sp>
    </p:spTree>
    <p:extLst>
      <p:ext uri="{BB962C8B-B14F-4D97-AF65-F5344CB8AC3E}">
        <p14:creationId xmlns:p14="http://schemas.microsoft.com/office/powerpoint/2010/main" val="352916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0130-FF7B-D8FE-68BB-5FA01F8C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10">
            <a:extLst>
              <a:ext uri="{FF2B5EF4-FFF2-40B4-BE49-F238E27FC236}">
                <a16:creationId xmlns:a16="http://schemas.microsoft.com/office/drawing/2014/main" id="{D25978BD-897A-D42C-0563-231E141A4C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3F6FBC-717B-A28D-E636-B551C2932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4584303"/>
            <a:ext cx="5953103" cy="1113327"/>
          </a:xfrm>
        </p:spPr>
        <p:txBody>
          <a:bodyPr/>
          <a:lstStyle/>
          <a:p>
            <a:r>
              <a:rPr lang="de-DE" sz="2200" dirty="0">
                <a:solidFill>
                  <a:srgbClr val="007EB9"/>
                </a:solidFill>
              </a:rPr>
              <a:t>VIELEN DANK!</a:t>
            </a:r>
            <a:br>
              <a:rPr lang="de-DE" sz="2200" dirty="0">
                <a:solidFill>
                  <a:srgbClr val="007EB9"/>
                </a:solidFill>
              </a:rPr>
            </a:br>
            <a:endParaRPr lang="de-DE" sz="22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95EF532-39FC-976E-6C27-9C7DC1E6C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963" y="5697630"/>
            <a:ext cx="5953103" cy="433553"/>
          </a:xfrm>
        </p:spPr>
        <p:txBody>
          <a:bodyPr/>
          <a:lstStyle/>
          <a:p>
            <a:pPr lvl="0">
              <a:spcBef>
                <a:spcPts val="300"/>
              </a:spcBef>
            </a:pPr>
            <a:r>
              <a:rPr lang="de-DE" dirty="0"/>
              <a:t>Noch Fragen?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3DDC46-EC81-917D-5132-E75669C07E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6131181"/>
            <a:ext cx="5953103" cy="36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097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07F4-4A22-7BC4-C033-48EC93B5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C035BB6-967D-A24D-3A19-8486724D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BC92098-69FC-484B-18C5-62D4662E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5E3CD77-72C3-E827-E569-6B39A6349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C216F7C3-8DC8-F8C8-9D7E-17DD4E186F11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11522074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dirty="0"/>
              <a:t>[1] Cloudflare: </a:t>
            </a:r>
            <a:r>
              <a:rPr lang="de-DE" sz="2000" b="0" i="1" dirty="0"/>
              <a:t>Cross-site </a:t>
            </a:r>
            <a:r>
              <a:rPr lang="de-DE" sz="2000" b="0" i="1" dirty="0" err="1"/>
              <a:t>request</a:t>
            </a:r>
            <a:r>
              <a:rPr lang="de-DE" sz="2000" b="0" i="1" dirty="0"/>
              <a:t> </a:t>
            </a:r>
            <a:r>
              <a:rPr lang="de-DE" sz="2000" b="0" i="1" dirty="0" err="1"/>
              <a:t>forgery</a:t>
            </a:r>
            <a:r>
              <a:rPr lang="de-DE" sz="2000" b="0" i="1" dirty="0"/>
              <a:t> (CSRF)</a:t>
            </a:r>
            <a:r>
              <a:rPr lang="de-DE" sz="2000" b="0" dirty="0"/>
              <a:t>. URL: </a:t>
            </a:r>
            <a:r>
              <a:rPr lang="de-DE" sz="2000" b="0" dirty="0">
                <a:hlinkClick r:id="rId2"/>
              </a:rPr>
              <a:t>https://www.cloudflare.com/de-de/learning/security/threats/cross-site-request-forgery/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[2] Cloudflare: </a:t>
            </a:r>
            <a:r>
              <a:rPr lang="de-DE" sz="2000" b="0" i="1" dirty="0"/>
              <a:t>DNS A </a:t>
            </a:r>
            <a:r>
              <a:rPr lang="de-DE" sz="2000" b="0" i="1" dirty="0" err="1"/>
              <a:t>record</a:t>
            </a:r>
            <a:r>
              <a:rPr lang="de-DE" sz="2000" b="0" dirty="0"/>
              <a:t>. URL: </a:t>
            </a:r>
            <a:r>
              <a:rPr lang="de-DE" sz="2000" b="0" dirty="0">
                <a:hlinkClick r:id="rId3"/>
              </a:rPr>
              <a:t>https://www.cloudflare.com/learning/dns/dns-records/dns-a-record/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[3] Cloudflare: </a:t>
            </a:r>
            <a:r>
              <a:rPr lang="de-DE" sz="2000" b="0" i="1" dirty="0"/>
              <a:t>DNS CNAME </a:t>
            </a:r>
            <a:r>
              <a:rPr lang="de-DE" sz="2000" b="0" i="1" dirty="0" err="1"/>
              <a:t>record</a:t>
            </a:r>
            <a:r>
              <a:rPr lang="de-DE" sz="2000" b="0" dirty="0"/>
              <a:t>. URL: </a:t>
            </a:r>
            <a:r>
              <a:rPr lang="de-DE" sz="2000" b="0" dirty="0">
                <a:hlinkClick r:id="rId4"/>
              </a:rPr>
              <a:t>https://www.cloudflare.com/learning/dns/dns-records/dns-cname-record/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[4] Cloudflare: </a:t>
            </a:r>
            <a:r>
              <a:rPr lang="de-DE" sz="2000" b="0" i="1" dirty="0"/>
              <a:t>DNS </a:t>
            </a:r>
            <a:r>
              <a:rPr lang="de-DE" sz="2000" b="0" i="1" dirty="0" err="1"/>
              <a:t>records</a:t>
            </a:r>
            <a:r>
              <a:rPr lang="de-DE" sz="2000" b="0" dirty="0"/>
              <a:t>. URL: </a:t>
            </a:r>
            <a:r>
              <a:rPr lang="de-DE" sz="2000" b="0" dirty="0">
                <a:hlinkClick r:id="rId5"/>
              </a:rPr>
              <a:t>https://www.cloudflare.com/de-de/learning/dns/dns-records/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[5] Cloudflare: </a:t>
            </a:r>
            <a:r>
              <a:rPr lang="de-DE" sz="2000" b="0" i="1" dirty="0"/>
              <a:t>DNS TXT </a:t>
            </a:r>
            <a:r>
              <a:rPr lang="de-DE" sz="2000" b="0" i="1" dirty="0" err="1"/>
              <a:t>record</a:t>
            </a:r>
            <a:r>
              <a:rPr lang="de-DE" sz="2000" b="0" dirty="0"/>
              <a:t>. URL: </a:t>
            </a:r>
            <a:r>
              <a:rPr lang="de-DE" sz="2000" b="0" dirty="0">
                <a:hlinkClick r:id="rId6"/>
              </a:rPr>
              <a:t>https://www.cloudflare.com/learning/dns/dns-records/dns-txt-record/</a:t>
            </a:r>
            <a:r>
              <a:rPr lang="de-DE" sz="2000" b="0" dirty="0"/>
              <a:t> (besucht am 22.09.2026)</a:t>
            </a:r>
          </a:p>
          <a:p>
            <a:r>
              <a:rPr lang="de-DE" sz="2000" b="0" dirty="0"/>
              <a:t>[6] Dash0: </a:t>
            </a:r>
            <a:r>
              <a:rPr lang="de-DE" sz="2000" b="0" i="1" dirty="0" err="1"/>
              <a:t>Serilog</a:t>
            </a:r>
            <a:r>
              <a:rPr lang="de-DE" sz="2000" b="0" i="1" dirty="0"/>
              <a:t> guide</a:t>
            </a:r>
            <a:r>
              <a:rPr lang="de-DE" sz="2000" b="0" dirty="0"/>
              <a:t>. URL: </a:t>
            </a:r>
            <a:r>
              <a:rPr lang="de-DE" sz="2000" b="0" dirty="0">
                <a:hlinkClick r:id="rId7"/>
              </a:rPr>
              <a:t>https://www.dash0.com/guides/serilog</a:t>
            </a:r>
            <a:r>
              <a:rPr lang="de-DE" sz="2000" b="0" dirty="0"/>
              <a:t> (besucht am 22.09.2026)  </a:t>
            </a:r>
          </a:p>
        </p:txBody>
      </p:sp>
    </p:spTree>
    <p:extLst>
      <p:ext uri="{BB962C8B-B14F-4D97-AF65-F5344CB8AC3E}">
        <p14:creationId xmlns:p14="http://schemas.microsoft.com/office/powerpoint/2010/main" val="132107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E720-5EE7-2AEE-2061-0C9EFA60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E857217-B123-752A-9987-6137316A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72EBFCB-EB72-C7D3-AEBE-672E5B2A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D99F2EC-5899-B6D5-F669-DE17E60A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4227A39A-5A50-D5E2-CFA1-209E197CB030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11522074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dirty="0"/>
              <a:t>[7] Heraeus: </a:t>
            </a:r>
            <a:r>
              <a:rPr lang="de-DE" sz="2000" b="0" i="1" dirty="0"/>
              <a:t>Geschichte von Heraeus</a:t>
            </a:r>
            <a:r>
              <a:rPr lang="de-DE" sz="2000" b="0" dirty="0"/>
              <a:t>. URL: </a:t>
            </a:r>
            <a:r>
              <a:rPr lang="de-DE" sz="2000" b="0" dirty="0">
                <a:hlinkClick r:id="rId2"/>
              </a:rPr>
              <a:t>https://www.heraeus.com/de/about-heraeus/history/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[8] IBM: </a:t>
            </a:r>
            <a:r>
              <a:rPr lang="de-DE" sz="2000" b="0" i="1" dirty="0"/>
              <a:t>DNS </a:t>
            </a:r>
            <a:r>
              <a:rPr lang="de-DE" sz="2000" b="0" i="1" dirty="0" err="1"/>
              <a:t>records</a:t>
            </a:r>
            <a:r>
              <a:rPr lang="de-DE" sz="2000" b="0" dirty="0"/>
              <a:t>. URL: </a:t>
            </a:r>
            <a:r>
              <a:rPr lang="de-DE" sz="2000" b="0" dirty="0">
                <a:hlinkClick r:id="rId3"/>
              </a:rPr>
              <a:t>https://www.ibm.com/de-de/think/topics/dns-records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[9] Microsoft: </a:t>
            </a:r>
            <a:r>
              <a:rPr lang="de-DE" sz="2000" b="0" i="1" dirty="0"/>
              <a:t>ASP.NET Core </a:t>
            </a:r>
            <a:r>
              <a:rPr lang="de-DE" sz="2000" b="0" i="1" dirty="0" err="1"/>
              <a:t>overview</a:t>
            </a:r>
            <a:r>
              <a:rPr lang="de-DE" sz="2000" b="0" dirty="0"/>
              <a:t>. URL: </a:t>
            </a:r>
            <a:r>
              <a:rPr lang="de-DE" sz="2000" b="0" dirty="0">
                <a:hlinkClick r:id="rId4"/>
              </a:rPr>
              <a:t>https://learn.microsoft.com/de-de/aspnet/core/overview?view=aspnetcore-10.0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[10] Microsoft: </a:t>
            </a:r>
            <a:r>
              <a:rPr lang="de-DE" sz="2000" b="0" i="1" dirty="0"/>
              <a:t>ASP.NET </a:t>
            </a:r>
            <a:r>
              <a:rPr lang="de-DE" sz="2000" b="0" i="1" dirty="0" err="1"/>
              <a:t>overview</a:t>
            </a:r>
            <a:r>
              <a:rPr lang="de-DE" sz="2000" b="0" dirty="0"/>
              <a:t>. URL: </a:t>
            </a:r>
            <a:r>
              <a:rPr lang="de-DE" sz="2000" b="0" dirty="0">
                <a:hlinkClick r:id="rId5"/>
              </a:rPr>
              <a:t>https://learn.microsoft.com/de-de/aspnet/overview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[11] Microsoft: </a:t>
            </a:r>
            <a:r>
              <a:rPr lang="de-DE" sz="2000" b="0" i="1" dirty="0"/>
              <a:t>DHCP </a:t>
            </a:r>
            <a:r>
              <a:rPr lang="de-DE" sz="2000" b="0" i="1" dirty="0" err="1"/>
              <a:t>scopes</a:t>
            </a:r>
            <a:r>
              <a:rPr lang="de-DE" sz="2000" b="0" dirty="0"/>
              <a:t>. URL: </a:t>
            </a:r>
            <a:r>
              <a:rPr lang="de-DE" sz="2000" b="0" dirty="0">
                <a:hlinkClick r:id="rId6"/>
              </a:rPr>
              <a:t>https://learn.microsoft.com/de-de/windows-server/networking/technologies/dhcp/dhcp-scopes</a:t>
            </a:r>
            <a:r>
              <a:rPr lang="de-DE" sz="2000" b="0" dirty="0"/>
              <a:t> (besucht am 22.09.2026) </a:t>
            </a:r>
          </a:p>
          <a:p>
            <a:r>
              <a:rPr lang="de-DE" sz="2000" b="0" dirty="0"/>
              <a:t>[12] ServiceNow: </a:t>
            </a:r>
            <a:r>
              <a:rPr lang="de-DE" sz="2000" b="0" i="1" dirty="0"/>
              <a:t>Was ist ServiceNow?</a:t>
            </a:r>
            <a:r>
              <a:rPr lang="de-DE" sz="2000" b="0" dirty="0"/>
              <a:t>. URL: </a:t>
            </a:r>
            <a:r>
              <a:rPr lang="de-DE" sz="2000" b="0" dirty="0">
                <a:hlinkClick r:id="rId7"/>
              </a:rPr>
              <a:t>https://www.servicenow.com/de/what-is-servicenow.html</a:t>
            </a:r>
            <a:r>
              <a:rPr lang="de-DE" sz="2000" b="0" dirty="0"/>
              <a:t> (besucht am 22.09.2026)</a:t>
            </a:r>
          </a:p>
          <a:p>
            <a:endParaRPr lang="de-DE" sz="2000" b="0" dirty="0"/>
          </a:p>
        </p:txBody>
      </p:sp>
    </p:spTree>
    <p:extLst>
      <p:ext uri="{BB962C8B-B14F-4D97-AF65-F5344CB8AC3E}">
        <p14:creationId xmlns:p14="http://schemas.microsoft.com/office/powerpoint/2010/main" val="5989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DE0DD-A798-51F2-D6A3-9D496242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9C10A7-E1CF-6411-3804-36D65B42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D34F28C-0AB7-8E15-AC51-340548DE3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607A818-B14B-80E8-1BB9-93F6CDD3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D430051-3566-C31F-DC18-E3630CEF4E67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11522074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dirty="0"/>
              <a:t>[13] </a:t>
            </a:r>
            <a:r>
              <a:rPr lang="de-DE" sz="2000" b="0" dirty="0" err="1"/>
              <a:t>GuideVision</a:t>
            </a:r>
            <a:r>
              <a:rPr lang="de-DE" sz="2000" b="0" dirty="0"/>
              <a:t> Deutschland GmbH: </a:t>
            </a:r>
            <a:r>
              <a:rPr lang="de-DE" sz="2000" b="0" i="1" dirty="0"/>
              <a:t>Mit ServiceNow und </a:t>
            </a:r>
            <a:r>
              <a:rPr lang="de-DE" sz="2000" b="0" i="1" dirty="0" err="1"/>
              <a:t>Tanium</a:t>
            </a:r>
            <a:r>
              <a:rPr lang="de-DE" sz="2000" b="0" i="1" dirty="0"/>
              <a:t> zu modernen IT-Workflows</a:t>
            </a:r>
            <a:r>
              <a:rPr lang="de-DE" sz="2000" b="0" dirty="0"/>
              <a:t>. </a:t>
            </a:r>
            <a:r>
              <a:rPr lang="de-DE" sz="2000" b="0" dirty="0" err="1"/>
              <a:t>PresseBox</a:t>
            </a:r>
            <a:r>
              <a:rPr lang="de-DE" sz="2000" b="0" dirty="0"/>
              <a:t>. URL: </a:t>
            </a:r>
            <a:r>
              <a:rPr lang="de-DE" sz="2000" b="0" dirty="0">
                <a:hlinkClick r:id="rId2"/>
              </a:rPr>
              <a:t>https://www.pressebox.de/pressemitteilung/guidevision-deutschland-gmbh/mit-servicenow-und-tanium-zu-modernen-it-workflows/</a:t>
            </a:r>
            <a:r>
              <a:rPr lang="de-DE" sz="2000" b="0" dirty="0"/>
              <a:t> (besucht am 22.09.2026)</a:t>
            </a:r>
          </a:p>
          <a:p>
            <a:r>
              <a:rPr lang="de-DE" sz="2000" b="0" dirty="0"/>
              <a:t>[14] Logos-World: </a:t>
            </a:r>
            <a:r>
              <a:rPr lang="de-DE" sz="2000" b="0" i="1" dirty="0"/>
              <a:t>Azure DevOps Logo and Symbol, </a:t>
            </a:r>
            <a:r>
              <a:rPr lang="de-DE" sz="2000" b="0" i="1" dirty="0" err="1"/>
              <a:t>Meaning</a:t>
            </a:r>
            <a:r>
              <a:rPr lang="de-DE" sz="2000" b="0" i="1" dirty="0"/>
              <a:t>, </a:t>
            </a:r>
            <a:r>
              <a:rPr lang="de-DE" sz="2000" b="0" i="1" dirty="0" err="1"/>
              <a:t>History</a:t>
            </a:r>
            <a:r>
              <a:rPr lang="de-DE" sz="2000" b="0" i="1" dirty="0"/>
              <a:t>, PNG, Brand</a:t>
            </a:r>
            <a:r>
              <a:rPr lang="de-DE" sz="2000" b="0" dirty="0"/>
              <a:t>. URL: </a:t>
            </a:r>
            <a:r>
              <a:rPr lang="de-DE" sz="2000" b="0" dirty="0">
                <a:hlinkClick r:id="rId3"/>
              </a:rPr>
              <a:t>https://logos-world.net/azure-devops-logo/</a:t>
            </a:r>
            <a:r>
              <a:rPr lang="de-DE" sz="2000" b="0" dirty="0"/>
              <a:t> (besucht am 22.09.2026)</a:t>
            </a:r>
          </a:p>
          <a:p>
            <a:r>
              <a:rPr lang="de-DE" sz="2000" b="0" dirty="0"/>
              <a:t>[15] </a:t>
            </a:r>
            <a:r>
              <a:rPr lang="de-DE" sz="2000" b="0" dirty="0" err="1"/>
              <a:t>seeklogo</a:t>
            </a:r>
            <a:r>
              <a:rPr lang="de-DE" sz="2000" b="0" dirty="0"/>
              <a:t>: </a:t>
            </a:r>
            <a:r>
              <a:rPr lang="de-DE" sz="2000" b="0" i="1" dirty="0" err="1"/>
              <a:t>Active</a:t>
            </a:r>
            <a:r>
              <a:rPr lang="de-DE" sz="2000" b="0" i="1" dirty="0"/>
              <a:t> Directory Vector Logo</a:t>
            </a:r>
            <a:r>
              <a:rPr lang="de-DE" sz="2000" b="0" dirty="0"/>
              <a:t>. URL: </a:t>
            </a:r>
            <a:r>
              <a:rPr lang="de-DE" sz="2000" b="0" dirty="0">
                <a:hlinkClick r:id="rId4"/>
              </a:rPr>
              <a:t>https://seeklogo.com/vector-logo/331553/active-directory</a:t>
            </a:r>
            <a:r>
              <a:rPr lang="de-DE" sz="2000" b="0" dirty="0"/>
              <a:t> (besucht am 22.09.2026)</a:t>
            </a:r>
          </a:p>
          <a:p>
            <a:r>
              <a:rPr lang="de-DE" sz="2000" b="0" dirty="0"/>
              <a:t>[16] Cloudflare: Was ist ein SSL-Zertifikat?. URL: https://www.cloudflare.com/de-de/learning/ssl/what-is-an-ssl-certificate/ (besucht am 23.09.2026)</a:t>
            </a:r>
          </a:p>
          <a:p>
            <a:r>
              <a:rPr lang="de-DE" sz="2000" b="0" dirty="0"/>
              <a:t>[17] Fortinet: </a:t>
            </a:r>
            <a:r>
              <a:rPr lang="de-DE" sz="2000" b="0" dirty="0" err="1"/>
              <a:t>What</a:t>
            </a:r>
            <a:r>
              <a:rPr lang="de-DE" sz="2000" b="0" dirty="0"/>
              <a:t> </a:t>
            </a:r>
            <a:r>
              <a:rPr lang="de-DE" sz="2000" b="0" dirty="0" err="1"/>
              <a:t>Is</a:t>
            </a:r>
            <a:r>
              <a:rPr lang="de-DE" sz="2000" b="0" dirty="0"/>
              <a:t> a Jump Server?. URL: https://www.fortinet.com/resources/cyberglossary/jump-server (besucht am 23.09.2026)</a:t>
            </a:r>
          </a:p>
          <a:p>
            <a:r>
              <a:rPr lang="de-DE" sz="2000" b="0" dirty="0"/>
              <a:t>[18] IBM: On-</a:t>
            </a:r>
            <a:r>
              <a:rPr lang="de-DE" sz="2000" b="0" dirty="0" err="1"/>
              <a:t>Premises</a:t>
            </a:r>
            <a:r>
              <a:rPr lang="de-DE" sz="2000" b="0" dirty="0"/>
              <a:t> vs. Cloud. URL: https://www.ibm.com/de-de/think/topics/on-premises-vs-cloud (besucht am 23.09.2026)</a:t>
            </a:r>
          </a:p>
        </p:txBody>
      </p:sp>
    </p:spTree>
    <p:extLst>
      <p:ext uri="{BB962C8B-B14F-4D97-AF65-F5344CB8AC3E}">
        <p14:creationId xmlns:p14="http://schemas.microsoft.com/office/powerpoint/2010/main" val="130437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A85F7-F8A6-FF75-BCED-D9D140EF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DB48AAC-D03B-9853-1BB8-CEA90BF3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C604B61-B7CA-7AEE-7CBD-F42F1834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150C0DC-DE5D-EECF-3A8E-ABEB016B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8FB4AEC-8174-F064-53D0-2E9169120BA5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11522074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dirty="0"/>
              <a:t>[19] IBM: Was ist </a:t>
            </a:r>
            <a:r>
              <a:rPr lang="de-DE" sz="2000" b="0" dirty="0" err="1"/>
              <a:t>Kubernetes</a:t>
            </a:r>
            <a:r>
              <a:rPr lang="de-DE" sz="2000" b="0" dirty="0"/>
              <a:t>?. URL: https://www.ibm.com/de-de/think/topics/kubernetes (besucht am 23.09.2026)</a:t>
            </a:r>
          </a:p>
          <a:p>
            <a:r>
              <a:rPr lang="en-US" sz="2000" b="0" dirty="0"/>
              <a:t>[20] </a:t>
            </a:r>
            <a:r>
              <a:rPr lang="en-US" sz="2000" b="0" dirty="0" err="1"/>
              <a:t>docusign</a:t>
            </a:r>
            <a:r>
              <a:rPr lang="en-US" sz="2000" b="0" dirty="0"/>
              <a:t>: What is an Audit Trail? </a:t>
            </a:r>
            <a:r>
              <a:rPr lang="de-DE" sz="2000" b="0" dirty="0"/>
              <a:t>URL: </a:t>
            </a:r>
            <a:r>
              <a:rPr lang="de-DE" sz="2000" b="0" u="sng" dirty="0">
                <a:hlinkClick r:id="rId2"/>
              </a:rPr>
              <a:t>https://www.imperva.com/learn/data-security/audit-trail/</a:t>
            </a:r>
            <a:r>
              <a:rPr lang="de-DE" sz="2000" b="0" dirty="0"/>
              <a:t> (besucht am 23.09.2026)</a:t>
            </a:r>
          </a:p>
          <a:p>
            <a:r>
              <a:rPr lang="de-DE" sz="2000" b="0" dirty="0"/>
              <a:t>[21] </a:t>
            </a:r>
            <a:r>
              <a:rPr lang="de-DE" sz="2000" b="0" dirty="0" err="1"/>
              <a:t>Let's</a:t>
            </a:r>
            <a:r>
              <a:rPr lang="de-DE" sz="2000" b="0" dirty="0"/>
              <a:t> </a:t>
            </a:r>
            <a:r>
              <a:rPr lang="de-DE" sz="2000" b="0" dirty="0" err="1"/>
              <a:t>Encrypt</a:t>
            </a:r>
            <a:r>
              <a:rPr lang="de-DE" sz="2000" b="0" dirty="0"/>
              <a:t>: Challenge-Typen. URL: https://letsencrypt.org/de/docs/challenge-types/ (besucht am 23.09.2026)</a:t>
            </a:r>
          </a:p>
          <a:p>
            <a:r>
              <a:rPr lang="de-DE" sz="2000" b="0" dirty="0"/>
              <a:t>[22] Microsoft: </a:t>
            </a:r>
            <a:r>
              <a:rPr lang="de-DE" sz="2000" b="0" dirty="0" err="1"/>
              <a:t>Overview</a:t>
            </a:r>
            <a:r>
              <a:rPr lang="de-DE" sz="2000" b="0" dirty="0"/>
              <a:t> of IIS. URL: https://learn.microsoft.com/de-de/iis/get-started/introduction-to-iis/iis-web-server-overview (besucht am 23.09.2026)</a:t>
            </a:r>
          </a:p>
          <a:p>
            <a:r>
              <a:rPr lang="de-DE" sz="2000" b="0" dirty="0"/>
              <a:t>[23] Microsoft: Übersicht über </a:t>
            </a:r>
            <a:r>
              <a:rPr lang="de-DE" sz="2000" b="0" dirty="0" err="1"/>
              <a:t>Active</a:t>
            </a:r>
            <a:r>
              <a:rPr lang="de-DE" sz="2000" b="0" dirty="0"/>
              <a:t> Directory Domain Services. URL: https://learn.microsoft.com/de-de/windows-server/identity/ad-ds/get-started/virtual-dc/active-directory-domain-services-overview (besucht am 23.09.2026)</a:t>
            </a:r>
          </a:p>
          <a:p>
            <a:r>
              <a:rPr lang="de-DE" sz="2000" b="0" dirty="0"/>
              <a:t>[24] Microsoft: Was ist Azure?. URL: https://azure.microsoft.com/de-de/resources/cloud-computing-dictionary/what-is-azure (besucht am 23.09.2026)</a:t>
            </a:r>
          </a:p>
        </p:txBody>
      </p:sp>
    </p:spTree>
    <p:extLst>
      <p:ext uri="{BB962C8B-B14F-4D97-AF65-F5344CB8AC3E}">
        <p14:creationId xmlns:p14="http://schemas.microsoft.com/office/powerpoint/2010/main" val="171615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239F-D3DB-4907-DD85-8CCB6D6A5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716911F-B605-637E-3235-39BC84AF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BCDF652-06D8-5503-B25E-2F7E6FCD9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29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476855F-C7E2-9DAD-FBE0-FC882EF57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C1792FCD-A8E6-DE99-9685-134A7F9A237F}"/>
              </a:ext>
            </a:extLst>
          </p:cNvPr>
          <p:cNvSpPr txBox="1">
            <a:spLocks/>
          </p:cNvSpPr>
          <p:nvPr/>
        </p:nvSpPr>
        <p:spPr bwMode="gray">
          <a:xfrm>
            <a:off x="334963" y="1592263"/>
            <a:ext cx="11522074" cy="4789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dirty="0"/>
              <a:t>[25] Microsoft: Was ist DevOps?. URL: https://learn.microsoft.com/de-de/devops/what-is-devops (besucht am 23.09.2026)</a:t>
            </a:r>
          </a:p>
          <a:p>
            <a:r>
              <a:rPr lang="de-DE" sz="2000" b="0" dirty="0"/>
              <a:t>[26] Microsoft: Was ist Infrastructure-as-Code (</a:t>
            </a:r>
            <a:r>
              <a:rPr lang="de-DE" sz="2000" b="0" dirty="0" err="1"/>
              <a:t>IaC</a:t>
            </a:r>
            <a:r>
              <a:rPr lang="de-DE" sz="2000" b="0" dirty="0"/>
              <a:t>)?. URL: https://learn.microsoft.com/de-de/devops/deliver/what-is-infrastructure-as-code (besucht am 23.09.2026)</a:t>
            </a:r>
          </a:p>
          <a:p>
            <a:r>
              <a:rPr lang="de-DE" sz="2000" b="0" dirty="0"/>
              <a:t>[27] </a:t>
            </a:r>
            <a:r>
              <a:rPr lang="de-DE" sz="2000" b="0" dirty="0" err="1"/>
              <a:t>Nutanix</a:t>
            </a:r>
            <a:r>
              <a:rPr lang="de-DE" sz="2000" b="0" dirty="0"/>
              <a:t>: Was ist </a:t>
            </a:r>
            <a:r>
              <a:rPr lang="de-DE" sz="2000" b="0" dirty="0" err="1"/>
              <a:t>Hyperconverged</a:t>
            </a:r>
            <a:r>
              <a:rPr lang="de-DE" sz="2000" b="0" dirty="0"/>
              <a:t> Infrastructure (HCI)?. URL: https://www.nutanix.com/de/hyperconverged-infrastructure (besucht am 23.09.2026)</a:t>
            </a:r>
          </a:p>
          <a:p>
            <a:r>
              <a:rPr lang="de-DE" sz="2000" b="0" dirty="0"/>
              <a:t>[28] Rancher: Rancher – Enterprise </a:t>
            </a:r>
            <a:r>
              <a:rPr lang="de-DE" sz="2000" b="0" dirty="0" err="1"/>
              <a:t>Kubernetes</a:t>
            </a:r>
            <a:r>
              <a:rPr lang="de-DE" sz="2000" b="0" dirty="0"/>
              <a:t> Management. URL: https://www.rancher.com/products/rancher (besucht am 23.09.2026)</a:t>
            </a:r>
          </a:p>
          <a:p>
            <a:r>
              <a:rPr lang="de-DE" sz="2000" b="0" dirty="0"/>
              <a:t>[29] </a:t>
            </a:r>
            <a:r>
              <a:rPr lang="de-DE" sz="2000" b="0" dirty="0" err="1"/>
              <a:t>Red</a:t>
            </a:r>
            <a:r>
              <a:rPr lang="de-DE" sz="2000" b="0" dirty="0"/>
              <a:t> Hat: Was ist CI/CD?. URL: https://www.redhat.com/de/topics/devops/what-is-ci-cd (besucht am 23.09.2026)</a:t>
            </a:r>
          </a:p>
        </p:txBody>
      </p:sp>
    </p:spTree>
    <p:extLst>
      <p:ext uri="{BB962C8B-B14F-4D97-AF65-F5344CB8AC3E}">
        <p14:creationId xmlns:p14="http://schemas.microsoft.com/office/powerpoint/2010/main" val="116570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ster_NEW">
  <a:themeElements>
    <a:clrScheme name="Heraeus Blue1">
      <a:dk1>
        <a:srgbClr val="000000"/>
      </a:dk1>
      <a:lt1>
        <a:srgbClr val="FFFFFF"/>
      </a:lt1>
      <a:dk2>
        <a:srgbClr val="535456"/>
      </a:dk2>
      <a:lt2>
        <a:srgbClr val="F6F6F6"/>
      </a:lt2>
      <a:accent1>
        <a:srgbClr val="007EB9"/>
      </a:accent1>
      <a:accent2>
        <a:srgbClr val="37A8E0"/>
      </a:accent2>
      <a:accent3>
        <a:srgbClr val="84C5ED"/>
      </a:accent3>
      <a:accent4>
        <a:srgbClr val="C8E2F7"/>
      </a:accent4>
      <a:accent5>
        <a:srgbClr val="002E63"/>
      </a:accent5>
      <a:accent6>
        <a:srgbClr val="00559D"/>
      </a:accent6>
      <a:hlink>
        <a:srgbClr val="007EB9"/>
      </a:hlink>
      <a:folHlink>
        <a:srgbClr val="838487"/>
      </a:folHlink>
    </a:clrScheme>
    <a:fontScheme name="Arial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E3E3E3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>
          <a:defRPr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custClrLst>
    <a:custClr name="Dark Gray">
      <a:srgbClr val="535456"/>
    </a:custClr>
    <a:custClr name="Deep Gray (Palladium)">
      <a:srgbClr val="6B6C6E"/>
    </a:custClr>
    <a:custClr name="Heraeus Gray (Platinum)">
      <a:srgbClr val="838487"/>
    </a:custClr>
    <a:custClr name="Light Gray (Silver)">
      <a:srgbClr val="BBBCBD"/>
    </a:custClr>
    <a:custClr name="Soft Gray">
      <a:srgbClr val="E3E3E3"/>
    </a:custClr>
    <a:custClr name="Pale Gray">
      <a:srgbClr val="F6F6F6"/>
    </a:custClr>
    <a:custClr name="Dark Blue">
      <a:srgbClr val="002E63"/>
    </a:custClr>
    <a:custClr name="Deep Blue">
      <a:srgbClr val="00559D"/>
    </a:custClr>
    <a:custClr name="Heraeus Blue">
      <a:srgbClr val="007EB9"/>
    </a:custClr>
    <a:custClr name="Light Blue">
      <a:srgbClr val="37A8E0"/>
    </a:custClr>
    <a:custClr name="Soft Blue">
      <a:srgbClr val="84C5ED"/>
    </a:custClr>
    <a:custClr name="Pale Blue">
      <a:srgbClr val="C8E2F7"/>
    </a:custClr>
    <a:custClr name="Dark Green">
      <a:srgbClr val="0C5A28"/>
    </a:custClr>
    <a:custClr name="Deep Green">
      <a:srgbClr val="3B8933"/>
    </a:custClr>
    <a:custClr name="Heraeus Green">
      <a:srgbClr val="72B904"/>
    </a:custClr>
    <a:custClr name="Light Green">
      <a:srgbClr val="BAD150"/>
    </a:custClr>
    <a:custClr name="Soft Green">
      <a:srgbClr val="DBE38F"/>
    </a:custClr>
    <a:custClr name="Pale Green">
      <a:srgbClr val="ECF2DA"/>
    </a:custClr>
    <a:custClr name="Dark Yellow (Gold)">
      <a:srgbClr val="A58000"/>
    </a:custClr>
    <a:custClr name="Deep Yellow">
      <a:srgbClr val="DEA600"/>
    </a:custClr>
    <a:custClr name="Heraeus Yellow">
      <a:srgbClr val="FFD200"/>
    </a:custClr>
    <a:custClr name="Light Yellow">
      <a:srgbClr val="FFDF43"/>
    </a:custClr>
    <a:custClr name="Soft Yellow">
      <a:srgbClr val="FFEB7F"/>
    </a:custClr>
    <a:custClr name="Pale Yellow">
      <a:srgbClr val="FFF9C7"/>
    </a:custClr>
    <a:custClr name="Dark Orange">
      <a:srgbClr val="9D140E"/>
    </a:custClr>
    <a:custClr name="Deep Orange">
      <a:srgbClr val="BF420C"/>
    </a:custClr>
    <a:custClr name="Heraeus Orange">
      <a:srgbClr val="EF8700"/>
    </a:custClr>
    <a:custClr name="Light Orange">
      <a:srgbClr val="F7A83B"/>
    </a:custClr>
    <a:custClr name="Soft Orange">
      <a:srgbClr val="FDD490"/>
    </a:custClr>
    <a:custClr name="Pale Orange">
      <a:srgbClr val="FEECD5"/>
    </a:custClr>
    <a:custClr name="Dark Purple">
      <a:srgbClr val="520937"/>
    </a:custClr>
    <a:custClr name="Deep Purple">
      <a:srgbClr val="7F1557"/>
    </a:custClr>
    <a:custClr name="Heraeus Purple">
      <a:srgbClr val="9B006B"/>
    </a:custClr>
    <a:custClr name="Light Purple">
      <a:srgbClr val="BD6392"/>
    </a:custClr>
    <a:custClr name="Soft Purple">
      <a:srgbClr val="E3ADC3"/>
    </a:custClr>
    <a:custClr name="Pale Purple">
      <a:srgbClr val="E9DAE5"/>
    </a:custClr>
  </a:custClrLst>
  <a:extLst>
    <a:ext uri="{05A4C25C-085E-4340-85A3-A5531E510DB2}">
      <thm15:themeFamily xmlns:thm15="http://schemas.microsoft.com/office/thememl/2012/main" name="Title_Slide_Pool.potx" id="{AAB35D65-0521-458D-9168-8B9D53B9717D}" vid="{50FCEBC9-CD63-4333-94BC-2AC189134D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Title_Slide_Pool</Template>
  <TotalTime>0</TotalTime>
  <Words>1858</Words>
  <Application>Microsoft Office PowerPoint</Application>
  <PresentationFormat>Breitbild</PresentationFormat>
  <Paragraphs>247</Paragraphs>
  <Slides>29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4" baseType="lpstr">
      <vt:lpstr>Arial</vt:lpstr>
      <vt:lpstr>Arial Black</vt:lpstr>
      <vt:lpstr>Calibri</vt:lpstr>
      <vt:lpstr>Wingdings</vt:lpstr>
      <vt:lpstr>Master_NEW</vt:lpstr>
      <vt:lpstr>Cloud infrastructure automation   </vt:lpstr>
      <vt:lpstr>Agenda – 6 topics</vt:lpstr>
      <vt:lpstr>Einführung</vt:lpstr>
      <vt:lpstr>Backend team</vt:lpstr>
      <vt:lpstr>Backend team</vt:lpstr>
      <vt:lpstr>Daily tools</vt:lpstr>
      <vt:lpstr>Projekt 1 - logging</vt:lpstr>
      <vt:lpstr>Projekt 1 - logging</vt:lpstr>
      <vt:lpstr>Projekt 1 - logging</vt:lpstr>
      <vt:lpstr>Projekt 1 - logging</vt:lpstr>
      <vt:lpstr>Projekt 1 - logging</vt:lpstr>
      <vt:lpstr>Projekt 1 - logging</vt:lpstr>
      <vt:lpstr>Projekt 2 – TXT-Records</vt:lpstr>
      <vt:lpstr>Projekt 2 – TXT-Records</vt:lpstr>
      <vt:lpstr>Projekt 2 – TXT-Records</vt:lpstr>
      <vt:lpstr>Projekt 2 – TXT-Records</vt:lpstr>
      <vt:lpstr>Projekt 2 – TXT-Records</vt:lpstr>
      <vt:lpstr>Projekt 3 – PW-CHange-webapp</vt:lpstr>
      <vt:lpstr>Projekt 3 – PW-CHange-webapp</vt:lpstr>
      <vt:lpstr>Projekt 3 – PW-CHange-webapp</vt:lpstr>
      <vt:lpstr>Projekt 3 – PW-CHange-webapp</vt:lpstr>
      <vt:lpstr>reflexion</vt:lpstr>
      <vt:lpstr>reflexion</vt:lpstr>
      <vt:lpstr>VIELEN DANK! </vt:lpstr>
      <vt:lpstr>quellen</vt:lpstr>
      <vt:lpstr>quellen</vt:lpstr>
      <vt:lpstr>quellen</vt:lpstr>
      <vt:lpstr>quellen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Akalai, Nassim</dc:creator>
  <cp:lastModifiedBy>Akalai, Nassim</cp:lastModifiedBy>
  <cp:revision>10</cp:revision>
  <dcterms:created xsi:type="dcterms:W3CDTF">2026-09-22T17:53:56Z</dcterms:created>
  <dcterms:modified xsi:type="dcterms:W3CDTF">2026-09-23T15:56:20Z</dcterms:modified>
</cp:coreProperties>
</file>