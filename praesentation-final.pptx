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29"/>
  </p:notesMasterIdLst>
  <p:sldIdLst>
    <p:sldId id="362" r:id="rId2"/>
    <p:sldId id="259" r:id="rId3"/>
    <p:sldId id="363" r:id="rId4"/>
    <p:sldId id="364" r:id="rId5"/>
    <p:sldId id="365" r:id="rId6"/>
    <p:sldId id="3932" r:id="rId7"/>
    <p:sldId id="382" r:id="rId8"/>
    <p:sldId id="354" r:id="rId9"/>
    <p:sldId id="366" r:id="rId10"/>
    <p:sldId id="367" r:id="rId11"/>
    <p:sldId id="368" r:id="rId12"/>
    <p:sldId id="380" r:id="rId13"/>
    <p:sldId id="369" r:id="rId14"/>
    <p:sldId id="370" r:id="rId15"/>
    <p:sldId id="371" r:id="rId16"/>
    <p:sldId id="372" r:id="rId17"/>
    <p:sldId id="379" r:id="rId18"/>
    <p:sldId id="373" r:id="rId19"/>
    <p:sldId id="374" r:id="rId20"/>
    <p:sldId id="375" r:id="rId21"/>
    <p:sldId id="376" r:id="rId22"/>
    <p:sldId id="3933" r:id="rId23"/>
    <p:sldId id="377" r:id="rId24"/>
    <p:sldId id="3936" r:id="rId25"/>
    <p:sldId id="378" r:id="rId26"/>
    <p:sldId id="3934" r:id="rId27"/>
    <p:sldId id="393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46226445-A72C-4B6E-8E15-76FB6988B5DA}">
          <p14:sldIdLst>
            <p14:sldId id="362"/>
            <p14:sldId id="259"/>
          </p14:sldIdLst>
        </p14:section>
        <p14:section name="Einführung" id="{6FB69721-A9B1-462D-8858-C543E907DD50}">
          <p14:sldIdLst>
            <p14:sldId id="363"/>
          </p14:sldIdLst>
        </p14:section>
        <p14:section name="Backend Team" id="{93FFCA88-7CB2-41E9-BA9E-957C694234A9}">
          <p14:sldIdLst>
            <p14:sldId id="364"/>
            <p14:sldId id="365"/>
          </p14:sldIdLst>
        </p14:section>
        <p14:section name="Daily Tools" id="{818F29C6-D1BB-48BD-A118-B1881EB6052E}">
          <p14:sldIdLst>
            <p14:sldId id="3932"/>
            <p14:sldId id="382"/>
          </p14:sldIdLst>
        </p14:section>
        <p14:section name="Projekt 1" id="{7AEDD5B4-AACE-4C82-8C5D-DACD8AA3FB25}">
          <p14:sldIdLst>
            <p14:sldId id="354"/>
            <p14:sldId id="366"/>
            <p14:sldId id="367"/>
            <p14:sldId id="368"/>
            <p14:sldId id="380"/>
          </p14:sldIdLst>
        </p14:section>
        <p14:section name="Projekt 2" id="{9A828B72-2EE6-4A76-BBEA-38C8F6233687}">
          <p14:sldIdLst>
            <p14:sldId id="369"/>
            <p14:sldId id="370"/>
            <p14:sldId id="371"/>
            <p14:sldId id="372"/>
            <p14:sldId id="379"/>
          </p14:sldIdLst>
        </p14:section>
        <p14:section name="Projekt 3" id="{66D591C8-B03A-4F34-95D3-22E0E57F0214}">
          <p14:sldIdLst>
            <p14:sldId id="373"/>
            <p14:sldId id="374"/>
            <p14:sldId id="375"/>
            <p14:sldId id="376"/>
            <p14:sldId id="3933"/>
          </p14:sldIdLst>
        </p14:section>
        <p14:section name="Reflexion" id="{4608F46A-AD80-4D2E-9443-0D33C7D46BB9}">
          <p14:sldIdLst>
            <p14:sldId id="377"/>
            <p14:sldId id="3936"/>
          </p14:sldIdLst>
        </p14:section>
        <p14:section name="Quellen" id="{146C06E0-473A-4EC0-A026-5E7C0E771B05}">
          <p14:sldIdLst>
            <p14:sldId id="378"/>
            <p14:sldId id="3934"/>
            <p14:sldId id="393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E2F7"/>
    <a:srgbClr val="007EB9"/>
    <a:srgbClr val="72B904"/>
    <a:srgbClr val="DBE38F"/>
    <a:srgbClr val="FFD200"/>
    <a:srgbClr val="FFEB7F"/>
    <a:srgbClr val="EF8700"/>
    <a:srgbClr val="FDD490"/>
    <a:srgbClr val="9B006B"/>
    <a:srgbClr val="E3AD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186" y="6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29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755C18-273B-4A9F-8AB6-FC51CCC36520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CAB80-D71C-4D31-9306-0B954A67F8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325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736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869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 bwMode="gray">
          <a:xfrm>
            <a:off x="0" y="765174"/>
            <a:ext cx="12191187" cy="6092825"/>
          </a:xfrm>
          <a:solidFill>
            <a:srgbClr val="BBBCBD"/>
          </a:solidFill>
        </p:spPr>
        <p:txBody>
          <a:bodyPr tIns="720000" anchor="ctr"/>
          <a:lstStyle>
            <a:lvl1pPr algn="ctr">
              <a:defRPr b="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34963" y="3968750"/>
            <a:ext cx="5760511" cy="1728880"/>
          </a:xfrm>
          <a:solidFill>
            <a:schemeClr val="bg1"/>
          </a:solidFill>
        </p:spPr>
        <p:txBody>
          <a:bodyPr wrap="square" lIns="144000" tIns="432000" rIns="144000" bIns="0" anchor="b">
            <a:spAutoFit/>
          </a:bodyPr>
          <a:lstStyle>
            <a:lvl1pPr>
              <a:defRPr sz="28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Headline </a:t>
            </a:r>
            <a:br>
              <a:rPr lang="de-DE" dirty="0"/>
            </a:br>
            <a:r>
              <a:rPr lang="de-DE" dirty="0" err="1"/>
              <a:t>with</a:t>
            </a:r>
            <a:r>
              <a:rPr lang="de-DE" dirty="0"/>
              <a:t> Maximum </a:t>
            </a:r>
            <a:br>
              <a:rPr lang="de-DE" dirty="0"/>
            </a:br>
            <a:r>
              <a:rPr lang="de-DE" dirty="0"/>
              <a:t>Three Lines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4963" y="5697630"/>
            <a:ext cx="5760511" cy="433553"/>
          </a:xfrm>
          <a:solidFill>
            <a:schemeClr val="bg1"/>
          </a:solidFill>
        </p:spPr>
        <p:txBody>
          <a:bodyPr lIns="144000" tIns="72000" rIns="144000" bIns="144000" anchor="b">
            <a:noAutofit/>
          </a:bodyPr>
          <a:lstStyle>
            <a:lvl1pPr marL="0" indent="0" algn="l">
              <a:buNone/>
              <a:defRPr sz="1400" b="0">
                <a:solidFill>
                  <a:schemeClr val="tx2"/>
                </a:solidFill>
              </a:defRPr>
            </a:lvl1pPr>
            <a:lvl2pPr marL="0" indent="0" algn="l">
              <a:buNone/>
              <a:defRPr sz="1400">
                <a:solidFill>
                  <a:schemeClr val="bg1"/>
                </a:solidFill>
              </a:defRPr>
            </a:lvl2pPr>
            <a:lvl3pPr marL="0" indent="0" algn="l">
              <a:buNone/>
              <a:defRPr>
                <a:solidFill>
                  <a:schemeClr val="bg1"/>
                </a:solidFill>
              </a:defRPr>
            </a:lvl3pPr>
            <a:lvl4pPr marL="0" indent="0" algn="l">
              <a:buNone/>
              <a:defRPr sz="1400">
                <a:solidFill>
                  <a:schemeClr val="bg1"/>
                </a:solidFill>
              </a:defRPr>
            </a:lvl4pPr>
            <a:lvl5pPr marL="0" indent="0" algn="l">
              <a:buNone/>
              <a:defRPr sz="1400">
                <a:solidFill>
                  <a:schemeClr val="bg1"/>
                </a:solidFill>
              </a:defRPr>
            </a:lvl5pPr>
            <a:lvl6pPr marL="0" indent="0" algn="l">
              <a:buNone/>
              <a:defRPr sz="1400">
                <a:solidFill>
                  <a:schemeClr val="bg1"/>
                </a:solidFill>
              </a:defRPr>
            </a:lvl6pPr>
            <a:lvl7pPr marL="0" indent="0" algn="l">
              <a:buNone/>
              <a:defRPr sz="1400">
                <a:solidFill>
                  <a:schemeClr val="bg1"/>
                </a:solidFill>
              </a:defRPr>
            </a:lvl7pPr>
            <a:lvl8pPr marL="0" indent="0" algn="l">
              <a:buNone/>
              <a:defRPr sz="1400">
                <a:solidFill>
                  <a:schemeClr val="bg1"/>
                </a:solidFill>
              </a:defRPr>
            </a:lvl8pPr>
            <a:lvl9pPr marL="0" indent="0" algn="l">
              <a:buNone/>
              <a:defRPr sz="14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Optional: max.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subline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info</a:t>
            </a:r>
            <a:r>
              <a:rPr lang="de-DE" dirty="0"/>
              <a:t> like Date, Place, Speaker</a:t>
            </a:r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49B0168-770F-4801-9C13-0838EAD3E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6131181"/>
            <a:ext cx="5760511" cy="36000"/>
          </a:xfrm>
          <a:solidFill>
            <a:schemeClr val="accent1"/>
          </a:solidFill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398E6D-33D6-46F7-8AFA-388FFEAE2094}"/>
              </a:ext>
            </a:extLst>
          </p:cNvPr>
          <p:cNvGrpSpPr/>
          <p:nvPr userDrawn="1"/>
        </p:nvGrpSpPr>
        <p:grpSpPr>
          <a:xfrm>
            <a:off x="10873960" y="-640207"/>
            <a:ext cx="3747547" cy="3038619"/>
            <a:chOff x="10873960" y="-640207"/>
            <a:chExt cx="3747547" cy="303861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20D68B-838B-49EC-B5FD-F8575DA971C5}"/>
                </a:ext>
              </a:extLst>
            </p:cNvPr>
            <p:cNvGrpSpPr/>
            <p:nvPr/>
          </p:nvGrpSpPr>
          <p:grpSpPr>
            <a:xfrm>
              <a:off x="10953277" y="-560858"/>
              <a:ext cx="3668230" cy="2959270"/>
              <a:chOff x="10951850" y="-560858"/>
              <a:chExt cx="3667753" cy="295927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62DB86D0-A38B-46C2-822E-9075FA7CE18F}"/>
                  </a:ext>
                </a:extLst>
              </p:cNvPr>
              <p:cNvGrpSpPr/>
              <p:nvPr/>
            </p:nvGrpSpPr>
            <p:grpSpPr bwMode="gray">
              <a:xfrm>
                <a:off x="12339910" y="702002"/>
                <a:ext cx="2279693" cy="1696410"/>
                <a:chOff x="12338304" y="702002"/>
                <a:chExt cx="2279396" cy="1696410"/>
              </a:xfrm>
              <a:solidFill>
                <a:srgbClr val="9B006B"/>
              </a:solidFill>
            </p:grpSpPr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6C35ACA-FFE5-4D07-87CA-69EB152877AB}"/>
                    </a:ext>
                  </a:extLst>
                </p:cNvPr>
                <p:cNvSpPr/>
                <p:nvPr/>
              </p:nvSpPr>
              <p:spPr bwMode="gray">
                <a:xfrm>
                  <a:off x="12338304" y="702002"/>
                  <a:ext cx="2279396" cy="169641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44000" tIns="144000" rIns="144000" bIns="144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note: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chose a title image as you like.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To access ready-to-use title slide options, please go to File &gt; New &gt; and open the Title Slide Pool. </a:t>
                  </a:r>
                  <a:endParaRPr lang="en-US" sz="1200" kern="1200" dirty="0">
                    <a:solidFill>
                      <a:schemeClr val="bg1"/>
                    </a:solidFill>
                    <a:effectLst/>
                    <a:latin typeface="+mn-l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762C505-B72C-4E31-8D49-23011A8B442A}"/>
                    </a:ext>
                  </a:extLst>
                </p:cNvPr>
                <p:cNvCxnSpPr/>
                <p:nvPr/>
              </p:nvCxnSpPr>
              <p:spPr bwMode="gray">
                <a:xfrm>
                  <a:off x="12470002" y="1065467"/>
                  <a:ext cx="2016000" cy="0"/>
                </a:xfrm>
                <a:prstGeom prst="line">
                  <a:avLst/>
                </a:prstGeom>
                <a:grpFill/>
                <a:ln w="6350">
                  <a:solidFill>
                    <a:schemeClr val="bg1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1B616AB-AC4C-4535-8AA8-FA274A5A6CDF}"/>
                  </a:ext>
                </a:extLst>
              </p:cNvPr>
              <p:cNvSpPr/>
              <p:nvPr userDrawn="1"/>
            </p:nvSpPr>
            <p:spPr bwMode="gray">
              <a:xfrm>
                <a:off x="10951850" y="-560858"/>
                <a:ext cx="489302" cy="489302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800" dirty="0" err="1">
                  <a:solidFill>
                    <a:schemeClr val="tx2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9A90105-7DD1-4635-A357-65AA3E3DBB77}"/>
                  </a:ext>
                </a:extLst>
              </p:cNvPr>
              <p:cNvCxnSpPr>
                <a:cxnSpLocks/>
                <a:stCxn id="18" idx="6"/>
              </p:cNvCxnSpPr>
              <p:nvPr/>
            </p:nvCxnSpPr>
            <p:spPr bwMode="gray">
              <a:xfrm flipV="1">
                <a:off x="11441152" y="-318096"/>
                <a:ext cx="1044762" cy="1889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79EC5FA-7FF7-40AB-BC64-526CC9BE9186}"/>
                  </a:ext>
                </a:extLst>
              </p:cNvPr>
              <p:cNvCxnSpPr/>
              <p:nvPr/>
            </p:nvCxnSpPr>
            <p:spPr bwMode="gray">
              <a:xfrm flipV="1">
                <a:off x="12471625" y="-322859"/>
                <a:ext cx="0" cy="1152540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7D089EA6-D662-4D5B-8457-79120918B7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873960" y="-640207"/>
              <a:ext cx="648000" cy="64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884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icture Placeholder 4">
            <a:extLst>
              <a:ext uri="{FF2B5EF4-FFF2-40B4-BE49-F238E27FC236}">
                <a16:creationId xmlns:a16="http://schemas.microsoft.com/office/drawing/2014/main" id="{DE883543-1193-44C9-8F80-BBB7E39B5D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767064"/>
            <a:ext cx="12191187" cy="6090935"/>
          </a:xfrm>
          <a:solidFill>
            <a:srgbClr val="BBBCBD"/>
          </a:solidFill>
        </p:spPr>
        <p:txBody>
          <a:bodyPr tIns="720000" anchor="ctr"/>
          <a:lstStyle>
            <a:lvl1pPr algn="ctr">
              <a:defRPr b="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34963" y="3968750"/>
            <a:ext cx="5760513" cy="1728880"/>
          </a:xfrm>
          <a:solidFill>
            <a:schemeClr val="accent1"/>
          </a:solidFill>
        </p:spPr>
        <p:txBody>
          <a:bodyPr wrap="square" lIns="144000" tIns="432000" rIns="144000" bIns="0" anchor="b">
            <a:sp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Headline </a:t>
            </a:r>
            <a:br>
              <a:rPr lang="de-DE" dirty="0"/>
            </a:br>
            <a:r>
              <a:rPr lang="de-DE" dirty="0" err="1"/>
              <a:t>with</a:t>
            </a:r>
            <a:r>
              <a:rPr lang="de-DE" dirty="0"/>
              <a:t> Maximum </a:t>
            </a:r>
            <a:br>
              <a:rPr lang="de-DE" dirty="0"/>
            </a:br>
            <a:r>
              <a:rPr lang="de-DE" dirty="0"/>
              <a:t>Three Lines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4963" y="5697630"/>
            <a:ext cx="5760513" cy="433553"/>
          </a:xfrm>
          <a:solidFill>
            <a:schemeClr val="accent1"/>
          </a:solidFill>
        </p:spPr>
        <p:txBody>
          <a:bodyPr lIns="144000" tIns="72000" rIns="144000" bIns="144000" anchor="b">
            <a:noAutofit/>
          </a:bodyPr>
          <a:lstStyle>
            <a:lvl1pPr marL="0" indent="0" algn="l">
              <a:buNone/>
              <a:defRPr sz="1400" b="0">
                <a:solidFill>
                  <a:schemeClr val="bg1"/>
                </a:solidFill>
              </a:defRPr>
            </a:lvl1pPr>
            <a:lvl2pPr marL="0" indent="0" algn="l">
              <a:buNone/>
              <a:defRPr sz="1400">
                <a:solidFill>
                  <a:schemeClr val="bg1"/>
                </a:solidFill>
              </a:defRPr>
            </a:lvl2pPr>
            <a:lvl3pPr marL="0" indent="0" algn="l">
              <a:buNone/>
              <a:defRPr>
                <a:solidFill>
                  <a:schemeClr val="bg1"/>
                </a:solidFill>
              </a:defRPr>
            </a:lvl3pPr>
            <a:lvl4pPr marL="0" indent="0" algn="l">
              <a:buNone/>
              <a:defRPr sz="1400">
                <a:solidFill>
                  <a:schemeClr val="bg1"/>
                </a:solidFill>
              </a:defRPr>
            </a:lvl4pPr>
            <a:lvl5pPr marL="0" indent="0" algn="l">
              <a:buNone/>
              <a:defRPr sz="1400">
                <a:solidFill>
                  <a:schemeClr val="bg1"/>
                </a:solidFill>
              </a:defRPr>
            </a:lvl5pPr>
            <a:lvl6pPr marL="0" indent="0" algn="l">
              <a:buNone/>
              <a:defRPr sz="1400">
                <a:solidFill>
                  <a:schemeClr val="bg1"/>
                </a:solidFill>
              </a:defRPr>
            </a:lvl6pPr>
            <a:lvl7pPr marL="0" indent="0" algn="l">
              <a:buNone/>
              <a:defRPr sz="1400">
                <a:solidFill>
                  <a:schemeClr val="bg1"/>
                </a:solidFill>
              </a:defRPr>
            </a:lvl7pPr>
            <a:lvl8pPr marL="0" indent="0" algn="l">
              <a:buNone/>
              <a:defRPr sz="1400">
                <a:solidFill>
                  <a:schemeClr val="bg1"/>
                </a:solidFill>
              </a:defRPr>
            </a:lvl8pPr>
            <a:lvl9pPr marL="0" indent="0" algn="l">
              <a:buNone/>
              <a:defRPr sz="1400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Optional: max. one subline with info like Date, Place, Speaker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6A86BAE-8E8F-4C4D-8D00-C7361B7C095E}"/>
              </a:ext>
            </a:extLst>
          </p:cNvPr>
          <p:cNvGrpSpPr/>
          <p:nvPr userDrawn="1"/>
        </p:nvGrpSpPr>
        <p:grpSpPr>
          <a:xfrm>
            <a:off x="10873960" y="-640207"/>
            <a:ext cx="3747547" cy="3038619"/>
            <a:chOff x="10873960" y="-640207"/>
            <a:chExt cx="3747547" cy="3038619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32B3CDC-BC01-40E0-BBB1-2BF03171B76B}"/>
                </a:ext>
              </a:extLst>
            </p:cNvPr>
            <p:cNvGrpSpPr/>
            <p:nvPr/>
          </p:nvGrpSpPr>
          <p:grpSpPr>
            <a:xfrm>
              <a:off x="10953277" y="-560858"/>
              <a:ext cx="3668230" cy="2959270"/>
              <a:chOff x="10951850" y="-560858"/>
              <a:chExt cx="3667753" cy="295927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30283F5-ADEF-4F84-A838-10B925064F41}"/>
                  </a:ext>
                </a:extLst>
              </p:cNvPr>
              <p:cNvGrpSpPr/>
              <p:nvPr/>
            </p:nvGrpSpPr>
            <p:grpSpPr bwMode="gray">
              <a:xfrm>
                <a:off x="12339910" y="702002"/>
                <a:ext cx="2279693" cy="1696410"/>
                <a:chOff x="12338304" y="702002"/>
                <a:chExt cx="2279396" cy="1696410"/>
              </a:xfrm>
              <a:solidFill>
                <a:srgbClr val="9B006B"/>
              </a:solidFill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8F48637-E8FA-4F56-96E4-CAA199124989}"/>
                    </a:ext>
                  </a:extLst>
                </p:cNvPr>
                <p:cNvSpPr/>
                <p:nvPr/>
              </p:nvSpPr>
              <p:spPr bwMode="gray">
                <a:xfrm>
                  <a:off x="12338304" y="702002"/>
                  <a:ext cx="2279396" cy="169641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44000" tIns="144000" rIns="144000" bIns="144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note: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chose a title image as you like.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To access ready-to-use title slide options, please go to File &gt; New &gt; and open the Title Slide Pool. </a:t>
                  </a:r>
                  <a:endParaRPr lang="en-US" sz="1200" kern="1200" dirty="0">
                    <a:solidFill>
                      <a:schemeClr val="bg1"/>
                    </a:solidFill>
                    <a:effectLst/>
                    <a:latin typeface="+mn-l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5239923-96F1-42D3-B636-506D9CEB12D5}"/>
                    </a:ext>
                  </a:extLst>
                </p:cNvPr>
                <p:cNvCxnSpPr/>
                <p:nvPr/>
              </p:nvCxnSpPr>
              <p:spPr bwMode="gray">
                <a:xfrm>
                  <a:off x="12470002" y="1065467"/>
                  <a:ext cx="2016000" cy="0"/>
                </a:xfrm>
                <a:prstGeom prst="line">
                  <a:avLst/>
                </a:prstGeom>
                <a:grpFill/>
                <a:ln w="6350">
                  <a:solidFill>
                    <a:schemeClr val="bg1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3BEE575-66BD-45D6-B1B9-5B053D49E52D}"/>
                  </a:ext>
                </a:extLst>
              </p:cNvPr>
              <p:cNvSpPr/>
              <p:nvPr userDrawn="1"/>
            </p:nvSpPr>
            <p:spPr bwMode="gray">
              <a:xfrm>
                <a:off x="10951850" y="-560858"/>
                <a:ext cx="489302" cy="489302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800" dirty="0" err="1">
                  <a:solidFill>
                    <a:schemeClr val="tx2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679313C-BFBC-4EB6-8412-642D1124D4CB}"/>
                  </a:ext>
                </a:extLst>
              </p:cNvPr>
              <p:cNvCxnSpPr>
                <a:cxnSpLocks/>
                <a:stCxn id="17" idx="6"/>
              </p:cNvCxnSpPr>
              <p:nvPr/>
            </p:nvCxnSpPr>
            <p:spPr bwMode="gray">
              <a:xfrm flipV="1">
                <a:off x="11441152" y="-318096"/>
                <a:ext cx="1044762" cy="1889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45691493-0FE1-4CDF-B828-8BA373940150}"/>
                  </a:ext>
                </a:extLst>
              </p:cNvPr>
              <p:cNvCxnSpPr/>
              <p:nvPr/>
            </p:nvCxnSpPr>
            <p:spPr bwMode="gray">
              <a:xfrm flipV="1">
                <a:off x="12471625" y="-322859"/>
                <a:ext cx="0" cy="1152540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EF5A409E-3CB4-4949-8324-59E9365A1E1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873960" y="-640207"/>
              <a:ext cx="648000" cy="64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0073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774DAC3A-E673-4071-B765-16109B4841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592262"/>
            <a:ext cx="11522074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6322A0-0106-4857-A9FA-185F39731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CFB3BA-047D-4CBA-84BF-B9B3DD622CF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FE989E-5B07-43D5-A814-1B0F77E8D3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991465-BAB0-4A21-A9F0-84C0C1B36CB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538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59115F40-DFF3-42E5-B3F7-A5C0E18233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1592262"/>
            <a:ext cx="5651941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B62538E-5126-4DA2-95D5-F5F53F8F2C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05098" y="1592264"/>
            <a:ext cx="5651940" cy="47894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3DF55B-EEB5-42AE-9F85-943FEEAE9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B05A83-A6F5-4201-8D1E-B9E61038665E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8BB4EC-A5DD-499A-9C01-B25AD3F2F503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E7B3F2-BE78-431F-8BE0-BBE2B67070C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26879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6205098" y="1592262"/>
            <a:ext cx="5651940" cy="47894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59115F40-DFF3-42E5-B3F7-A5C0E18233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1592262"/>
            <a:ext cx="5651941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5DF714F-BDDB-45A6-B1BB-8CF87F9AAD3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E97AAE-1E2A-4D5E-BC44-0374E2CC68B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CB3651-2105-4E49-90B5-C9A76522BFB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7F017D-D418-4A1C-B487-A6605334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746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334963" y="1592263"/>
            <a:ext cx="5653087" cy="4779962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02EF6EBB-6B2D-4A01-AE8E-436D61F236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5098" y="1592264"/>
            <a:ext cx="5651940" cy="47894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E14B362-18EF-415C-ABAA-103ECE93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ADD940-A913-41BD-9857-7301F684ABA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6F099-2F59-4FC2-A5CC-296050927FD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3EDB932-0738-48D5-9838-40C9D626478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83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6203950" y="765176"/>
            <a:ext cx="5988049" cy="6092822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59115F40-DFF3-42E5-B3F7-A5C0E18233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816" y="1592264"/>
            <a:ext cx="5653088" cy="47894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0B4C320-2699-4CC8-A0BE-D0BD5C442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876475"/>
            <a:ext cx="5653088" cy="5364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ADFD02-BC87-4C28-ADC8-1EF7AC14366F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D6F252-8CAC-4F27-8E70-08A9AA37D35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4237C85-CDEC-47F2-B187-E8DEF1E56D34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54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0" y="765174"/>
            <a:ext cx="5988050" cy="6092825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02EF6EBB-6B2D-4A01-AE8E-436D61F236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3950" y="1592262"/>
            <a:ext cx="5653088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A23FD4-D874-4D71-94BC-E70EC65EB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50" y="876475"/>
            <a:ext cx="5653088" cy="5364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9966C04-233A-4A76-92A1-041834A5C64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FA2E52-CA74-4A4F-9A04-DB759643704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DDB9838-23B9-4CF4-82FA-A8A368A9F03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7948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7415D5-38BB-48D1-8432-FBC44DF1A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61F149-E92B-4962-8F7A-E73AC1DEE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E73C8FA-C947-4A34-87C5-61064CF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47BDC61-A510-43BF-B972-608927F30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77741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E1E8FB8-778B-4E61-9EE5-9265814F8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457A5DB-9DEF-4E19-9C37-C3CAB252D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12F9-D854-4893-A79B-E73040B06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2835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334964" y="1592263"/>
            <a:ext cx="11522074" cy="47894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1D39577-2DFA-48AB-97A8-D61597079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204F8-A4D5-4368-95D3-D48ACB47F5B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3BB880-F729-49B3-8A17-865E49C3069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2F5441-9315-426B-B20C-93C85FFA30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381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7DC1E94E-C9A6-4C8C-9EB4-05957B71C35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1" y="765175"/>
            <a:ext cx="12192000" cy="6092824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59663E8-67FA-4939-AF62-5F42DFF82A7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86DCB3D-8EEF-44E7-898B-6F2B8ABC0BD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40FB5F-EED9-4B17-A2B6-E9B435EE6EB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53148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/>
          <p:cNvSpPr>
            <a:spLocks noGrp="1"/>
          </p:cNvSpPr>
          <p:nvPr>
            <p:ph type="media" sz="quarter" idx="13"/>
          </p:nvPr>
        </p:nvSpPr>
        <p:spPr bwMode="gray">
          <a:xfrm>
            <a:off x="334964" y="765174"/>
            <a:ext cx="11522074" cy="5616575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Mediaclip durch Klicken auf Symbol hinzufügen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019C69C-30F4-4CAF-898F-2B576BCF11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A1473E-6B1F-4659-8E44-51FDD9EFE18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93609FA6-1085-40F3-802D-0820964280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12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edia_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/>
          <p:cNvSpPr>
            <a:spLocks noGrp="1"/>
          </p:cNvSpPr>
          <p:nvPr>
            <p:ph type="media" sz="quarter" idx="13"/>
          </p:nvPr>
        </p:nvSpPr>
        <p:spPr bwMode="gray">
          <a:xfrm>
            <a:off x="-1" y="0"/>
            <a:ext cx="12194787" cy="68580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Mediaclip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633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ildplatzhalter 27">
            <a:extLst>
              <a:ext uri="{FF2B5EF4-FFF2-40B4-BE49-F238E27FC236}">
                <a16:creationId xmlns:a16="http://schemas.microsoft.com/office/drawing/2014/main" id="{6FE7DCC3-36C3-4864-8FAC-9BD36D98D807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44027" y="1589637"/>
            <a:ext cx="3613011" cy="2159013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4" name="Bildplatzhalter 27">
            <a:extLst>
              <a:ext uri="{FF2B5EF4-FFF2-40B4-BE49-F238E27FC236}">
                <a16:creationId xmlns:a16="http://schemas.microsoft.com/office/drawing/2014/main" id="{DF3C1791-FBD9-4BC3-9322-41B9B0D3C2F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99909" y="1589669"/>
            <a:ext cx="3606454" cy="21563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7" name="Textplatzhalter 29">
            <a:extLst>
              <a:ext uri="{FF2B5EF4-FFF2-40B4-BE49-F238E27FC236}">
                <a16:creationId xmlns:a16="http://schemas.microsoft.com/office/drawing/2014/main" id="{ABBF58A8-1EDF-4AA1-916D-46D91DCF0ED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06260" y="3968750"/>
            <a:ext cx="3588866" cy="2410406"/>
          </a:xfrm>
        </p:spPr>
        <p:txBody>
          <a:bodyPr anchor="t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.</a:t>
            </a:r>
          </a:p>
        </p:txBody>
      </p:sp>
      <p:sp>
        <p:nvSpPr>
          <p:cNvPr id="28" name="Bildplatzhalter 27">
            <a:extLst>
              <a:ext uri="{FF2B5EF4-FFF2-40B4-BE49-F238E27FC236}">
                <a16:creationId xmlns:a16="http://schemas.microsoft.com/office/drawing/2014/main" id="{22BED746-8101-4A71-9697-0A2A446D6A4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963" y="1592263"/>
            <a:ext cx="3606455" cy="21563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4" name="Textplatzhalter 29">
            <a:extLst>
              <a:ext uri="{FF2B5EF4-FFF2-40B4-BE49-F238E27FC236}">
                <a16:creationId xmlns:a16="http://schemas.microsoft.com/office/drawing/2014/main" id="{097CCB9B-E2C6-4A01-A8CD-E2653CA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3756" y="3968750"/>
            <a:ext cx="3588867" cy="2413000"/>
          </a:xfrm>
        </p:spPr>
        <p:txBody>
          <a:bodyPr anchor="t"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</a:t>
            </a:r>
          </a:p>
        </p:txBody>
      </p:sp>
      <p:sp>
        <p:nvSpPr>
          <p:cNvPr id="41" name="Textplatzhalter 29">
            <a:extLst>
              <a:ext uri="{FF2B5EF4-FFF2-40B4-BE49-F238E27FC236}">
                <a16:creationId xmlns:a16="http://schemas.microsoft.com/office/drawing/2014/main" id="{D5AA0C8B-C3F2-46D1-82A2-DE2CC24AA68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52821" y="3968750"/>
            <a:ext cx="3595391" cy="2413000"/>
          </a:xfrm>
        </p:spPr>
        <p:txBody>
          <a:bodyPr anchor="t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8B20DD99-0390-405A-A290-EAB8B2BFD5D0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36545783-B76C-44E6-8F61-6485E286CD0D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F227043-03C2-4DB7-B4E9-1E27905F375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77934011-2113-4671-9F8E-4F33CBA3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749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ildplatzhalter 27">
            <a:extLst>
              <a:ext uri="{FF2B5EF4-FFF2-40B4-BE49-F238E27FC236}">
                <a16:creationId xmlns:a16="http://schemas.microsoft.com/office/drawing/2014/main" id="{22BED746-8101-4A71-9697-0A2A446D6A4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963" y="1592854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7A9ED2-EBDC-4D99-A798-A8698C224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2" name="Bildplatzhalter 27">
            <a:extLst>
              <a:ext uri="{FF2B5EF4-FFF2-40B4-BE49-F238E27FC236}">
                <a16:creationId xmlns:a16="http://schemas.microsoft.com/office/drawing/2014/main" id="{37D07AB3-9634-4674-9299-B188AFC5D7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04282" y="1593881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5" name="Bildplatzhalter 27">
            <a:extLst>
              <a:ext uri="{FF2B5EF4-FFF2-40B4-BE49-F238E27FC236}">
                <a16:creationId xmlns:a16="http://schemas.microsoft.com/office/drawing/2014/main" id="{4FA71FB2-3EB1-4384-9506-F4CF1DB98EC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34963" y="397566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8" name="Bildplatzhalter 27">
            <a:extLst>
              <a:ext uri="{FF2B5EF4-FFF2-40B4-BE49-F238E27FC236}">
                <a16:creationId xmlns:a16="http://schemas.microsoft.com/office/drawing/2014/main" id="{6CFCC729-A57A-4E8F-BF1A-CB2ECA37764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04282" y="397566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762F50-AA69-4469-A9FA-46561DF72E4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C1E7CFB-BDEC-4412-8780-BBC768337B1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A709E7-45F0-4447-B4B7-379A8395D08C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4F3EDCA4-FD3C-457D-A8B2-E658E51B7E07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37" name="Textplatzhalter 29">
            <a:extLst>
              <a:ext uri="{FF2B5EF4-FFF2-40B4-BE49-F238E27FC236}">
                <a16:creationId xmlns:a16="http://schemas.microsoft.com/office/drawing/2014/main" id="{005F71B1-14D6-4606-A98D-739068E06E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13046" y="3975069"/>
            <a:ext cx="3643992" cy="1899773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34" name="Textplatzhalter 29">
            <a:extLst>
              <a:ext uri="{FF2B5EF4-FFF2-40B4-BE49-F238E27FC236}">
                <a16:creationId xmlns:a16="http://schemas.microsoft.com/office/drawing/2014/main" id="{097CCB9B-E2C6-4A01-A8CD-E2653CA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4110" y="3975069"/>
            <a:ext cx="3643940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1" name="Textplatzhalter 29">
            <a:extLst>
              <a:ext uri="{FF2B5EF4-FFF2-40B4-BE49-F238E27FC236}">
                <a16:creationId xmlns:a16="http://schemas.microsoft.com/office/drawing/2014/main" id="{0D723A5E-00F1-4714-82CC-C1436F3F9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13444" y="1593290"/>
            <a:ext cx="3643594" cy="1899773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C2DB467A-8A28-436B-8E6C-C992C12F2B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3410" y="1592263"/>
            <a:ext cx="3644639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071705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es_Sub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C2DB467A-8A28-436B-8E6C-C992C12F2B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3410" y="2339509"/>
            <a:ext cx="3644639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28" name="Bildplatzhalter 27">
            <a:extLst>
              <a:ext uri="{FF2B5EF4-FFF2-40B4-BE49-F238E27FC236}">
                <a16:creationId xmlns:a16="http://schemas.microsoft.com/office/drawing/2014/main" id="{22BED746-8101-4A71-9697-0A2A446D6A4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963" y="234010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1" name="Textplatzhalter 29">
            <a:extLst>
              <a:ext uri="{FF2B5EF4-FFF2-40B4-BE49-F238E27FC236}">
                <a16:creationId xmlns:a16="http://schemas.microsoft.com/office/drawing/2014/main" id="{0D723A5E-00F1-4714-82CC-C1436F3F9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14968" y="2340000"/>
            <a:ext cx="3642070" cy="1900309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2" name="Bildplatzhalter 27">
            <a:extLst>
              <a:ext uri="{FF2B5EF4-FFF2-40B4-BE49-F238E27FC236}">
                <a16:creationId xmlns:a16="http://schemas.microsoft.com/office/drawing/2014/main" id="{37D07AB3-9634-4674-9299-B188AFC5D7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05806" y="234000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4" name="Textplatzhalter 29">
            <a:extLst>
              <a:ext uri="{FF2B5EF4-FFF2-40B4-BE49-F238E27FC236}">
                <a16:creationId xmlns:a16="http://schemas.microsoft.com/office/drawing/2014/main" id="{097CCB9B-E2C6-4A01-A8CD-E2653CA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4110" y="4479604"/>
            <a:ext cx="3643931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5" name="Bildplatzhalter 27">
            <a:extLst>
              <a:ext uri="{FF2B5EF4-FFF2-40B4-BE49-F238E27FC236}">
                <a16:creationId xmlns:a16="http://schemas.microsoft.com/office/drawing/2014/main" id="{4FA71FB2-3EB1-4384-9506-F4CF1DB98EC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34963" y="4481222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7" name="Textplatzhalter 29">
            <a:extLst>
              <a:ext uri="{FF2B5EF4-FFF2-40B4-BE49-F238E27FC236}">
                <a16:creationId xmlns:a16="http://schemas.microsoft.com/office/drawing/2014/main" id="{005F71B1-14D6-4606-A98D-739068E06E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13045" y="4480950"/>
            <a:ext cx="3642071" cy="1899454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38" name="Bildplatzhalter 27">
            <a:extLst>
              <a:ext uri="{FF2B5EF4-FFF2-40B4-BE49-F238E27FC236}">
                <a16:creationId xmlns:a16="http://schemas.microsoft.com/office/drawing/2014/main" id="{6CFCC729-A57A-4E8F-BF1A-CB2ECA37764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04282" y="448095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0" name="Text Placeholder 36">
            <a:extLst>
              <a:ext uri="{FF2B5EF4-FFF2-40B4-BE49-F238E27FC236}">
                <a16:creationId xmlns:a16="http://schemas.microsoft.com/office/drawing/2014/main" id="{751C7E5D-1C31-4604-8001-938ABF6444C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gray">
          <a:xfrm>
            <a:off x="334962" y="1592263"/>
            <a:ext cx="11522075" cy="553634"/>
          </a:xfrm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  <a:lvl2pPr marL="0" indent="0">
              <a:buNone/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4A23D03-4076-42CD-B842-7C9CFDE8A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296C5-3D78-439A-99CF-600A36F140F2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596695-C69C-413D-A38B-A3451961F012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FAB6A7-BDC6-482F-B086-4EC40A880258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746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34963" y="873125"/>
            <a:ext cx="11522075" cy="539750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334964" y="1592263"/>
            <a:ext cx="11522074" cy="47894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334963" y="6524985"/>
            <a:ext cx="10211293" cy="143099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 algn="l">
              <a:defRPr sz="900">
                <a:solidFill>
                  <a:schemeClr val="tx2"/>
                </a:solidFill>
              </a:defRPr>
            </a:lvl1pPr>
            <a:lvl2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2pPr>
            <a:lvl3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3pPr>
            <a:lvl4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4pPr>
            <a:lvl5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5pPr>
            <a:lvl6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6pPr>
            <a:lvl7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7pPr>
            <a:lvl8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8pPr>
            <a:lvl9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9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1467678" y="6524985"/>
            <a:ext cx="389359" cy="143098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 algn="r">
              <a:defRPr sz="900">
                <a:solidFill>
                  <a:schemeClr val="tx2"/>
                </a:solidFill>
              </a:defRPr>
            </a:lvl1pPr>
            <a:lvl2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2pPr>
            <a:lvl3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3pPr>
            <a:lvl4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4pPr>
            <a:lvl5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5pPr>
            <a:lvl6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6pPr>
            <a:lvl7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7pPr>
            <a:lvl8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8pPr>
            <a:lvl9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9pPr>
          </a:lstStyle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BC0C8E03-F117-4A5C-A126-D3D18DB0519D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662445" y="6524985"/>
            <a:ext cx="689044" cy="143098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>
              <a:defRPr lang="en-US" sz="900" smtClean="0">
                <a:solidFill>
                  <a:schemeClr val="tx2"/>
                </a:solidFill>
              </a:defRPr>
            </a:lvl1pPr>
          </a:lstStyle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080DFF3A-A270-4DA9-845C-CEC2C8D3A27C}"/>
              </a:ext>
            </a:extLst>
          </p:cNvPr>
          <p:cNvCxnSpPr/>
          <p:nvPr userDrawn="1"/>
        </p:nvCxnSpPr>
        <p:spPr bwMode="gray">
          <a:xfrm>
            <a:off x="-1019175" y="765175"/>
            <a:ext cx="995111" cy="0"/>
          </a:xfrm>
          <a:prstGeom prst="line">
            <a:avLst/>
          </a:prstGeom>
          <a:ln w="63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AE6FF62-D5FC-4572-8E36-147D97C13AD5}"/>
              </a:ext>
            </a:extLst>
          </p:cNvPr>
          <p:cNvSpPr txBox="1"/>
          <p:nvPr userDrawn="1"/>
        </p:nvSpPr>
        <p:spPr bwMode="gray">
          <a:xfrm>
            <a:off x="-1019175" y="250814"/>
            <a:ext cx="995111" cy="4349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de-DE" dirty="0" err="1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272A78F-E52E-4AA1-BE7F-1BB50E165594}"/>
              </a:ext>
            </a:extLst>
          </p:cNvPr>
          <p:cNvCxnSpPr/>
          <p:nvPr userDrawn="1"/>
        </p:nvCxnSpPr>
        <p:spPr bwMode="gray">
          <a:xfrm>
            <a:off x="-1019175" y="0"/>
            <a:ext cx="995111" cy="0"/>
          </a:xfrm>
          <a:prstGeom prst="line">
            <a:avLst/>
          </a:prstGeom>
          <a:ln w="63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B470433-6221-41BD-91AD-CE215515AF67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-257175" y="0"/>
            <a:ext cx="0" cy="756000"/>
          </a:xfrm>
          <a:prstGeom prst="straightConnector1">
            <a:avLst/>
          </a:prstGeom>
          <a:ln w="63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74DA686A-2B4B-45CD-9952-5DF06A5A3A55}"/>
              </a:ext>
            </a:extLst>
          </p:cNvPr>
          <p:cNvSpPr txBox="1"/>
          <p:nvPr userDrawn="1"/>
        </p:nvSpPr>
        <p:spPr bwMode="gray">
          <a:xfrm>
            <a:off x="-1421239" y="0"/>
            <a:ext cx="1087852" cy="75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200" noProof="0" dirty="0">
                <a:solidFill>
                  <a:srgbClr val="FF0000"/>
                </a:solidFill>
              </a:rPr>
              <a:t>Don‘t place </a:t>
            </a:r>
            <a:br>
              <a:rPr lang="en-US" sz="1200" noProof="0" dirty="0">
                <a:solidFill>
                  <a:srgbClr val="FF0000"/>
                </a:solidFill>
              </a:rPr>
            </a:br>
            <a:r>
              <a:rPr lang="en-US" sz="1200" noProof="0" dirty="0">
                <a:solidFill>
                  <a:srgbClr val="FF0000"/>
                </a:solidFill>
              </a:rPr>
              <a:t>any elements in </a:t>
            </a:r>
            <a:br>
              <a:rPr lang="en-US" sz="1200" noProof="0" dirty="0">
                <a:solidFill>
                  <a:srgbClr val="FF0000"/>
                </a:solidFill>
              </a:rPr>
            </a:br>
            <a:r>
              <a:rPr lang="en-US" sz="1200" noProof="0" dirty="0">
                <a:solidFill>
                  <a:srgbClr val="FF0000"/>
                </a:solidFill>
              </a:rPr>
              <a:t>the brand zone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A66BCEF-2CE5-41AF-8724-F8E6C00C50D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252000"/>
            <a:ext cx="151152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30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22" r:id="rId2"/>
    <p:sldLayoutId id="2147483702" r:id="rId3"/>
    <p:sldLayoutId id="2147483725" r:id="rId4"/>
    <p:sldLayoutId id="2147483703" r:id="rId5"/>
    <p:sldLayoutId id="2147483704" r:id="rId6"/>
    <p:sldLayoutId id="2147483723" r:id="rId7"/>
    <p:sldLayoutId id="2147483724" r:id="rId8"/>
    <p:sldLayoutId id="2147483705" r:id="rId9"/>
    <p:sldLayoutId id="2147483721" r:id="rId10"/>
    <p:sldLayoutId id="2147483706" r:id="rId11"/>
    <p:sldLayoutId id="2147483720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spcBef>
          <a:spcPct val="0"/>
        </a:spcBef>
        <a:buNone/>
        <a:defRPr sz="24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 Black" panose="020B0A04020102020204" pitchFamily="34" charset="0"/>
        <a:buNone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162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324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486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648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5pPr>
      <a:lvl6pPr marL="810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6pPr>
      <a:lvl7pPr marL="972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7pPr>
      <a:lvl8pPr marL="1134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8pPr>
      <a:lvl9pPr marL="1296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4020" userDrawn="1">
          <p15:clr>
            <a:srgbClr val="F26B43"/>
          </p15:clr>
        </p15:guide>
        <p15:guide id="1" pos="211" userDrawn="1">
          <p15:clr>
            <a:srgbClr val="F26B43"/>
          </p15:clr>
        </p15:guide>
        <p15:guide id="2" pos="7469" userDrawn="1">
          <p15:clr>
            <a:srgbClr val="F26B43"/>
          </p15:clr>
        </p15:guide>
        <p15:guide id="3" orient="horz" pos="1003" userDrawn="1">
          <p15:clr>
            <a:srgbClr val="547EBF"/>
          </p15:clr>
        </p15:guide>
        <p15:guide id="4" orient="horz" pos="482" userDrawn="1">
          <p15:clr>
            <a:srgbClr val="F26B43"/>
          </p15:clr>
        </p15:guide>
        <p15:guide id="5" orient="horz" pos="550" userDrawn="1">
          <p15:clr>
            <a:srgbClr val="547EBF"/>
          </p15:clr>
        </p15:guide>
        <p15:guide id="7" orient="horz" pos="2500" userDrawn="1">
          <p15:clr>
            <a:srgbClr val="547EBF"/>
          </p15:clr>
        </p15:guide>
        <p15:guide id="9" pos="3908" userDrawn="1">
          <p15:clr>
            <a:srgbClr val="547EBF"/>
          </p15:clr>
        </p15:guide>
        <p15:guide id="10" pos="3772" userDrawn="1">
          <p15:clr>
            <a:srgbClr val="547EBF"/>
          </p15:clr>
        </p15:guide>
        <p15:guide id="11" pos="3840" userDrawn="1">
          <p15:clr>
            <a:srgbClr val="F26B43"/>
          </p15:clr>
        </p15:guide>
        <p15:guide id="12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8.svg"/><Relationship Id="rId7" Type="http://schemas.openxmlformats.org/officeDocument/2006/relationships/hyperlink" Target="https://www.google.com/search?q=https%3A%2F%2Fseeklogo.com%2Fvector-logo%2F331553%2Factive-directory" TargetMode="External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svg"/><Relationship Id="rId11" Type="http://schemas.openxmlformats.org/officeDocument/2006/relationships/image" Target="../media/image15.jpg"/><Relationship Id="rId5" Type="http://schemas.openxmlformats.org/officeDocument/2006/relationships/image" Target="../media/image10.svg"/><Relationship Id="rId10" Type="http://schemas.openxmlformats.org/officeDocument/2006/relationships/image" Target="../media/image14.png"/><Relationship Id="rId4" Type="http://schemas.openxmlformats.org/officeDocument/2006/relationships/image" Target="../media/image9.sv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oudflare.com/learning/dns/dns-records/dns-a-record/?utm_source=gemini" TargetMode="External"/><Relationship Id="rId7" Type="http://schemas.openxmlformats.org/officeDocument/2006/relationships/hyperlink" Target="https://www.dash0.com/guides/serilog?utm_source=gemini" TargetMode="External"/><Relationship Id="rId2" Type="http://schemas.openxmlformats.org/officeDocument/2006/relationships/hyperlink" Target="https://www.cloudflare.com/de-de/learning/security/threats/cross-site-request-forgery/?utm_source=gemini" TargetMode="Externa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www.cloudflare.com/learning/dns/dns-records/dns-txt-record/?utm_source=gemini" TargetMode="External"/><Relationship Id="rId5" Type="http://schemas.openxmlformats.org/officeDocument/2006/relationships/hyperlink" Target="https://www.cloudflare.com/de-de/learning/dns/dns-records/?utm_source=gemini" TargetMode="External"/><Relationship Id="rId4" Type="http://schemas.openxmlformats.org/officeDocument/2006/relationships/hyperlink" Target="https://www.cloudflare.com/learning/dns/dns-records/dns-cname-record/?utm_source=gemini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eraeus.com/de/about-heraeus/history/?utm_source=gemini" TargetMode="External"/><Relationship Id="rId7" Type="http://schemas.openxmlformats.org/officeDocument/2006/relationships/hyperlink" Target="https://learn.microsoft.com/de-de/windows-server/networking/technologies/dhcp/dhcp-scopes?utm_source=gemini" TargetMode="External"/><Relationship Id="rId2" Type="http://schemas.openxmlformats.org/officeDocument/2006/relationships/hyperlink" Target="https://efficientip.com/resources/solidserver-for-the-cloud-3-4/?utm_source=gemini" TargetMode="Externa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learn.microsoft.com/de-de/aspnet/overview?utm_source=gemini" TargetMode="External"/><Relationship Id="rId5" Type="http://schemas.openxmlformats.org/officeDocument/2006/relationships/hyperlink" Target="https://learn.microsoft.com/de-de/aspnet/core/overview?view=aspnetcore-10.0&amp;utm_source=gemini" TargetMode="External"/><Relationship Id="rId4" Type="http://schemas.openxmlformats.org/officeDocument/2006/relationships/hyperlink" Target="https://www.ibm.com/de-de/think/topics/dns-records?utm_source=gemin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rublon.com/blog/ldap-ldaps-difference/?utm_source=gemini" TargetMode="External"/><Relationship Id="rId7" Type="http://schemas.openxmlformats.org/officeDocument/2006/relationships/hyperlink" Target="https://seeklogo.com/vector-logo/331553/active-directory?utm_source=gemini" TargetMode="External"/><Relationship Id="rId2" Type="http://schemas.openxmlformats.org/officeDocument/2006/relationships/hyperlink" Target="https://www.redhat.com/de/topics/security/what-is-ldap-authentication?utm_source=gemini" TargetMode="Externa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logos-world.net/azure-devops-logo/?utm_source=gemini" TargetMode="External"/><Relationship Id="rId5" Type="http://schemas.openxmlformats.org/officeDocument/2006/relationships/hyperlink" Target="https://www.google.com/search?q=https://www.pressebox.de/pressemitteilung/guidevision-deutschland-gmbh/mit-servicenow-und-tanium-zu-modernen-it-workflows/&amp;utm_source=gemini" TargetMode="External"/><Relationship Id="rId4" Type="http://schemas.openxmlformats.org/officeDocument/2006/relationships/hyperlink" Target="https://www.servicenow.com/de/what-is-servicenow.html?utm_source=gemin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10">
            <a:extLst>
              <a:ext uri="{FF2B5EF4-FFF2-40B4-BE49-F238E27FC236}">
                <a16:creationId xmlns:a16="http://schemas.microsoft.com/office/drawing/2014/main" id="{3C19B778-A1A8-4864-9551-EBA05E17CCD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" b="20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E7C73B-9353-4195-A6EF-11E895EF7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4963" y="3907194"/>
            <a:ext cx="5953103" cy="1790436"/>
          </a:xfrm>
        </p:spPr>
        <p:txBody>
          <a:bodyPr/>
          <a:lstStyle/>
          <a:p>
            <a:r>
              <a:rPr lang="de-DE" sz="2200" dirty="0">
                <a:solidFill>
                  <a:srgbClr val="007EB9"/>
                </a:solidFill>
              </a:rPr>
              <a:t>Cloud </a:t>
            </a:r>
            <a:r>
              <a:rPr lang="de-DE" sz="2200" dirty="0" err="1">
                <a:solidFill>
                  <a:srgbClr val="007EB9"/>
                </a:solidFill>
              </a:rPr>
              <a:t>infrastructure</a:t>
            </a:r>
            <a:r>
              <a:rPr lang="de-DE" sz="2200" dirty="0">
                <a:solidFill>
                  <a:srgbClr val="007EB9"/>
                </a:solidFill>
              </a:rPr>
              <a:t> </a:t>
            </a:r>
            <a:r>
              <a:rPr lang="de-DE" sz="2200" dirty="0" err="1">
                <a:solidFill>
                  <a:srgbClr val="007EB9"/>
                </a:solidFill>
              </a:rPr>
              <a:t>automation</a:t>
            </a:r>
            <a:br>
              <a:rPr lang="de-DE" sz="2200" dirty="0">
                <a:solidFill>
                  <a:srgbClr val="007EB9"/>
                </a:solidFill>
              </a:rPr>
            </a:br>
            <a:br>
              <a:rPr lang="de-DE" sz="2200" dirty="0">
                <a:solidFill>
                  <a:srgbClr val="007EB9"/>
                </a:solidFill>
              </a:rPr>
            </a:br>
            <a:endParaRPr lang="de-DE" sz="2200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A3C7B8-4295-4F05-97EA-0017FE2715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4963" y="5697630"/>
            <a:ext cx="5953103" cy="433553"/>
          </a:xfrm>
        </p:spPr>
        <p:txBody>
          <a:bodyPr/>
          <a:lstStyle/>
          <a:p>
            <a:pPr lvl="0">
              <a:spcBef>
                <a:spcPts val="300"/>
              </a:spcBef>
            </a:pPr>
            <a:r>
              <a:rPr lang="de-DE" dirty="0"/>
              <a:t>Seminar zur Praxisphase</a:t>
            </a:r>
          </a:p>
          <a:p>
            <a:pPr lvl="0">
              <a:spcBef>
                <a:spcPts val="300"/>
              </a:spcBef>
            </a:pPr>
            <a:r>
              <a:rPr lang="de-DE" dirty="0"/>
              <a:t>Nassim Akalai – Heraeus Consulting &amp; IT Solutions GmbH</a:t>
            </a:r>
          </a:p>
          <a:p>
            <a:pPr lvl="0">
              <a:spcBef>
                <a:spcPts val="300"/>
              </a:spcBef>
            </a:pPr>
            <a:r>
              <a:rPr lang="de-DE" dirty="0"/>
              <a:t>Frankfurt University of Applied Sciences – 23/09/2026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0FB3B72-2784-4A49-821E-7D474C7B0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4963" y="6131181"/>
            <a:ext cx="5953103" cy="36000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45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EF7C350-3AC0-4E54-9391-C754A956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9" name="Titel 88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Agenda – 6 topics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F5DFD5FB-95E9-45AF-BEE2-71DDB0700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601933"/>
              </p:ext>
            </p:extLst>
          </p:nvPr>
        </p:nvGraphicFramePr>
        <p:xfrm>
          <a:off x="334963" y="2040133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48805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EINFÜHRUNG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Heraeus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Heraeus Consulting &amp; IT Solutions GmbH</a:t>
                      </a: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AC288C2F-8DE0-4B89-A02F-46CEAAB65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499402"/>
              </p:ext>
            </p:extLst>
          </p:nvPr>
        </p:nvGraphicFramePr>
        <p:xfrm>
          <a:off x="334963" y="3230750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BACKEND TEAM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Kernaufgaben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Meine Aufgaben</a:t>
                      </a: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2" name="Tabelle 3">
            <a:extLst>
              <a:ext uri="{FF2B5EF4-FFF2-40B4-BE49-F238E27FC236}">
                <a16:creationId xmlns:a16="http://schemas.microsoft.com/office/drawing/2014/main" id="{662EA7AE-EDD9-481D-AAF4-CFB591D31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42440"/>
              </p:ext>
            </p:extLst>
          </p:nvPr>
        </p:nvGraphicFramePr>
        <p:xfrm>
          <a:off x="6210476" y="2040132"/>
          <a:ext cx="5653087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PROJEKT 1 - LOGGING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Situation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Task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Action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Result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3" name="Tabelle 3">
            <a:extLst>
              <a:ext uri="{FF2B5EF4-FFF2-40B4-BE49-F238E27FC236}">
                <a16:creationId xmlns:a16="http://schemas.microsoft.com/office/drawing/2014/main" id="{649364C6-EEC6-4BCD-B867-629030FDBF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67241"/>
              </p:ext>
            </p:extLst>
          </p:nvPr>
        </p:nvGraphicFramePr>
        <p:xfrm>
          <a:off x="6203949" y="3230750"/>
          <a:ext cx="5653087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PROJEKT 1 - LOGGING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Situation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Task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Action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Result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4" name="Tabelle 3">
            <a:extLst>
              <a:ext uri="{FF2B5EF4-FFF2-40B4-BE49-F238E27FC236}">
                <a16:creationId xmlns:a16="http://schemas.microsoft.com/office/drawing/2014/main" id="{4FDE5039-700F-475B-BFD1-AF580FF3A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698943"/>
              </p:ext>
            </p:extLst>
          </p:nvPr>
        </p:nvGraphicFramePr>
        <p:xfrm>
          <a:off x="334963" y="4421367"/>
          <a:ext cx="5653087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PROJEKT 1 - LOGGING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Situation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Task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Action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Result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5" name="Tabelle 3">
            <a:extLst>
              <a:ext uri="{FF2B5EF4-FFF2-40B4-BE49-F238E27FC236}">
                <a16:creationId xmlns:a16="http://schemas.microsoft.com/office/drawing/2014/main" id="{448FF128-3FB0-4AE3-8C20-A4A111D096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057200"/>
              </p:ext>
            </p:extLst>
          </p:nvPr>
        </p:nvGraphicFramePr>
        <p:xfrm>
          <a:off x="6203949" y="4421367"/>
          <a:ext cx="5653087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REFLEXION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Was habe ich mitgenommen?</a:t>
                      </a: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B62E8-F12A-41BB-B96C-832DA8975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08739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2F16B20-1A6A-3754-D656-64E40FF15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42EB509-A285-7D34-4C1E-E120FACD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DE13F4C-A689-A45D-0043-9B38E3AEB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Einführung</a:t>
            </a:r>
            <a:endParaRPr lang="de-DE" dirty="0"/>
          </a:p>
        </p:txBody>
      </p:sp>
      <p:pic>
        <p:nvPicPr>
          <p:cNvPr id="7" name="Bildplatzhalter 7">
            <a:extLst>
              <a:ext uri="{FF2B5EF4-FFF2-40B4-BE49-F238E27FC236}">
                <a16:creationId xmlns:a16="http://schemas.microsoft.com/office/drawing/2014/main" id="{8CA5F0D2-A251-ECFF-BB36-4CC3C04D72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56" r="10656"/>
          <a:stretch>
            <a:fillRect/>
          </a:stretch>
        </p:blipFill>
        <p:spPr bwMode="gray">
          <a:xfrm>
            <a:off x="6203947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CFA22903-2299-36A7-9DF5-D099E2A0CE47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Heraeus &amp; HC&amp;IT</a:t>
            </a:r>
          </a:p>
          <a:p>
            <a:pPr lvl="1"/>
            <a:r>
              <a:rPr lang="de-DE" sz="2000" dirty="0"/>
              <a:t>Globaler deutscher Familien- und Technologiekonzern, Hauptsitz in Hanau</a:t>
            </a:r>
          </a:p>
          <a:p>
            <a:pPr lvl="1"/>
            <a:r>
              <a:rPr lang="de-DE" sz="2000" dirty="0"/>
              <a:t>Ca. 15.000 Mitarbeiter</a:t>
            </a:r>
          </a:p>
          <a:p>
            <a:pPr lvl="1"/>
            <a:r>
              <a:rPr lang="de-DE" sz="2000" dirty="0"/>
              <a:t>HC&amp;IT: Eigene IT-Gesellschaft innerhalb der Heraeus-Gruppe</a:t>
            </a:r>
          </a:p>
          <a:p>
            <a:pPr lvl="1"/>
            <a:r>
              <a:rPr lang="de-DE" sz="2000" dirty="0"/>
              <a:t>Dienstleistungen für die Gruppe &amp; Dritte</a:t>
            </a:r>
          </a:p>
          <a:p>
            <a:pPr lvl="1"/>
            <a:r>
              <a:rPr lang="de-DE" sz="2000" dirty="0"/>
              <a:t>Mein Bereich: Heraeus IT (HIT), Backend Team</a:t>
            </a:r>
          </a:p>
        </p:txBody>
      </p:sp>
    </p:spTree>
    <p:extLst>
      <p:ext uri="{BB962C8B-B14F-4D97-AF65-F5344CB8AC3E}">
        <p14:creationId xmlns:p14="http://schemas.microsoft.com/office/powerpoint/2010/main" val="7702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356BF-5681-5B20-908A-DA019DD0D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BF9C408-128E-DCF0-94EA-76283B6F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B20510-8EEA-DFD2-92F5-7C13D4D7E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50D8BA5-2828-B1EE-2873-B351DF9A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Backend </a:t>
            </a:r>
            <a:r>
              <a:rPr lang="de-DE" dirty="0" err="1"/>
              <a:t>team</a:t>
            </a:r>
            <a:endParaRPr lang="de-DE" dirty="0"/>
          </a:p>
        </p:txBody>
      </p:sp>
      <p:pic>
        <p:nvPicPr>
          <p:cNvPr id="7" name="Bildplatzhalter 7">
            <a:extLst>
              <a:ext uri="{FF2B5EF4-FFF2-40B4-BE49-F238E27FC236}">
                <a16:creationId xmlns:a16="http://schemas.microsoft.com/office/drawing/2014/main" id="{01107E11-1470-0355-BA55-DB615427A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56" r="10656"/>
          <a:stretch>
            <a:fillRect/>
          </a:stretch>
        </p:blipFill>
        <p:spPr bwMode="gray">
          <a:xfrm>
            <a:off x="6203947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B5A9A94-6ACE-876E-4C42-389E4F5644D0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 sz="2000" dirty="0"/>
              <a:t>Kernaufgaben</a:t>
            </a:r>
          </a:p>
          <a:p>
            <a:pPr lvl="1"/>
            <a:r>
              <a:rPr lang="de-DE" sz="2000" dirty="0"/>
              <a:t>Automatisierung</a:t>
            </a:r>
          </a:p>
          <a:p>
            <a:pPr lvl="1"/>
            <a:r>
              <a:rPr lang="de-DE" sz="2000" dirty="0"/>
              <a:t>Backup &amp; Monitoring</a:t>
            </a:r>
          </a:p>
          <a:p>
            <a:pPr lvl="1"/>
            <a:r>
              <a:rPr lang="de-DE" sz="2000" dirty="0"/>
              <a:t>Azure &amp; </a:t>
            </a:r>
            <a:r>
              <a:rPr lang="de-DE" sz="2000" dirty="0" err="1"/>
              <a:t>OnPrem</a:t>
            </a:r>
            <a:endParaRPr lang="de-DE" sz="2000" dirty="0"/>
          </a:p>
          <a:p>
            <a:pPr lvl="1"/>
            <a:r>
              <a:rPr lang="de-DE" sz="2000" dirty="0" err="1"/>
              <a:t>Nutanix</a:t>
            </a:r>
            <a:endParaRPr lang="de-DE" sz="2000" dirty="0"/>
          </a:p>
          <a:p>
            <a:pPr lvl="1"/>
            <a:r>
              <a:rPr lang="de-DE" sz="2000" dirty="0"/>
              <a:t>Azure (</a:t>
            </a:r>
            <a:r>
              <a:rPr lang="de-DE" sz="2000" dirty="0" err="1"/>
              <a:t>Cost</a:t>
            </a:r>
            <a:r>
              <a:rPr lang="de-DE" sz="2000" dirty="0"/>
              <a:t>- &amp; Cloud Management)</a:t>
            </a:r>
          </a:p>
          <a:p>
            <a:pPr lvl="1"/>
            <a:r>
              <a:rPr lang="de-DE" sz="2000" dirty="0"/>
              <a:t>Windows Server</a:t>
            </a:r>
          </a:p>
        </p:txBody>
      </p:sp>
      <p:pic>
        <p:nvPicPr>
          <p:cNvPr id="5" name="Bildplatzhalter 7">
            <a:extLst>
              <a:ext uri="{FF2B5EF4-FFF2-40B4-BE49-F238E27FC236}">
                <a16:creationId xmlns:a16="http://schemas.microsoft.com/office/drawing/2014/main" id="{BF5BADA7-4250-1C7A-562C-4606214856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93" r="3293"/>
          <a:stretch>
            <a:fillRect/>
          </a:stretch>
        </p:blipFill>
        <p:spPr bwMode="gray">
          <a:xfrm>
            <a:off x="6205100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6" name="Grafik 12">
            <a:extLst>
              <a:ext uri="{FF2B5EF4-FFF2-40B4-BE49-F238E27FC236}">
                <a16:creationId xmlns:a16="http://schemas.microsoft.com/office/drawing/2014/main" id="{EEEEF23E-542F-9889-E414-260DDD89F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3944" y="3128299"/>
            <a:ext cx="2236375" cy="236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fik 14">
            <a:extLst>
              <a:ext uri="{FF2B5EF4-FFF2-40B4-BE49-F238E27FC236}">
                <a16:creationId xmlns:a16="http://schemas.microsoft.com/office/drawing/2014/main" id="{F80D6B18-E723-0DB9-CA4E-7D9807D59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0155" y="5517910"/>
            <a:ext cx="2067165" cy="6980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5258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E953C-711F-2F51-8057-862B21029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8C6E41E-482B-E8FC-E046-E01890906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D37CA2D-C089-55B2-2977-D1C53A60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64A3402-E2BE-71E6-ADC4-55C40A30D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Backend </a:t>
            </a:r>
            <a:r>
              <a:rPr lang="de-DE" dirty="0" err="1"/>
              <a:t>team</a:t>
            </a:r>
            <a:endParaRPr lang="de-DE" dirty="0"/>
          </a:p>
        </p:txBody>
      </p:sp>
      <p:pic>
        <p:nvPicPr>
          <p:cNvPr id="7" name="Bildplatzhalter 7">
            <a:extLst>
              <a:ext uri="{FF2B5EF4-FFF2-40B4-BE49-F238E27FC236}">
                <a16:creationId xmlns:a16="http://schemas.microsoft.com/office/drawing/2014/main" id="{2513EF56-DA3F-3B6C-55ED-838EFF1569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56" r="10656"/>
          <a:stretch>
            <a:fillRect/>
          </a:stretch>
        </p:blipFill>
        <p:spPr bwMode="gray">
          <a:xfrm>
            <a:off x="6203947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DFDA4CA-A0FD-6DE0-B2A9-73093C4A113E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 sz="2000" dirty="0"/>
              <a:t>Meine Aufgaben</a:t>
            </a:r>
          </a:p>
          <a:p>
            <a:pPr lvl="1"/>
            <a:r>
              <a:rPr lang="de-DE" sz="2000" dirty="0"/>
              <a:t>Automatisierung der Infrastrukturverwaltung</a:t>
            </a:r>
          </a:p>
          <a:p>
            <a:pPr lvl="1"/>
            <a:r>
              <a:rPr lang="de-DE" sz="2000" dirty="0"/>
              <a:t>APIs/CI-CD/Tools (PowerShell/Python/C#)</a:t>
            </a:r>
          </a:p>
          <a:p>
            <a:pPr lvl="1"/>
            <a:r>
              <a:rPr lang="de-DE" sz="2000" dirty="0"/>
              <a:t>Containerlandschaft (</a:t>
            </a:r>
            <a:r>
              <a:rPr lang="de-DE" sz="2000" dirty="0" err="1"/>
              <a:t>Kubernetes</a:t>
            </a:r>
            <a:r>
              <a:rPr lang="de-DE" sz="2000" dirty="0"/>
              <a:t> &amp; Rancher via </a:t>
            </a:r>
            <a:r>
              <a:rPr lang="de-DE" sz="2000" dirty="0" err="1"/>
              <a:t>IaC</a:t>
            </a:r>
            <a:r>
              <a:rPr lang="de-DE" sz="2000" dirty="0"/>
              <a:t>)</a:t>
            </a:r>
          </a:p>
          <a:p>
            <a:pPr marL="162004" lvl="2" indent="0">
              <a:buNone/>
            </a:pPr>
            <a:endParaRPr lang="de-DE" sz="2000" dirty="0"/>
          </a:p>
        </p:txBody>
      </p:sp>
      <p:pic>
        <p:nvPicPr>
          <p:cNvPr id="5" name="Bildplatzhalter 7">
            <a:extLst>
              <a:ext uri="{FF2B5EF4-FFF2-40B4-BE49-F238E27FC236}">
                <a16:creationId xmlns:a16="http://schemas.microsoft.com/office/drawing/2014/main" id="{18072B8A-1E8C-F255-0B61-720482A874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93" r="3293"/>
          <a:stretch>
            <a:fillRect/>
          </a:stretch>
        </p:blipFill>
        <p:spPr bwMode="gray">
          <a:xfrm>
            <a:off x="6205100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6" name="Grafik 12">
            <a:extLst>
              <a:ext uri="{FF2B5EF4-FFF2-40B4-BE49-F238E27FC236}">
                <a16:creationId xmlns:a16="http://schemas.microsoft.com/office/drawing/2014/main" id="{26BB1FE6-9CAA-3FBA-62B5-24AB0579F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3944" y="3128299"/>
            <a:ext cx="2236375" cy="236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fik 14">
            <a:extLst>
              <a:ext uri="{FF2B5EF4-FFF2-40B4-BE49-F238E27FC236}">
                <a16:creationId xmlns:a16="http://schemas.microsoft.com/office/drawing/2014/main" id="{5ED927F9-7491-48D2-67BD-9444E6DF0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0155" y="5517910"/>
            <a:ext cx="2067165" cy="6980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74453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7701">
            <a:extLst>
              <a:ext uri="{FF2B5EF4-FFF2-40B4-BE49-F238E27FC236}">
                <a16:creationId xmlns:a16="http://schemas.microsoft.com/office/drawing/2014/main" id="{F71E6B36-8C16-4ACA-AF0B-5FB79D789A3E}"/>
              </a:ext>
            </a:extLst>
          </p:cNvPr>
          <p:cNvSpPr/>
          <p:nvPr/>
        </p:nvSpPr>
        <p:spPr bwMode="gray">
          <a:xfrm>
            <a:off x="6234206" y="1592263"/>
            <a:ext cx="2674050" cy="16267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121884" tIns="60925" rIns="121884" bIns="60925" anchor="ctr" anchorCtr="0">
            <a:noAutofit/>
          </a:bodyPr>
          <a:lstStyle/>
          <a:p>
            <a:pPr algn="ctr"/>
            <a:endParaRPr lang="en-US" sz="2666" dirty="0">
              <a:solidFill>
                <a:schemeClr val="l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26" name="Shape 7701">
            <a:extLst>
              <a:ext uri="{FF2B5EF4-FFF2-40B4-BE49-F238E27FC236}">
                <a16:creationId xmlns:a16="http://schemas.microsoft.com/office/drawing/2014/main" id="{7F236F3D-23A4-4BF2-8A61-408E9EF2B559}"/>
              </a:ext>
            </a:extLst>
          </p:cNvPr>
          <p:cNvSpPr/>
          <p:nvPr/>
        </p:nvSpPr>
        <p:spPr bwMode="gray">
          <a:xfrm>
            <a:off x="9182988" y="1592263"/>
            <a:ext cx="2674050" cy="162679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lIns="121884" tIns="60925" rIns="121884" bIns="60925" anchor="ctr" anchorCtr="0">
            <a:noAutofit/>
          </a:bodyPr>
          <a:lstStyle/>
          <a:p>
            <a:pPr algn="ctr"/>
            <a:endParaRPr lang="en-US" sz="2666" dirty="0">
              <a:solidFill>
                <a:schemeClr val="l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5" name="Shape 7701">
            <a:extLst>
              <a:ext uri="{FF2B5EF4-FFF2-40B4-BE49-F238E27FC236}">
                <a16:creationId xmlns:a16="http://schemas.microsoft.com/office/drawing/2014/main" id="{4D05AC42-FF57-4787-83E5-807EF28B283B}"/>
              </a:ext>
            </a:extLst>
          </p:cNvPr>
          <p:cNvSpPr/>
          <p:nvPr/>
        </p:nvSpPr>
        <p:spPr bwMode="gray">
          <a:xfrm>
            <a:off x="337542" y="1592263"/>
            <a:ext cx="2674050" cy="16267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121884" tIns="60925" rIns="121884" bIns="60925" anchor="ctr" anchorCtr="0">
            <a:noAutofit/>
          </a:bodyPr>
          <a:lstStyle/>
          <a:p>
            <a:pPr algn="ctr"/>
            <a:endParaRPr lang="en-US" sz="2666" dirty="0">
              <a:solidFill>
                <a:schemeClr val="l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A7B52D-382D-4BA4-B582-A21E2B583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Daily tools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CD3EEDD-2AEA-4FE3-B8C5-DDFEC3590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8466" y="1913813"/>
            <a:ext cx="978677" cy="97867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7C25A113-B393-4527-AF80-4823CAD4CB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80438" y="1914850"/>
            <a:ext cx="977640" cy="9776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3DFEA86-D2DC-4708-89B1-F3AFFB39D0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29220" y="1914851"/>
            <a:ext cx="977639" cy="977639"/>
          </a:xfrm>
          <a:prstGeom prst="rect">
            <a:avLst/>
          </a:prstGeom>
        </p:spPr>
      </p:pic>
      <p:pic>
        <p:nvPicPr>
          <p:cNvPr id="28" name="Grafik 46">
            <a:extLst>
              <a:ext uri="{FF2B5EF4-FFF2-40B4-BE49-F238E27FC236}">
                <a16:creationId xmlns:a16="http://schemas.microsoft.com/office/drawing/2014/main" id="{8FD6AC0C-25A0-4AC8-8E80-D1CD0D54BA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93741" y="1913813"/>
            <a:ext cx="978677" cy="97867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3C97EF-426C-4A3C-8F29-73E15DFB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Bildquellen:</a:t>
            </a:r>
          </a:p>
          <a:p>
            <a:r>
              <a:rPr lang="de-DE" dirty="0"/>
              <a:t>[1] </a:t>
            </a:r>
            <a:r>
              <a:rPr lang="de-DE" dirty="0" err="1"/>
              <a:t>seeklogo</a:t>
            </a:r>
            <a:r>
              <a:rPr lang="de-DE" dirty="0"/>
              <a:t>: </a:t>
            </a:r>
            <a:r>
              <a:rPr lang="de-DE" i="1" dirty="0" err="1"/>
              <a:t>Active</a:t>
            </a:r>
            <a:r>
              <a:rPr lang="de-DE" i="1" dirty="0"/>
              <a:t> Directory</a:t>
            </a:r>
            <a:r>
              <a:rPr lang="de-DE" dirty="0"/>
              <a:t>, </a:t>
            </a:r>
            <a:r>
              <a:rPr lang="de-DE" dirty="0">
                <a:hlinkClick r:id="rId7"/>
              </a:rPr>
              <a:t>seeklogo.com/</a:t>
            </a:r>
            <a:r>
              <a:rPr lang="de-DE" dirty="0" err="1">
                <a:hlinkClick r:id="rId7"/>
              </a:rPr>
              <a:t>vector</a:t>
            </a:r>
            <a:r>
              <a:rPr lang="de-DE" dirty="0">
                <a:hlinkClick r:id="rId7"/>
              </a:rPr>
              <a:t>-logo/331553/</a:t>
            </a:r>
            <a:r>
              <a:rPr lang="de-DE" dirty="0" err="1">
                <a:hlinkClick r:id="rId7"/>
              </a:rPr>
              <a:t>active</a:t>
            </a:r>
            <a:r>
              <a:rPr lang="de-DE" dirty="0">
                <a:hlinkClick r:id="rId7"/>
              </a:rPr>
              <a:t>-directory</a:t>
            </a:r>
            <a:endParaRPr lang="de-DE" dirty="0"/>
          </a:p>
          <a:p>
            <a:r>
              <a:rPr lang="de-DE" dirty="0"/>
              <a:t>[2] </a:t>
            </a:r>
            <a:r>
              <a:rPr lang="de-DE" dirty="0" err="1"/>
              <a:t>GuideVision</a:t>
            </a:r>
            <a:r>
              <a:rPr lang="de-DE" dirty="0"/>
              <a:t>: </a:t>
            </a:r>
            <a:r>
              <a:rPr lang="de-DE" i="1" dirty="0"/>
              <a:t>ServiceNow/</a:t>
            </a:r>
            <a:r>
              <a:rPr lang="de-DE" i="1" dirty="0" err="1"/>
              <a:t>Tanium</a:t>
            </a:r>
            <a:r>
              <a:rPr lang="de-DE" dirty="0"/>
              <a:t>, pressebox.de/</a:t>
            </a:r>
            <a:r>
              <a:rPr lang="de-DE" dirty="0" err="1"/>
              <a:t>boxid</a:t>
            </a:r>
            <a:r>
              <a:rPr lang="de-DE" dirty="0"/>
              <a:t>/1016135</a:t>
            </a:r>
          </a:p>
          <a:p>
            <a:r>
              <a:rPr lang="de-DE" dirty="0"/>
              <a:t>[3] Logos-World: </a:t>
            </a:r>
            <a:r>
              <a:rPr lang="de-DE" i="1" dirty="0"/>
              <a:t>Azure DevOps</a:t>
            </a:r>
            <a:r>
              <a:rPr lang="de-DE" dirty="0"/>
              <a:t>, logos-world.net/</a:t>
            </a:r>
            <a:r>
              <a:rPr lang="de-DE" dirty="0" err="1"/>
              <a:t>azure</a:t>
            </a:r>
            <a:r>
              <a:rPr lang="de-DE" dirty="0"/>
              <a:t>-</a:t>
            </a:r>
            <a:r>
              <a:rPr lang="de-DE" dirty="0" err="1"/>
              <a:t>devops</a:t>
            </a:r>
            <a:r>
              <a:rPr lang="de-DE" dirty="0"/>
              <a:t>-logo/</a:t>
            </a:r>
          </a:p>
          <a:p>
            <a:endParaRPr lang="de-DE" dirty="0"/>
          </a:p>
        </p:txBody>
      </p:sp>
      <p:pic>
        <p:nvPicPr>
          <p:cNvPr id="4" name="Bildplatzhalter 41">
            <a:extLst>
              <a:ext uri="{FF2B5EF4-FFF2-40B4-BE49-F238E27FC236}">
                <a16:creationId xmlns:a16="http://schemas.microsoft.com/office/drawing/2014/main" id="{B7BE61A2-E044-3F20-E913-6BB14E4A12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1" t="-42626" r="5381" b="-43072"/>
          <a:stretch>
            <a:fillRect/>
          </a:stretch>
        </p:blipFill>
        <p:spPr bwMode="gray">
          <a:xfrm>
            <a:off x="334963" y="1592264"/>
            <a:ext cx="2720743" cy="1626798"/>
          </a:xfrm>
          <a:prstGeom prst="rect">
            <a:avLst/>
          </a:prstGeom>
          <a:solidFill>
            <a:srgbClr val="BBBCBD"/>
          </a:solidFill>
        </p:spPr>
      </p:pic>
      <p:sp>
        <p:nvSpPr>
          <p:cNvPr id="12" name="Shape 7701">
            <a:extLst>
              <a:ext uri="{FF2B5EF4-FFF2-40B4-BE49-F238E27FC236}">
                <a16:creationId xmlns:a16="http://schemas.microsoft.com/office/drawing/2014/main" id="{85764FF5-864B-AFF5-F291-B7FE790266CA}"/>
              </a:ext>
            </a:extLst>
          </p:cNvPr>
          <p:cNvSpPr/>
          <p:nvPr/>
        </p:nvSpPr>
        <p:spPr bwMode="gray">
          <a:xfrm>
            <a:off x="3307931" y="1589752"/>
            <a:ext cx="2674050" cy="16267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121884" tIns="60925" rIns="121884" bIns="60925" anchor="ctr" anchorCtr="0">
            <a:noAutofit/>
          </a:bodyPr>
          <a:lstStyle/>
          <a:p>
            <a:pPr algn="ctr"/>
            <a:endParaRPr lang="en-US" sz="2666" dirty="0">
              <a:solidFill>
                <a:schemeClr val="lt1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13" name="Bildplatzhalter 47">
            <a:extLst>
              <a:ext uri="{FF2B5EF4-FFF2-40B4-BE49-F238E27FC236}">
                <a16:creationId xmlns:a16="http://schemas.microsoft.com/office/drawing/2014/main" id="{0DCE75A6-8E18-F4D7-BD6D-C28B9C9D5C9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79" b="20079"/>
          <a:stretch>
            <a:fillRect/>
          </a:stretch>
        </p:blipFill>
        <p:spPr bwMode="gray">
          <a:xfrm>
            <a:off x="3227316" y="1533091"/>
            <a:ext cx="2838703" cy="1697330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20" name="Bildplatzhalter 49">
            <a:extLst>
              <a:ext uri="{FF2B5EF4-FFF2-40B4-BE49-F238E27FC236}">
                <a16:creationId xmlns:a16="http://schemas.microsoft.com/office/drawing/2014/main" id="{2906A1AA-CEFC-BBB0-5185-66E02BE7F0A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5144" t="-85184" r="-5144" b="-85503"/>
          <a:stretch>
            <a:fillRect/>
          </a:stretch>
        </p:blipFill>
        <p:spPr bwMode="gray">
          <a:xfrm>
            <a:off x="9030059" y="1598757"/>
            <a:ext cx="2699471" cy="1613113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430CF60-A7BC-6607-CA82-632875F672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191" y="1574481"/>
            <a:ext cx="2955637" cy="1662546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BAF7DCBC-5DE2-30E8-3A3E-80023CEDE3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0491" y="1428235"/>
            <a:ext cx="3749365" cy="541067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0B208CBD-E526-C738-D1AB-62A305A403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2776" y="2746015"/>
            <a:ext cx="3749365" cy="541067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FCDE1F3A-F18A-3C41-B4F4-0C519A0F856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0686" y="1587241"/>
            <a:ext cx="3749365" cy="541067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D2C0A0CF-BA05-228D-D776-419DA11BD83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67590" y="2695960"/>
            <a:ext cx="3624410" cy="541067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FBA97967-3B06-56BF-BCCE-6D83D3292C7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30428" y="1980007"/>
            <a:ext cx="257986" cy="864254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EB9CC22-40A4-EB03-9512-8C0825ACA4C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16371" y="1949629"/>
            <a:ext cx="344816" cy="864254"/>
          </a:xfrm>
          <a:prstGeom prst="rect">
            <a:avLst/>
          </a:prstGeom>
        </p:spPr>
      </p:pic>
      <p:graphicFrame>
        <p:nvGraphicFramePr>
          <p:cNvPr id="45" name="Tabelle 3">
            <a:extLst>
              <a:ext uri="{FF2B5EF4-FFF2-40B4-BE49-F238E27FC236}">
                <a16:creationId xmlns:a16="http://schemas.microsoft.com/office/drawing/2014/main" id="{C70395F1-E91E-F4CD-161F-7A20C9161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385256"/>
              </p:ext>
            </p:extLst>
          </p:nvPr>
        </p:nvGraphicFramePr>
        <p:xfrm>
          <a:off x="358309" y="3463682"/>
          <a:ext cx="2674050" cy="2374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ServiceNow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Ticketing-System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Aufträge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annehmen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Dokumentation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graphicFrame>
        <p:nvGraphicFramePr>
          <p:cNvPr id="47" name="Tabelle 3">
            <a:extLst>
              <a:ext uri="{FF2B5EF4-FFF2-40B4-BE49-F238E27FC236}">
                <a16:creationId xmlns:a16="http://schemas.microsoft.com/office/drawing/2014/main" id="{D760BD6C-6CEC-334E-55AB-EE7A3D66A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623227"/>
              </p:ext>
            </p:extLst>
          </p:nvPr>
        </p:nvGraphicFramePr>
        <p:xfrm>
          <a:off x="3296257" y="3463682"/>
          <a:ext cx="2674050" cy="2374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Active Directory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Benutzer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 und 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Geräteverwaltung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Rechteverwaltung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graphicFrame>
        <p:nvGraphicFramePr>
          <p:cNvPr id="49" name="Tabelle 3">
            <a:extLst>
              <a:ext uri="{FF2B5EF4-FFF2-40B4-BE49-F238E27FC236}">
                <a16:creationId xmlns:a16="http://schemas.microsoft.com/office/drawing/2014/main" id="{AA2D042F-F2AB-A487-C2F4-B8195537B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04525"/>
              </p:ext>
            </p:extLst>
          </p:nvPr>
        </p:nvGraphicFramePr>
        <p:xfrm>
          <a:off x="6234205" y="3460142"/>
          <a:ext cx="2674050" cy="2374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Azure DevOps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Microsoft Plattform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Planung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, 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Entwicklung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 und Testen von 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Softwareprojekten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Afgabenverwaltung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, 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Versionskontrolle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, etc.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graphicFrame>
        <p:nvGraphicFramePr>
          <p:cNvPr id="51" name="Tabelle 3">
            <a:extLst>
              <a:ext uri="{FF2B5EF4-FFF2-40B4-BE49-F238E27FC236}">
                <a16:creationId xmlns:a16="http://schemas.microsoft.com/office/drawing/2014/main" id="{E41F7A5D-9DA9-C9E8-4AD1-C0E6788557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079014"/>
              </p:ext>
            </p:extLst>
          </p:nvPr>
        </p:nvGraphicFramePr>
        <p:xfrm>
          <a:off x="9172153" y="3460141"/>
          <a:ext cx="2674050" cy="2374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Deployment Tool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Eigenentwickelte</a:t>
                      </a: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 Web-</a:t>
                      </a:r>
                      <a:r>
                        <a:rPr lang="en-US" sz="1400" dirty="0" err="1">
                          <a:solidFill>
                            <a:schemeClr val="tx2"/>
                          </a:solidFill>
                        </a:rPr>
                        <a:t>Anwendung</a:t>
                      </a: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Interne Deployment API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endParaRPr lang="en-US" sz="1400" dirty="0">
                        <a:solidFill>
                          <a:schemeClr val="tx2"/>
                        </a:solidFill>
                      </a:endParaRP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5825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A04F0-9415-ABF6-B6F3-5071F91A9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769C3DF-9852-4AB1-FD4F-98FF5E5F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1 - logging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FF9F55-28E0-ED36-172C-07D51DA9B05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06F73A-1939-FB95-2B00-96DEB93A43C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5E26FD-194B-023A-9BFB-2ADA61AE654B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Heraeus &amp; HC&amp;IT</a:t>
            </a:r>
          </a:p>
          <a:p>
            <a:pPr lvl="1"/>
            <a:r>
              <a:rPr lang="de-DE" sz="2000" dirty="0"/>
              <a:t>Globaler deutscher Familien- und Technologiekonzern, Hauptsitz in Hanau</a:t>
            </a:r>
          </a:p>
          <a:p>
            <a:pPr lvl="1"/>
            <a:r>
              <a:rPr lang="de-DE" sz="2000" dirty="0"/>
              <a:t>Ca. 15.000 Mitarbeiter</a:t>
            </a:r>
          </a:p>
          <a:p>
            <a:pPr lvl="1"/>
            <a:r>
              <a:rPr lang="de-DE" sz="2000" dirty="0"/>
              <a:t>HC&amp;IT: Eigene IT-Gesellschaft innerhalb der Heraeus-Gruppe</a:t>
            </a:r>
          </a:p>
          <a:p>
            <a:pPr lvl="1"/>
            <a:r>
              <a:rPr lang="de-DE" sz="2000" dirty="0"/>
              <a:t>Dienstleistungen für die Gruppe &amp; Dritte</a:t>
            </a:r>
          </a:p>
          <a:p>
            <a:pPr lvl="1"/>
            <a:r>
              <a:rPr lang="de-DE" sz="2000" dirty="0"/>
              <a:t>Mein Bereich: Heraeus IT (HIT), Backend Team</a:t>
            </a:r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F95E144B-F1AA-609D-0EF4-10508A5BF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7060"/>
            <a:ext cx="12292983" cy="607093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84997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E04B746D-380C-49C4-8857-70A37A21278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C297AFF1-FB5A-4DF5-BAF2-E47EF19B6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1 - logging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2E22C90-2DF1-45EC-ADA9-8627C2726E1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F93A26-7188-4BA5-8868-D6F75BEAE95C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EF0C84D-AFD5-F526-008C-D96C50E0DEDB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Situation</a:t>
            </a:r>
          </a:p>
          <a:p>
            <a:pPr lvl="1"/>
            <a:r>
              <a:rPr lang="de-DE" sz="2000" dirty="0" err="1"/>
              <a:t>Deployment</a:t>
            </a:r>
            <a:r>
              <a:rPr lang="de-DE" sz="2000" dirty="0"/>
              <a:t> API hatte nur flüchtiges Laufzeit-</a:t>
            </a:r>
            <a:r>
              <a:rPr lang="de-DE" sz="2000" dirty="0" err="1"/>
              <a:t>Logging</a:t>
            </a:r>
            <a:r>
              <a:rPr lang="de-DE" sz="2000" dirty="0"/>
              <a:t> (Konsole)</a:t>
            </a:r>
          </a:p>
          <a:p>
            <a:pPr lvl="1"/>
            <a:r>
              <a:rPr lang="de-DE" sz="2000" dirty="0"/>
              <a:t>Kein Audit-Trail: Wer hat wann was aufgerufen?</a:t>
            </a:r>
          </a:p>
          <a:p>
            <a:pPr lvl="1"/>
            <a:r>
              <a:rPr lang="de-DE" sz="2000" dirty="0"/>
              <a:t>Fehleranalyse und Security-Nachvollziehbarkeit nicht möglich</a:t>
            </a:r>
          </a:p>
        </p:txBody>
      </p:sp>
    </p:spTree>
    <p:extLst>
      <p:ext uri="{BB962C8B-B14F-4D97-AF65-F5344CB8AC3E}">
        <p14:creationId xmlns:p14="http://schemas.microsoft.com/office/powerpoint/2010/main" val="65738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7D57A-D7B6-2968-53EA-9C00512A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72C47EC2-2409-F37D-B2F3-F774DEBD196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A07E14BB-E10C-B3A8-0842-E351C0801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1 - logging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D997E5-C645-AFD4-FE79-A73902D2F93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5928D1-950F-2BBD-D536-81C4323DD2B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08A8403-F8D8-95D5-DDBF-3FE1C3FD2BC9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Task</a:t>
            </a:r>
          </a:p>
          <a:p>
            <a:pPr lvl="1"/>
            <a:r>
              <a:rPr lang="de-DE" sz="2000" dirty="0"/>
              <a:t>Komplette, persistente </a:t>
            </a:r>
            <a:r>
              <a:rPr lang="de-DE" sz="2000" dirty="0" err="1"/>
              <a:t>Logging</a:t>
            </a:r>
            <a:r>
              <a:rPr lang="de-DE" sz="2000" dirty="0"/>
              <a:t>-Lösung aufbauen</a:t>
            </a:r>
          </a:p>
          <a:p>
            <a:pPr lvl="1"/>
            <a:r>
              <a:rPr lang="de-DE" sz="2000" dirty="0"/>
              <a:t>Jeder API-Request in die Datenbank</a:t>
            </a:r>
          </a:p>
          <a:p>
            <a:pPr lvl="1"/>
            <a:r>
              <a:rPr lang="de-DE" sz="2000" dirty="0"/>
              <a:t>Logs müssen aufrufbar und filterbar sein</a:t>
            </a:r>
          </a:p>
          <a:p>
            <a:pPr lvl="1"/>
            <a:r>
              <a:rPr lang="de-DE" sz="2000" dirty="0"/>
              <a:t>Datenbank darf nicht unkontrolliert wachsen</a:t>
            </a:r>
          </a:p>
          <a:p>
            <a:pPr lvl="1"/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303098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86C62-BE6E-ED55-7B02-8EE5F3A4A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2EF26B43-C881-2963-4816-FFB78C19D1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1B59209C-1E5C-3360-CE9E-2569ED124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1 - logging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A37296-AF59-E775-B812-91F6B87FBD6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E6E064-D95E-B521-2614-8FB3DBD7245C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0F268D-3C3E-15CC-6B65-8AECB26C2303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Action</a:t>
            </a:r>
          </a:p>
          <a:p>
            <a:pPr lvl="1"/>
            <a:r>
              <a:rPr lang="de-DE" sz="2000" dirty="0" err="1"/>
              <a:t>Serilog</a:t>
            </a:r>
            <a:r>
              <a:rPr lang="de-DE" sz="2000" dirty="0"/>
              <a:t> eingeführt (Konsole + Datei mit Rotation)</a:t>
            </a:r>
          </a:p>
          <a:p>
            <a:pPr lvl="1"/>
            <a:r>
              <a:rPr lang="de-DE" sz="2000" dirty="0"/>
              <a:t>Eigene Middleware: Misst Dauer, erfasst Statuscodes, Pfad, IP, Caller &amp; Host</a:t>
            </a:r>
          </a:p>
          <a:p>
            <a:pPr lvl="1"/>
            <a:r>
              <a:rPr lang="de-DE" sz="2000" dirty="0"/>
              <a:t>DB-Tabellen entworfen (SQL-Skript) + Schreiblogik</a:t>
            </a:r>
          </a:p>
          <a:p>
            <a:pPr lvl="1"/>
            <a:r>
              <a:rPr lang="de-DE" sz="2000" dirty="0" err="1"/>
              <a:t>Activity</a:t>
            </a:r>
            <a:r>
              <a:rPr lang="de-DE" sz="2000" dirty="0"/>
              <a:t>-Endpoints zum Auslesen mit Filtern (Zeit, Caller, Status, etc.)</a:t>
            </a:r>
          </a:p>
          <a:p>
            <a:pPr lvl="1"/>
            <a:r>
              <a:rPr lang="de-DE" sz="2000" dirty="0"/>
              <a:t>Hintergrund-Service löscht alte Logs täglich automatisch</a:t>
            </a:r>
          </a:p>
          <a:p>
            <a:pPr lvl="1"/>
            <a:endParaRPr lang="de-DE" sz="2000" dirty="0"/>
          </a:p>
          <a:p>
            <a:pPr lvl="1"/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568853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54C12-C343-06E9-D36D-668DC65B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FA793DF3-EF34-4F8D-30E4-5C60CBEE708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D5E7F866-6E65-E376-34A2-9458FD470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1 - logging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AEDF4A-F76F-59C4-E850-82132053F31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279BE9-E3ED-A311-47C7-2777990854D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484798-378D-B959-19B4-30C8F6774458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 err="1"/>
              <a:t>Result</a:t>
            </a:r>
            <a:endParaRPr lang="de-DE" sz="2000" dirty="0"/>
          </a:p>
          <a:p>
            <a:pPr lvl="1"/>
            <a:r>
              <a:rPr lang="de-DE" sz="2000" dirty="0"/>
              <a:t>End-to-End-Nachvollziehbarkeit: Jeder Request auffindbar</a:t>
            </a:r>
          </a:p>
          <a:p>
            <a:pPr lvl="1"/>
            <a:r>
              <a:rPr lang="de-DE" sz="2000" dirty="0" err="1"/>
              <a:t>Activity</a:t>
            </a:r>
            <a:r>
              <a:rPr lang="de-DE" sz="2000" dirty="0"/>
              <a:t>-Ansicht im Praxiseinsatz beim Team</a:t>
            </a:r>
          </a:p>
          <a:p>
            <a:pPr lvl="1"/>
            <a:r>
              <a:rPr lang="de-DE" sz="2000" dirty="0"/>
              <a:t>DB wächst kontrolliert (automatische Bereinigung)</a:t>
            </a:r>
          </a:p>
        </p:txBody>
      </p:sp>
    </p:spTree>
    <p:extLst>
      <p:ext uri="{BB962C8B-B14F-4D97-AF65-F5344CB8AC3E}">
        <p14:creationId xmlns:p14="http://schemas.microsoft.com/office/powerpoint/2010/main" val="363145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ECE02-F113-0120-A6E4-1312EA4EA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45BA1BB-A96C-1E34-75FA-8FB79A5C5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1 - logging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8494C0-DA0D-DB1B-B52C-64E11B378E7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647223-3C39-59FA-4B66-1EB713A0958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2AA06A-49FC-BBDA-2F2F-524FF819F281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Heraeus &amp; HC&amp;IT</a:t>
            </a:r>
          </a:p>
          <a:p>
            <a:pPr lvl="1"/>
            <a:r>
              <a:rPr lang="de-DE" sz="2000" dirty="0"/>
              <a:t>Globaler deutscher Familien- und Technologiekonzern, Hauptsitz in Hanau</a:t>
            </a:r>
          </a:p>
          <a:p>
            <a:pPr lvl="1"/>
            <a:r>
              <a:rPr lang="de-DE" sz="2000" dirty="0"/>
              <a:t>Ca. 15.000 Mitarbeiter</a:t>
            </a:r>
          </a:p>
          <a:p>
            <a:pPr lvl="1"/>
            <a:r>
              <a:rPr lang="de-DE" sz="2000" dirty="0"/>
              <a:t>HC&amp;IT: Eigene IT-Gesellschaft innerhalb der Heraeus-Gruppe</a:t>
            </a:r>
          </a:p>
          <a:p>
            <a:pPr lvl="1"/>
            <a:r>
              <a:rPr lang="de-DE" sz="2000" dirty="0"/>
              <a:t>Dienstleistungen für die Gruppe &amp; Dritte</a:t>
            </a:r>
          </a:p>
          <a:p>
            <a:pPr lvl="1"/>
            <a:r>
              <a:rPr lang="de-DE" sz="2000" dirty="0"/>
              <a:t>Mein Bereich: Heraeus IT (HIT), Backend Team</a:t>
            </a:r>
          </a:p>
        </p:txBody>
      </p:sp>
      <p:pic>
        <p:nvPicPr>
          <p:cNvPr id="9" name="Grafik 140">
            <a:extLst>
              <a:ext uri="{FF2B5EF4-FFF2-40B4-BE49-F238E27FC236}">
                <a16:creationId xmlns:a16="http://schemas.microsoft.com/office/drawing/2014/main" id="{DEE47738-84FE-0107-414C-C1C6CD1BC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9767"/>
            <a:ext cx="12191996" cy="61182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33579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BB6B5-1DEF-8F9E-EEA9-3E28FD9F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F8843A35-781D-071B-44E1-EB63E22CA8A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2CE9D634-9E23-F797-17B6-A04A002BA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2 – TXT-Records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8C257B-0907-99ED-D073-0F50B316958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6017E8-C507-11C6-45CE-BD4EE837A33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D57BEA6-B5A5-F55D-82FE-22FD2AACD09D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Situation</a:t>
            </a:r>
          </a:p>
          <a:p>
            <a:pPr lvl="1"/>
            <a:r>
              <a:rPr lang="de-DE" sz="2000" dirty="0"/>
              <a:t>DNS-API automatisiert bisher nur A- &amp; CNAME-Records</a:t>
            </a:r>
          </a:p>
          <a:p>
            <a:pPr lvl="1"/>
            <a:r>
              <a:rPr lang="de-DE" sz="2000" dirty="0"/>
              <a:t>Server brauchen aber TLS-Zertifikate für interne HTTPS-Dienste</a:t>
            </a:r>
          </a:p>
          <a:p>
            <a:pPr lvl="1"/>
            <a:r>
              <a:rPr lang="de-DE" sz="2000" dirty="0"/>
              <a:t>CA-Validierung per ACME DNS-Challenge </a:t>
            </a:r>
            <a:r>
              <a:rPr lang="de-DE" sz="2000" dirty="0">
                <a:sym typeface="Wingdings" panose="05000000000000000000" pitchFamily="2" charset="2"/>
              </a:rPr>
              <a:t> Braucht TXT-Records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47902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FD60B-806E-E79D-AD96-C676CB70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A2F6970F-35B4-5C16-AE8E-0D56B439293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A1CAD77A-3843-F7ED-7226-E97BE837F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2 – TXT-Records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653036-895B-38F9-8409-ACDC4334E4E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CCF447-2921-FB35-3F78-2FC6C8FA898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B8E040-7970-C8D2-6D5D-6C0015F08F26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Task</a:t>
            </a:r>
          </a:p>
          <a:p>
            <a:pPr lvl="1"/>
            <a:r>
              <a:rPr lang="de-DE" sz="2000" dirty="0"/>
              <a:t>TXT-</a:t>
            </a:r>
            <a:r>
              <a:rPr lang="de-DE" sz="2000" dirty="0" err="1"/>
              <a:t>Record</a:t>
            </a:r>
            <a:r>
              <a:rPr lang="de-DE" sz="2000" dirty="0"/>
              <a:t>-Support in die bestehende API einbauen</a:t>
            </a:r>
          </a:p>
          <a:p>
            <a:pPr lvl="1"/>
            <a:r>
              <a:rPr lang="de-DE" sz="2000" dirty="0"/>
              <a:t>Security-Anforderung: Nicht jeder API-Key darf überall TXT schreiben</a:t>
            </a:r>
          </a:p>
          <a:p>
            <a:pPr lvl="1"/>
            <a:r>
              <a:rPr lang="de-DE" sz="2000" dirty="0"/>
              <a:t>Berechtigungen pro Nutzer und pro DNS Zone</a:t>
            </a:r>
          </a:p>
        </p:txBody>
      </p:sp>
    </p:spTree>
    <p:extLst>
      <p:ext uri="{BB962C8B-B14F-4D97-AF65-F5344CB8AC3E}">
        <p14:creationId xmlns:p14="http://schemas.microsoft.com/office/powerpoint/2010/main" val="966838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81EC9-1D0A-BF6D-059C-F5FA48A4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7F1C53AC-1289-0A2A-F43D-6249F0CB664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CE4FFFCF-6DE3-A9D0-C459-8D3D9AD1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2 – TXT-Records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818365-731F-1D47-B10E-FCC70DAD153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309A2E-A533-DEC3-FCEB-0569A6A180E6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1C27E2-9043-8242-3F7C-AC264DD58474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Action</a:t>
            </a:r>
          </a:p>
          <a:p>
            <a:pPr lvl="1"/>
            <a:r>
              <a:rPr lang="de-DE" sz="2000" dirty="0"/>
              <a:t>Berechtigungsmodell: </a:t>
            </a:r>
            <a:r>
              <a:rPr lang="de-DE" sz="2000" dirty="0" err="1"/>
              <a:t>txt_allowed-Flag</a:t>
            </a:r>
            <a:r>
              <a:rPr lang="de-DE" sz="2000" dirty="0"/>
              <a:t> pro User + Zonen-</a:t>
            </a:r>
            <a:r>
              <a:rPr lang="de-DE" sz="2000" dirty="0" err="1"/>
              <a:t>Allowlist</a:t>
            </a:r>
            <a:r>
              <a:rPr lang="de-DE" sz="2000" dirty="0"/>
              <a:t> (Neue Tabelle)</a:t>
            </a:r>
          </a:p>
          <a:p>
            <a:pPr lvl="1"/>
            <a:r>
              <a:rPr lang="de-DE" sz="2000" dirty="0"/>
              <a:t>Security-Checks vor jedem Schreibzugriff (</a:t>
            </a:r>
            <a:r>
              <a:rPr lang="de-DE" sz="2000" dirty="0" err="1"/>
              <a:t>Flag</a:t>
            </a:r>
            <a:r>
              <a:rPr lang="de-DE" sz="2000" dirty="0"/>
              <a:t>- &amp; Zonen-Prüfung)</a:t>
            </a:r>
          </a:p>
          <a:p>
            <a:pPr lvl="1"/>
            <a:r>
              <a:rPr lang="de-DE" sz="2000" dirty="0"/>
              <a:t>Validierung: ACME-konforme TXT-Werte, </a:t>
            </a:r>
            <a:r>
              <a:rPr lang="de-DE" sz="2000" dirty="0" err="1"/>
              <a:t>Histname-Regex</a:t>
            </a:r>
            <a:r>
              <a:rPr lang="de-DE" sz="2000" dirty="0"/>
              <a:t>, 255-Zeichen-Limit</a:t>
            </a:r>
          </a:p>
          <a:p>
            <a:pPr lvl="1"/>
            <a:r>
              <a:rPr lang="de-DE" sz="2000" dirty="0"/>
              <a:t>Exitenz-Check &amp; genaue Fehlermeldungen</a:t>
            </a:r>
          </a:p>
          <a:p>
            <a:pPr lvl="1"/>
            <a:r>
              <a:rPr lang="de-DE" sz="2000" dirty="0"/>
              <a:t>Admin-Funktionen um TXT-Verwaltung erweitert</a:t>
            </a:r>
          </a:p>
        </p:txBody>
      </p:sp>
    </p:spTree>
    <p:extLst>
      <p:ext uri="{BB962C8B-B14F-4D97-AF65-F5344CB8AC3E}">
        <p14:creationId xmlns:p14="http://schemas.microsoft.com/office/powerpoint/2010/main" val="308901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A087-D280-D2F2-6CA7-874F2075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2705202D-0F0D-D75F-93B4-A9A74F8B096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0422877B-A1A9-19BA-429C-9B7B1B24D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2 – TXT-Records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2C2314-5D9F-841E-9565-130288170F2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9E3C65-3D3C-10E5-88C7-E95F4F0C37B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967B6E4-CE12-B0A8-F937-693843BFDDA4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 err="1"/>
              <a:t>Result</a:t>
            </a:r>
            <a:endParaRPr lang="de-DE" sz="2000" dirty="0"/>
          </a:p>
          <a:p>
            <a:pPr lvl="1"/>
            <a:r>
              <a:rPr lang="de-DE" sz="2000" dirty="0"/>
              <a:t>ACME-Clients können TXT-Records per API anlegen &amp; löschen</a:t>
            </a:r>
          </a:p>
          <a:p>
            <a:pPr lvl="1"/>
            <a:r>
              <a:rPr lang="de-DE" sz="2000" dirty="0"/>
              <a:t>Mehrstufiges Berechtigungsmodell (Key </a:t>
            </a:r>
            <a:r>
              <a:rPr lang="de-DE" sz="2000" dirty="0">
                <a:sym typeface="Wingdings" panose="05000000000000000000" pitchFamily="2" charset="2"/>
              </a:rPr>
              <a:t> </a:t>
            </a:r>
            <a:r>
              <a:rPr lang="de-DE" sz="2000" dirty="0" err="1">
                <a:sym typeface="Wingdings" panose="05000000000000000000" pitchFamily="2" charset="2"/>
              </a:rPr>
              <a:t>Flag</a:t>
            </a:r>
            <a:r>
              <a:rPr lang="de-DE" sz="2000" dirty="0">
                <a:sym typeface="Wingdings" panose="05000000000000000000" pitchFamily="2" charset="2"/>
              </a:rPr>
              <a:t>  Zone  </a:t>
            </a:r>
            <a:r>
              <a:rPr lang="de-DE" sz="2000" dirty="0" err="1">
                <a:sym typeface="Wingdings" panose="05000000000000000000" pitchFamily="2" charset="2"/>
              </a:rPr>
              <a:t>Regex</a:t>
            </a:r>
            <a:r>
              <a:rPr lang="de-DE" sz="2000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de-DE" sz="2000" dirty="0">
                <a:sym typeface="Wingdings" panose="05000000000000000000" pitchFamily="2" charset="2"/>
              </a:rPr>
              <a:t>Bestehende Architektur-Muster wiederverwendet  Wartbar</a:t>
            </a:r>
          </a:p>
          <a:p>
            <a:pPr lvl="1"/>
            <a:r>
              <a:rPr lang="de-DE" sz="2000" dirty="0">
                <a:sym typeface="Wingdings" panose="05000000000000000000" pitchFamily="2" charset="2"/>
              </a:rPr>
              <a:t>Status: Work in Progress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40540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2DF0-2EBF-7FAD-A084-2461A3C3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2F3C2CD-AF70-58BF-3C39-CBBAA2E89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2 – TXT-Records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C2F3F7-5F97-D79B-53E9-9E282689FED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5DEBC5-90BE-B17F-4662-CA08B66C290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38F07D-C455-72A0-D860-7D8349513FB3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Heraeus &amp; HC&amp;IT</a:t>
            </a:r>
          </a:p>
          <a:p>
            <a:pPr lvl="1"/>
            <a:r>
              <a:rPr lang="de-DE" sz="2000" dirty="0"/>
              <a:t>Globaler deutscher Familien- und Technologiekonzern, Hauptsitz in Hanau</a:t>
            </a:r>
          </a:p>
          <a:p>
            <a:pPr lvl="1"/>
            <a:r>
              <a:rPr lang="de-DE" sz="2000" dirty="0"/>
              <a:t>Ca. 15.000 Mitarbeiter</a:t>
            </a:r>
          </a:p>
          <a:p>
            <a:pPr lvl="1"/>
            <a:r>
              <a:rPr lang="de-DE" sz="2000" dirty="0"/>
              <a:t>HC&amp;IT: Eigene IT-Gesellschaft innerhalb der Heraeus-Gruppe</a:t>
            </a:r>
          </a:p>
          <a:p>
            <a:pPr lvl="1"/>
            <a:r>
              <a:rPr lang="de-DE" sz="2000" dirty="0"/>
              <a:t>Dienstleistungen für die Gruppe &amp; Dritte</a:t>
            </a:r>
          </a:p>
          <a:p>
            <a:pPr lvl="1"/>
            <a:r>
              <a:rPr lang="de-DE" sz="2000" dirty="0"/>
              <a:t>Mein Bereich: Heraeus IT (HIT), Backend Team</a:t>
            </a:r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DE6871C7-22C8-8744-3566-0C6D7F8D7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4236"/>
            <a:ext cx="12191996" cy="607376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555FF1D-3E16-C4EF-9028-43A9B5FEDC65}"/>
              </a:ext>
            </a:extLst>
          </p:cNvPr>
          <p:cNvSpPr/>
          <p:nvPr/>
        </p:nvSpPr>
        <p:spPr bwMode="gray">
          <a:xfrm>
            <a:off x="2686832" y="1872641"/>
            <a:ext cx="3457183" cy="1077238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32879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155E8-3E29-8EC1-B1B0-63E707D4F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3D86A54-269A-9E9A-746E-37C231ED0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3 – PW-CHange-webapp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058A12-FFED-3DF5-5056-EDD7D424C52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135966-391B-452E-15C4-313FB4F5EE7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034D182-E8EB-6C0F-35D4-AA0EE49E3FC0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Situation</a:t>
            </a:r>
          </a:p>
          <a:p>
            <a:pPr lvl="1"/>
            <a:r>
              <a:rPr lang="de-DE" sz="2000" dirty="0"/>
              <a:t>Passwörter in </a:t>
            </a:r>
            <a:r>
              <a:rPr lang="de-DE" sz="2000" dirty="0" err="1"/>
              <a:t>Heraeusprod</a:t>
            </a:r>
            <a:r>
              <a:rPr lang="de-DE" sz="2000" dirty="0"/>
              <a:t> müssen regelmäßig </a:t>
            </a:r>
            <a:r>
              <a:rPr lang="de-DE" sz="2000" dirty="0" err="1"/>
              <a:t>geädnert</a:t>
            </a:r>
            <a:r>
              <a:rPr lang="de-DE" sz="2000" dirty="0"/>
              <a:t> werden</a:t>
            </a:r>
          </a:p>
          <a:p>
            <a:pPr lvl="1"/>
            <a:r>
              <a:rPr lang="de-DE" sz="2000" dirty="0"/>
              <a:t>Bisher: Manuelle Tickets, Bearbeitung per Hand im AD</a:t>
            </a:r>
          </a:p>
          <a:p>
            <a:pPr lvl="1"/>
            <a:r>
              <a:rPr lang="de-DE" sz="2000" dirty="0"/>
              <a:t>Gesucht: </a:t>
            </a:r>
            <a:r>
              <a:rPr lang="de-DE" sz="2000" dirty="0" err="1"/>
              <a:t>Zntrale</a:t>
            </a:r>
            <a:r>
              <a:rPr lang="de-DE" sz="2000" dirty="0"/>
              <a:t> Self-Service-</a:t>
            </a:r>
            <a:r>
              <a:rPr lang="de-DE" sz="2000" dirty="0" err="1"/>
              <a:t>WebApp</a:t>
            </a:r>
            <a:r>
              <a:rPr lang="de-DE" sz="2000" dirty="0"/>
              <a:t> für alle Mitarbeiter</a:t>
            </a:r>
          </a:p>
        </p:txBody>
      </p:sp>
      <p:pic>
        <p:nvPicPr>
          <p:cNvPr id="15" name="Bildplatzhalter 15">
            <a:extLst>
              <a:ext uri="{FF2B5EF4-FFF2-40B4-BE49-F238E27FC236}">
                <a16:creationId xmlns:a16="http://schemas.microsoft.com/office/drawing/2014/main" id="{06329C7B-79D5-8DD3-CBAE-96C96989134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t="-13677" r="1221" b="-20165"/>
          <a:stretch>
            <a:fillRect/>
          </a:stretch>
        </p:blipFill>
        <p:spPr>
          <a:xfrm>
            <a:off x="0" y="765175"/>
            <a:ext cx="5988050" cy="5599113"/>
          </a:xfrm>
          <a:solidFill>
            <a:srgbClr val="BBBCBD"/>
          </a:solidFill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7206EEF-20A7-5FA2-D4E4-AD82AF78C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870401"/>
            <a:ext cx="6156542" cy="1544281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0F569D00-B660-CA58-B782-52EF1B112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0735"/>
            <a:ext cx="6096000" cy="772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989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32F7C-366A-5DE9-883C-0CFFAEDAE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0EE258F-CE63-7AB2-785D-5D656A35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3 – PW-CHange-webapp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177DB7-243A-CFAF-D489-80F15BE7EEE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7CF36A-60EC-E687-DB1C-5389A4541BB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5A6100-E5FF-D443-BB7A-194130F27223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Task</a:t>
            </a:r>
          </a:p>
          <a:p>
            <a:pPr lvl="1"/>
            <a:r>
              <a:rPr lang="de-DE" sz="2000" dirty="0" err="1"/>
              <a:t>WebApp</a:t>
            </a:r>
            <a:r>
              <a:rPr lang="de-DE" sz="2000" dirty="0"/>
              <a:t> für AD-Passwortänderung entwickeln, von Null bis Produktion</a:t>
            </a:r>
          </a:p>
          <a:p>
            <a:pPr lvl="1"/>
            <a:r>
              <a:rPr lang="de-DE" sz="2000" dirty="0"/>
              <a:t>Sicherheit: Rate-</a:t>
            </a:r>
            <a:r>
              <a:rPr lang="de-DE" sz="2000" dirty="0" err="1"/>
              <a:t>Limiting</a:t>
            </a:r>
            <a:r>
              <a:rPr lang="de-DE" sz="2000" dirty="0"/>
              <a:t>, CSRF-Schutz, Audit-</a:t>
            </a:r>
            <a:r>
              <a:rPr lang="de-DE" sz="2000" dirty="0" err="1"/>
              <a:t>Logging</a:t>
            </a:r>
            <a:endParaRPr lang="de-DE" sz="2000" dirty="0"/>
          </a:p>
          <a:p>
            <a:pPr lvl="1"/>
            <a:r>
              <a:rPr lang="de-DE" sz="2000" dirty="0"/>
              <a:t>Benutzerfreundlichkeit: Passwort-Generator, Mehrsprachigkeit</a:t>
            </a:r>
          </a:p>
          <a:p>
            <a:pPr lvl="1"/>
            <a:r>
              <a:rPr lang="de-DE" sz="2000" dirty="0"/>
              <a:t>Betrieb: </a:t>
            </a:r>
            <a:r>
              <a:rPr lang="de-DE" sz="2000" dirty="0" err="1"/>
              <a:t>Deployment</a:t>
            </a:r>
            <a:r>
              <a:rPr lang="de-DE" sz="2000" dirty="0"/>
              <a:t> auf Azure-VM inkl. TLS-Zertifikat</a:t>
            </a:r>
          </a:p>
        </p:txBody>
      </p:sp>
      <p:pic>
        <p:nvPicPr>
          <p:cNvPr id="9" name="Bildplatzhalter 8">
            <a:extLst>
              <a:ext uri="{FF2B5EF4-FFF2-40B4-BE49-F238E27FC236}">
                <a16:creationId xmlns:a16="http://schemas.microsoft.com/office/drawing/2014/main" id="{7F98F8D1-B4E8-91D8-C6C2-5B3FCD4675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0888" r="833" b="-142093"/>
          <a:stretch>
            <a:fillRect/>
          </a:stretch>
        </p:blipFill>
        <p:spPr bwMode="gray">
          <a:xfrm>
            <a:off x="0" y="765175"/>
            <a:ext cx="5988050" cy="5599113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AC3B67-2197-5863-16F3-D131099B7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" y="3487770"/>
            <a:ext cx="6096000" cy="295656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1904EE5-AA13-8375-A521-F2E6A0B92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65174"/>
            <a:ext cx="6096000" cy="88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3B4F0-3960-2D0F-A1FB-F8F5CD572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12C99D-2D8A-8926-6CD7-175035AC2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3 – PW-CHange-webapp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743FD62-4D03-981A-8A31-7CBE661177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A1C7EE-F2CF-8A43-EEB6-A59563ECBAC4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20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3F3FE2-F268-ABEC-D31B-C5F63C589668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Action</a:t>
            </a:r>
          </a:p>
          <a:p>
            <a:pPr lvl="1"/>
            <a:r>
              <a:rPr lang="de-DE" sz="2000" dirty="0"/>
              <a:t>ASP.NET Core </a:t>
            </a:r>
            <a:r>
              <a:rPr lang="de-DE" sz="2000" dirty="0" err="1"/>
              <a:t>WebApp</a:t>
            </a:r>
            <a:r>
              <a:rPr lang="de-DE" sz="2000" dirty="0"/>
              <a:t> komplett selbst komplett selbst konzipiert &amp; implementiert</a:t>
            </a:r>
          </a:p>
          <a:p>
            <a:pPr lvl="1"/>
            <a:r>
              <a:rPr lang="de-DE" sz="2000" dirty="0"/>
              <a:t>Architekturentscheidung: Self-Service via RODC, kein privilegierter Service-Account nötig</a:t>
            </a:r>
          </a:p>
          <a:p>
            <a:pPr lvl="1"/>
            <a:r>
              <a:rPr lang="de-DE" sz="2000" dirty="0"/>
              <a:t>Zweistufiges Rate-</a:t>
            </a:r>
            <a:r>
              <a:rPr lang="de-DE" sz="2000" dirty="0" err="1"/>
              <a:t>Limiting</a:t>
            </a:r>
            <a:r>
              <a:rPr lang="de-DE" sz="2000" dirty="0"/>
              <a:t>: </a:t>
            </a:r>
          </a:p>
          <a:p>
            <a:pPr lvl="2"/>
            <a:r>
              <a:rPr lang="de-DE" sz="1800" dirty="0"/>
              <a:t>20 Versuche/h pro Nutzer</a:t>
            </a:r>
          </a:p>
          <a:p>
            <a:pPr lvl="2"/>
            <a:r>
              <a:rPr lang="de-DE" sz="1800" dirty="0"/>
              <a:t>Global 30 Nutzer/h</a:t>
            </a:r>
          </a:p>
          <a:p>
            <a:pPr lvl="1"/>
            <a:r>
              <a:rPr lang="de-DE" sz="2000" dirty="0"/>
              <a:t>Audit-</a:t>
            </a:r>
            <a:r>
              <a:rPr lang="de-DE" sz="2000" dirty="0" err="1"/>
              <a:t>Logging</a:t>
            </a:r>
            <a:r>
              <a:rPr lang="de-DE" sz="2000" dirty="0"/>
              <a:t> mit fachlichem Outcome pro Request (Erfolg/ Grund des Scheiterns)</a:t>
            </a:r>
          </a:p>
          <a:p>
            <a:pPr lvl="1"/>
            <a:r>
              <a:rPr lang="de-DE" sz="2000" dirty="0"/>
              <a:t>UI: Passwort-Generator, drei Sprachen (DE/EN/</a:t>
            </a:r>
            <a:r>
              <a:rPr lang="en-US" sz="2000" dirty="0" err="1"/>
              <a:t>中文</a:t>
            </a:r>
            <a:r>
              <a:rPr lang="en-US" sz="2000" dirty="0"/>
              <a:t>), Dark Mode</a:t>
            </a:r>
            <a:endParaRPr lang="de-DE" sz="2000" dirty="0"/>
          </a:p>
        </p:txBody>
      </p:sp>
      <p:pic>
        <p:nvPicPr>
          <p:cNvPr id="9" name="Bildplatzhalter 8">
            <a:extLst>
              <a:ext uri="{FF2B5EF4-FFF2-40B4-BE49-F238E27FC236}">
                <a16:creationId xmlns:a16="http://schemas.microsoft.com/office/drawing/2014/main" id="{AC3E4D23-7FB3-C3B4-7E0D-CEF7E079971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082" r="884" b="-119539"/>
          <a:stretch>
            <a:fillRect/>
          </a:stretch>
        </p:blipFill>
        <p:spPr bwMode="gray">
          <a:xfrm>
            <a:off x="0" y="765174"/>
            <a:ext cx="5988050" cy="5598501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583A76-9E5C-2D89-3DF2-7B92FBF3F8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" y="3968930"/>
            <a:ext cx="6005108" cy="1949591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BEC7DBBB-D7AF-7BDB-816A-1BE989527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9" y="3667760"/>
            <a:ext cx="6022169" cy="38608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94B5A84-B577-7CB4-7467-C89C93D9F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5492818"/>
            <a:ext cx="6022169" cy="874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43DF666-B7AD-453D-437F-6B02DA7CF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708949"/>
            <a:ext cx="6022168" cy="198137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C460A4AB-1151-5673-F3D0-8B35765146C1}"/>
              </a:ext>
            </a:extLst>
          </p:cNvPr>
          <p:cNvSpPr txBox="1"/>
          <p:nvPr/>
        </p:nvSpPr>
        <p:spPr bwMode="gray">
          <a:xfrm>
            <a:off x="6339840" y="34544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endParaRPr lang="de-DE" dirty="0" err="1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89AC9556-74B3-26B0-7149-6982604F28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" y="790556"/>
            <a:ext cx="6022169" cy="81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68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41ACC-0118-EC72-29FB-989038083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F65A83D-76B0-96C8-23FA-671D1FC0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Projekt 3 – PW-CHange-webapp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1CD430-716F-ADDC-CF5D-0E4CC759B4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178D46-E319-27A8-7443-32BF2268F89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C02AAC2-952B-6E29-0FC1-805C3276CDC6}"/>
              </a:ext>
            </a:extLst>
          </p:cNvPr>
          <p:cNvSpPr txBox="1">
            <a:spLocks/>
          </p:cNvSpPr>
          <p:nvPr/>
        </p:nvSpPr>
        <p:spPr bwMode="gray">
          <a:xfrm>
            <a:off x="6205095" y="1574185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 err="1"/>
              <a:t>Result</a:t>
            </a:r>
            <a:endParaRPr lang="de-DE" sz="2000" dirty="0"/>
          </a:p>
          <a:p>
            <a:pPr lvl="1"/>
            <a:r>
              <a:rPr lang="de-DE" sz="2000" dirty="0"/>
              <a:t>Produktiv auf Azure-VM: IIS, DNS, TLS-Zertifikat (Eigener PKI-Prozess)</a:t>
            </a:r>
          </a:p>
          <a:p>
            <a:pPr lvl="1"/>
            <a:r>
              <a:rPr lang="de-DE" sz="2000" dirty="0"/>
              <a:t>End-to-End-Test mit realem Account erfolgreich</a:t>
            </a:r>
          </a:p>
          <a:p>
            <a:pPr lvl="1"/>
            <a:r>
              <a:rPr lang="de-DE" sz="2000" dirty="0"/>
              <a:t>Ticket-Prozess durch Self-Service ersetzt</a:t>
            </a:r>
          </a:p>
          <a:p>
            <a:pPr lvl="1"/>
            <a:r>
              <a:rPr lang="de-DE" sz="2000" dirty="0"/>
              <a:t>Sicher, wartbar, erweiterbar</a:t>
            </a:r>
          </a:p>
          <a:p>
            <a:pPr lvl="1"/>
            <a:r>
              <a:rPr lang="de-DE" sz="2000" dirty="0"/>
              <a:t>Aktuell live in Nutzung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FD52872C-54BA-1E05-1BB8-B0A040EE1AE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41955" r="779" b="-170126"/>
          <a:stretch>
            <a:fillRect/>
          </a:stretch>
        </p:blipFill>
        <p:spPr bwMode="gray">
          <a:xfrm>
            <a:off x="0" y="765175"/>
            <a:ext cx="5988050" cy="5599113"/>
          </a:xfrm>
          <a:prstGeom prst="rect">
            <a:avLst/>
          </a:prstGeom>
          <a:solidFill>
            <a:srgbClr val="BBBCBD"/>
          </a:solidFill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BDE74342-A82A-54E8-F6E1-5145371A2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05745"/>
            <a:ext cx="6096000" cy="305793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8B48DD3D-1564-1805-C36E-EF457350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65175"/>
            <a:ext cx="6096000" cy="80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294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F3D31-48B9-BE9E-DE0A-11399C525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3390AAB-9824-B4A9-241B-9C24FC1E4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BBBEFF-5A57-039F-397A-4A181AA49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CB1E66F-7E5F-7130-6630-F3159429A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reflexion</a:t>
            </a:r>
            <a:endParaRPr lang="de-DE" dirty="0"/>
          </a:p>
        </p:txBody>
      </p:sp>
      <p:pic>
        <p:nvPicPr>
          <p:cNvPr id="7" name="Bildplatzhalter 7">
            <a:extLst>
              <a:ext uri="{FF2B5EF4-FFF2-40B4-BE49-F238E27FC236}">
                <a16:creationId xmlns:a16="http://schemas.microsoft.com/office/drawing/2014/main" id="{3A53E71B-75AE-D172-9BCD-5C7097A3FD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56" r="10656"/>
          <a:stretch>
            <a:fillRect/>
          </a:stretch>
        </p:blipFill>
        <p:spPr bwMode="gray">
          <a:xfrm>
            <a:off x="6203947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9DF1690-F247-02FC-FD63-8A2BD8154F80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Was habe ich mitgenommen?</a:t>
            </a:r>
          </a:p>
          <a:p>
            <a:pPr lvl="1"/>
            <a:r>
              <a:rPr lang="de-DE" sz="2000" dirty="0"/>
              <a:t>Vielfältige Einblicke in den DevOps-Bereich</a:t>
            </a:r>
          </a:p>
          <a:p>
            <a:pPr lvl="1"/>
            <a:r>
              <a:rPr lang="de-DE" sz="2000" dirty="0"/>
              <a:t>Praxisnahe Erfahrung in API- und Web-Entwicklung</a:t>
            </a:r>
          </a:p>
          <a:p>
            <a:pPr lvl="1"/>
            <a:r>
              <a:rPr lang="de-DE" sz="2000" dirty="0"/>
              <a:t>Volle Verantwortung von der Anforderung bis zur Produktion</a:t>
            </a:r>
          </a:p>
          <a:p>
            <a:pPr lvl="1"/>
            <a:r>
              <a:rPr lang="de-DE" sz="2000" dirty="0"/>
              <a:t>Automatisierung ersetzt manuelle Prozesse</a:t>
            </a:r>
          </a:p>
          <a:p>
            <a:pPr lvl="1"/>
            <a:r>
              <a:rPr lang="de-DE" sz="2000" dirty="0"/>
              <a:t>Klarer Ausblick auf die Berufswelt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64BD871-F062-328A-4FFF-982CC46D7D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0590"/>
            <a:ext cx="12192000" cy="6067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50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3BBDB-B2A8-B673-F054-FF567B37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79EDB32-2D28-9A65-7E20-77396B7FB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C6607F-6B3C-9DB4-5752-AB422816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23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34B9C28-B1A2-A52B-2544-80844D004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reflexion</a:t>
            </a:r>
            <a:endParaRPr lang="de-DE" dirty="0"/>
          </a:p>
        </p:txBody>
      </p:sp>
      <p:pic>
        <p:nvPicPr>
          <p:cNvPr id="7" name="Bildplatzhalter 7">
            <a:extLst>
              <a:ext uri="{FF2B5EF4-FFF2-40B4-BE49-F238E27FC236}">
                <a16:creationId xmlns:a16="http://schemas.microsoft.com/office/drawing/2014/main" id="{2A38C87F-C52C-C7F5-54C7-38740670FC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56" r="10656"/>
          <a:stretch>
            <a:fillRect/>
          </a:stretch>
        </p:blipFill>
        <p:spPr bwMode="gray">
          <a:xfrm>
            <a:off x="6203947" y="1592263"/>
            <a:ext cx="5653085" cy="4789490"/>
          </a:xfrm>
          <a:prstGeom prst="rect">
            <a:avLst/>
          </a:prstGeom>
          <a:solidFill>
            <a:srgbClr val="BBBCBD"/>
          </a:solidFill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057C902-0B55-47C7-F2BB-3EC46414DC75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Was habe ich mitgenommen?</a:t>
            </a:r>
          </a:p>
          <a:p>
            <a:pPr lvl="1"/>
            <a:r>
              <a:rPr lang="de-DE" sz="2000" dirty="0"/>
              <a:t>Vielfältige Einblicke in den DevOps-Bereich</a:t>
            </a:r>
          </a:p>
          <a:p>
            <a:pPr lvl="1"/>
            <a:r>
              <a:rPr lang="de-DE" sz="2000" dirty="0"/>
              <a:t>Praxisnahe Erfahrung in API- und Web-Entwicklung</a:t>
            </a:r>
          </a:p>
          <a:p>
            <a:pPr lvl="1"/>
            <a:r>
              <a:rPr lang="de-DE" sz="2000" dirty="0"/>
              <a:t>Volle Verantwortung von der Anforderung bis zur Produktion</a:t>
            </a:r>
          </a:p>
          <a:p>
            <a:pPr lvl="1"/>
            <a:r>
              <a:rPr lang="de-DE" sz="2000" dirty="0"/>
              <a:t>Automatisierung ersetzt manuelle Prozesse</a:t>
            </a:r>
          </a:p>
          <a:p>
            <a:pPr lvl="1"/>
            <a:r>
              <a:rPr lang="de-DE" sz="2000" dirty="0"/>
              <a:t>Klarer Ausblick auf die Berufswelt</a:t>
            </a:r>
          </a:p>
        </p:txBody>
      </p:sp>
    </p:spTree>
    <p:extLst>
      <p:ext uri="{BB962C8B-B14F-4D97-AF65-F5344CB8AC3E}">
        <p14:creationId xmlns:p14="http://schemas.microsoft.com/office/powerpoint/2010/main" val="3529164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E99B920-6723-AABA-6C16-915B2EAAA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9B8622-5F69-6F8E-69B6-AB59DF6F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24</a:t>
            </a:fld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27733E1-C0D0-2A6C-CE4E-47A94455C90E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5651942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dirty="0"/>
              <a:t>VIELEN DANK!</a:t>
            </a:r>
          </a:p>
        </p:txBody>
      </p:sp>
    </p:spTree>
    <p:extLst>
      <p:ext uri="{BB962C8B-B14F-4D97-AF65-F5344CB8AC3E}">
        <p14:creationId xmlns:p14="http://schemas.microsoft.com/office/powerpoint/2010/main" val="786418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D07F4-4A22-7BC4-C033-48EC93B5F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C035BB6-967D-A24D-3A19-8486724DF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BC92098-69FC-484B-18C5-62D4662E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25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5E3CD77-72C3-E827-E569-6B39A6349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C216F7C3-8DC8-F8C8-9D7E-17DD4E186F11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11522074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0" dirty="0"/>
              <a:t>[1] Cloudflare: </a:t>
            </a:r>
            <a:r>
              <a:rPr lang="de-DE" sz="2000" b="0" i="1" dirty="0"/>
              <a:t>Cross-site </a:t>
            </a:r>
            <a:r>
              <a:rPr lang="de-DE" sz="2000" b="0" i="1" dirty="0" err="1"/>
              <a:t>request</a:t>
            </a:r>
            <a:r>
              <a:rPr lang="de-DE" sz="2000" b="0" i="1" dirty="0"/>
              <a:t> </a:t>
            </a:r>
            <a:r>
              <a:rPr lang="de-DE" sz="2000" b="0" i="1" dirty="0" err="1"/>
              <a:t>forgery</a:t>
            </a:r>
            <a:r>
              <a:rPr lang="de-DE" sz="2000" b="0" i="1" dirty="0"/>
              <a:t> (CSRF)</a:t>
            </a:r>
            <a:r>
              <a:rPr lang="de-DE" sz="2000" b="0" dirty="0"/>
              <a:t>. URL: </a:t>
            </a:r>
            <a:r>
              <a:rPr lang="de-DE" sz="2000" b="0" dirty="0">
                <a:hlinkClick r:id="rId2"/>
              </a:rPr>
              <a:t>https://www.cloudflare.com/de-de/learning/security/threats/cross-site-request-forgery/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[2] Cloudflare: </a:t>
            </a:r>
            <a:r>
              <a:rPr lang="de-DE" sz="2000" b="0" i="1" dirty="0"/>
              <a:t>DNS A </a:t>
            </a:r>
            <a:r>
              <a:rPr lang="de-DE" sz="2000" b="0" i="1" dirty="0" err="1"/>
              <a:t>record</a:t>
            </a:r>
            <a:r>
              <a:rPr lang="de-DE" sz="2000" b="0" dirty="0"/>
              <a:t>. URL: </a:t>
            </a:r>
            <a:r>
              <a:rPr lang="de-DE" sz="2000" b="0" dirty="0">
                <a:hlinkClick r:id="rId3"/>
              </a:rPr>
              <a:t>https://www.cloudflare.com/learning/dns/dns-records/dns-a-record/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[3] Cloudflare: </a:t>
            </a:r>
            <a:r>
              <a:rPr lang="de-DE" sz="2000" b="0" i="1" dirty="0"/>
              <a:t>DNS CNAME </a:t>
            </a:r>
            <a:r>
              <a:rPr lang="de-DE" sz="2000" b="0" i="1" dirty="0" err="1"/>
              <a:t>record</a:t>
            </a:r>
            <a:r>
              <a:rPr lang="de-DE" sz="2000" b="0" dirty="0"/>
              <a:t>. URL: </a:t>
            </a:r>
            <a:r>
              <a:rPr lang="de-DE" sz="2000" b="0" dirty="0">
                <a:hlinkClick r:id="rId4"/>
              </a:rPr>
              <a:t>https://www.cloudflare.com/learning/dns/dns-records/dns-cname-record/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[4] Cloudflare: </a:t>
            </a:r>
            <a:r>
              <a:rPr lang="de-DE" sz="2000" b="0" i="1" dirty="0"/>
              <a:t>DNS </a:t>
            </a:r>
            <a:r>
              <a:rPr lang="de-DE" sz="2000" b="0" i="1" dirty="0" err="1"/>
              <a:t>records</a:t>
            </a:r>
            <a:r>
              <a:rPr lang="de-DE" sz="2000" b="0" dirty="0"/>
              <a:t>. URL: </a:t>
            </a:r>
            <a:r>
              <a:rPr lang="de-DE" sz="2000" b="0" dirty="0">
                <a:hlinkClick r:id="rId5"/>
              </a:rPr>
              <a:t>https://www.cloudflare.com/de-de/learning/dns/dns-records/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[5] Cloudflare: </a:t>
            </a:r>
            <a:r>
              <a:rPr lang="de-DE" sz="2000" b="0" i="1" dirty="0"/>
              <a:t>DNS TXT </a:t>
            </a:r>
            <a:r>
              <a:rPr lang="de-DE" sz="2000" b="0" i="1" dirty="0" err="1"/>
              <a:t>record</a:t>
            </a:r>
            <a:r>
              <a:rPr lang="de-DE" sz="2000" b="0" dirty="0"/>
              <a:t>. URL: </a:t>
            </a:r>
            <a:r>
              <a:rPr lang="de-DE" sz="2000" b="0" dirty="0">
                <a:hlinkClick r:id="rId6"/>
              </a:rPr>
              <a:t>https://www.cloudflare.com/learning/dns/dns-records/dns-txt-record/</a:t>
            </a:r>
            <a:r>
              <a:rPr lang="de-DE" sz="2000" b="0" dirty="0"/>
              <a:t> (besucht am 22.09.2026)</a:t>
            </a:r>
          </a:p>
          <a:p>
            <a:r>
              <a:rPr lang="de-DE" sz="2000" b="0" dirty="0"/>
              <a:t>[6] Dash0: </a:t>
            </a:r>
            <a:r>
              <a:rPr lang="de-DE" sz="2000" b="0" i="1" dirty="0" err="1"/>
              <a:t>Serilog</a:t>
            </a:r>
            <a:r>
              <a:rPr lang="de-DE" sz="2000" b="0" i="1" dirty="0"/>
              <a:t> guide</a:t>
            </a:r>
            <a:r>
              <a:rPr lang="de-DE" sz="2000" b="0" dirty="0"/>
              <a:t>. URL: </a:t>
            </a:r>
            <a:r>
              <a:rPr lang="de-DE" sz="2000" b="0" dirty="0">
                <a:hlinkClick r:id="rId7"/>
              </a:rPr>
              <a:t>https://www.dash0.com/guides/serilog</a:t>
            </a:r>
            <a:r>
              <a:rPr lang="de-DE" sz="2000" b="0" dirty="0"/>
              <a:t> (besucht am 22.09.2026)  </a:t>
            </a:r>
          </a:p>
        </p:txBody>
      </p:sp>
    </p:spTree>
    <p:extLst>
      <p:ext uri="{BB962C8B-B14F-4D97-AF65-F5344CB8AC3E}">
        <p14:creationId xmlns:p14="http://schemas.microsoft.com/office/powerpoint/2010/main" val="1321073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BE720-5EE7-2AEE-2061-0C9EFA60D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E857217-B123-752A-9987-6137316AC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72EBFCB-EB72-C7D3-AEBE-672E5B2A4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26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3D99F2EC-5899-B6D5-F669-DE17E60A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4227A39A-5A50-D5E2-CFA1-209E197CB030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11522074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0" dirty="0"/>
              <a:t>[7] </a:t>
            </a:r>
            <a:r>
              <a:rPr lang="de-DE" sz="2000" b="0" dirty="0" err="1"/>
              <a:t>EfficientIP</a:t>
            </a:r>
            <a:r>
              <a:rPr lang="de-DE" sz="2000" b="0" dirty="0"/>
              <a:t>: </a:t>
            </a:r>
            <a:r>
              <a:rPr lang="de-DE" sz="2000" b="0" i="1" dirty="0" err="1"/>
              <a:t>SOLIDserver</a:t>
            </a:r>
            <a:r>
              <a:rPr lang="de-DE" sz="2000" b="0" i="1" dirty="0"/>
              <a:t> for the Cloud 3.4</a:t>
            </a:r>
            <a:r>
              <a:rPr lang="de-DE" sz="2000" b="0" dirty="0"/>
              <a:t>. URL: </a:t>
            </a:r>
            <a:r>
              <a:rPr lang="de-DE" sz="2000" b="0" dirty="0">
                <a:hlinkClick r:id="rId2"/>
              </a:rPr>
              <a:t>https://efficientip.com/resources/solidserver-for-the-cloud-3-4/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[8] Heraeus: </a:t>
            </a:r>
            <a:r>
              <a:rPr lang="de-DE" sz="2000" b="0" i="1" dirty="0"/>
              <a:t>Geschichte von Heraeus</a:t>
            </a:r>
            <a:r>
              <a:rPr lang="de-DE" sz="2000" b="0" dirty="0"/>
              <a:t>. URL: </a:t>
            </a:r>
            <a:r>
              <a:rPr lang="de-DE" sz="2000" b="0" dirty="0">
                <a:hlinkClick r:id="rId3"/>
              </a:rPr>
              <a:t>https://www.heraeus.com/de/about-heraeus/history/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[9] IBM: </a:t>
            </a:r>
            <a:r>
              <a:rPr lang="de-DE" sz="2000" b="0" i="1" dirty="0"/>
              <a:t>DNS </a:t>
            </a:r>
            <a:r>
              <a:rPr lang="de-DE" sz="2000" b="0" i="1" dirty="0" err="1"/>
              <a:t>records</a:t>
            </a:r>
            <a:r>
              <a:rPr lang="de-DE" sz="2000" b="0" dirty="0"/>
              <a:t>. URL: </a:t>
            </a:r>
            <a:r>
              <a:rPr lang="de-DE" sz="2000" b="0" dirty="0">
                <a:hlinkClick r:id="rId4"/>
              </a:rPr>
              <a:t>https://www.ibm.com/de-de/think/topics/dns-records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[10] Microsoft: </a:t>
            </a:r>
            <a:r>
              <a:rPr lang="de-DE" sz="2000" b="0" i="1" dirty="0"/>
              <a:t>ASP.NET Core </a:t>
            </a:r>
            <a:r>
              <a:rPr lang="de-DE" sz="2000" b="0" i="1" dirty="0" err="1"/>
              <a:t>overview</a:t>
            </a:r>
            <a:r>
              <a:rPr lang="de-DE" sz="2000" b="0" dirty="0"/>
              <a:t>. URL: </a:t>
            </a:r>
            <a:r>
              <a:rPr lang="de-DE" sz="2000" b="0" dirty="0">
                <a:hlinkClick r:id="rId5"/>
              </a:rPr>
              <a:t>https://learn.microsoft.com/de-de/aspnet/core/overview?view=aspnetcore-10.0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[11] Microsoft: </a:t>
            </a:r>
            <a:r>
              <a:rPr lang="de-DE" sz="2000" b="0" i="1" dirty="0"/>
              <a:t>ASP.NET </a:t>
            </a:r>
            <a:r>
              <a:rPr lang="de-DE" sz="2000" b="0" i="1" dirty="0" err="1"/>
              <a:t>overview</a:t>
            </a:r>
            <a:r>
              <a:rPr lang="de-DE" sz="2000" b="0" dirty="0"/>
              <a:t>. URL: </a:t>
            </a:r>
            <a:r>
              <a:rPr lang="de-DE" sz="2000" b="0" dirty="0">
                <a:hlinkClick r:id="rId6"/>
              </a:rPr>
              <a:t>https://learn.microsoft.com/de-de/aspnet/overview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[12] Microsoft: </a:t>
            </a:r>
            <a:r>
              <a:rPr lang="de-DE" sz="2000" b="0" i="1" dirty="0"/>
              <a:t>DHCP </a:t>
            </a:r>
            <a:r>
              <a:rPr lang="de-DE" sz="2000" b="0" i="1" dirty="0" err="1"/>
              <a:t>scopes</a:t>
            </a:r>
            <a:r>
              <a:rPr lang="de-DE" sz="2000" b="0" dirty="0"/>
              <a:t>. URL: </a:t>
            </a:r>
            <a:r>
              <a:rPr lang="de-DE" sz="2000" b="0" dirty="0">
                <a:hlinkClick r:id="rId7"/>
              </a:rPr>
              <a:t>https://learn.microsoft.com/de-de/windows-server/networking/technologies/dhcp/dhcp-scopes</a:t>
            </a:r>
            <a:r>
              <a:rPr lang="de-DE" sz="2000" b="0" dirty="0"/>
              <a:t> (besucht am 22.09.2026) </a:t>
            </a:r>
          </a:p>
        </p:txBody>
      </p:sp>
    </p:spTree>
    <p:extLst>
      <p:ext uri="{BB962C8B-B14F-4D97-AF65-F5344CB8AC3E}">
        <p14:creationId xmlns:p14="http://schemas.microsoft.com/office/powerpoint/2010/main" val="59890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DE0DD-A798-51F2-D6A3-9D496242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9C10A7-E1CF-6411-3804-36D65B42B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D34F28C-0AB7-8E15-AC51-340548DE3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27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9607A818-B14B-80E8-1BB9-93F6CDD3C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8D430051-3566-C31F-DC18-E3630CEF4E67}"/>
              </a:ext>
            </a:extLst>
          </p:cNvPr>
          <p:cNvSpPr txBox="1">
            <a:spLocks/>
          </p:cNvSpPr>
          <p:nvPr/>
        </p:nvSpPr>
        <p:spPr bwMode="gray">
          <a:xfrm>
            <a:off x="334963" y="1592263"/>
            <a:ext cx="11522074" cy="47894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lang="de-DE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0" dirty="0"/>
              <a:t>[13] </a:t>
            </a:r>
            <a:r>
              <a:rPr lang="de-DE" sz="2000" b="0" dirty="0" err="1"/>
              <a:t>Red</a:t>
            </a:r>
            <a:r>
              <a:rPr lang="de-DE" sz="2000" b="0" dirty="0"/>
              <a:t> Hat: </a:t>
            </a:r>
            <a:r>
              <a:rPr lang="de-DE" sz="2000" b="0" i="1" dirty="0" err="1"/>
              <a:t>What</a:t>
            </a:r>
            <a:r>
              <a:rPr lang="de-DE" sz="2000" b="0" i="1" dirty="0"/>
              <a:t> </a:t>
            </a:r>
            <a:r>
              <a:rPr lang="de-DE" sz="2000" b="0" i="1" dirty="0" err="1"/>
              <a:t>is</a:t>
            </a:r>
            <a:r>
              <a:rPr lang="de-DE" sz="2000" b="0" i="1" dirty="0"/>
              <a:t> LDAP </a:t>
            </a:r>
            <a:r>
              <a:rPr lang="de-DE" sz="2000" b="0" i="1" dirty="0" err="1"/>
              <a:t>authentication</a:t>
            </a:r>
            <a:r>
              <a:rPr lang="de-DE" sz="2000" b="0" i="1" dirty="0"/>
              <a:t>?</a:t>
            </a:r>
            <a:r>
              <a:rPr lang="de-DE" sz="2000" b="0" dirty="0"/>
              <a:t>. URL: </a:t>
            </a:r>
            <a:r>
              <a:rPr lang="de-DE" sz="2000" b="0" dirty="0">
                <a:hlinkClick r:id="rId2"/>
              </a:rPr>
              <a:t>https://www.redhat.com/de/topics/security/what-is-ldap-authentication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[14] </a:t>
            </a:r>
            <a:r>
              <a:rPr lang="de-DE" sz="2000" b="0" dirty="0" err="1"/>
              <a:t>Rublon</a:t>
            </a:r>
            <a:r>
              <a:rPr lang="de-DE" sz="2000" b="0" dirty="0"/>
              <a:t>: </a:t>
            </a:r>
            <a:r>
              <a:rPr lang="de-DE" sz="2000" b="0" i="1" dirty="0"/>
              <a:t>LDAP vs. LDAPS</a:t>
            </a:r>
            <a:r>
              <a:rPr lang="de-DE" sz="2000" b="0" dirty="0"/>
              <a:t>. URL: </a:t>
            </a:r>
            <a:r>
              <a:rPr lang="de-DE" sz="2000" b="0" dirty="0">
                <a:hlinkClick r:id="rId3"/>
              </a:rPr>
              <a:t>https://rublon.com/blog/ldap-ldaps-difference/</a:t>
            </a:r>
            <a:r>
              <a:rPr lang="de-DE" sz="2000" b="0" dirty="0"/>
              <a:t> (besucht am 22.09.2026) </a:t>
            </a:r>
          </a:p>
          <a:p>
            <a:r>
              <a:rPr lang="de-DE" sz="2000" b="0" dirty="0"/>
              <a:t>[15] ServiceNow: </a:t>
            </a:r>
            <a:r>
              <a:rPr lang="de-DE" sz="2000" b="0" i="1" dirty="0"/>
              <a:t>Was ist ServiceNow?</a:t>
            </a:r>
            <a:r>
              <a:rPr lang="de-DE" sz="2000" b="0" dirty="0"/>
              <a:t>. URL: </a:t>
            </a:r>
            <a:r>
              <a:rPr lang="de-DE" sz="2000" b="0" dirty="0">
                <a:hlinkClick r:id="rId4"/>
              </a:rPr>
              <a:t>https://www.servicenow.com/de/what-is-servicenow.html</a:t>
            </a:r>
            <a:r>
              <a:rPr lang="de-DE" sz="2000" b="0" dirty="0"/>
              <a:t> (besucht am 22.09.2026)</a:t>
            </a:r>
          </a:p>
          <a:p>
            <a:r>
              <a:rPr lang="de-DE" sz="2000" b="0" dirty="0"/>
              <a:t>[16] </a:t>
            </a:r>
            <a:r>
              <a:rPr lang="de-DE" sz="2000" b="0" dirty="0" err="1"/>
              <a:t>GuideVision</a:t>
            </a:r>
            <a:r>
              <a:rPr lang="de-DE" sz="2000" b="0" dirty="0"/>
              <a:t> Deutschland GmbH: </a:t>
            </a:r>
            <a:r>
              <a:rPr lang="de-DE" sz="2000" b="0" i="1" dirty="0"/>
              <a:t>Mit ServiceNow und </a:t>
            </a:r>
            <a:r>
              <a:rPr lang="de-DE" sz="2000" b="0" i="1" dirty="0" err="1"/>
              <a:t>Tanium</a:t>
            </a:r>
            <a:r>
              <a:rPr lang="de-DE" sz="2000" b="0" i="1" dirty="0"/>
              <a:t> zu modernen IT-Workflows</a:t>
            </a:r>
            <a:r>
              <a:rPr lang="de-DE" sz="2000" b="0" dirty="0"/>
              <a:t>. </a:t>
            </a:r>
            <a:r>
              <a:rPr lang="de-DE" sz="2000" b="0" dirty="0" err="1"/>
              <a:t>PresseBox</a:t>
            </a:r>
            <a:r>
              <a:rPr lang="de-DE" sz="2000" b="0" dirty="0"/>
              <a:t>. URL: </a:t>
            </a:r>
            <a:r>
              <a:rPr lang="de-DE" sz="2000" b="0" dirty="0">
                <a:hlinkClick r:id="rId5"/>
              </a:rPr>
              <a:t>https://www.pressebox.de/pressemitteilung/guidevision-deutschland-gmbh/mit-servicenow-und-tanium-zu-modernen-it-workflows/</a:t>
            </a:r>
            <a:r>
              <a:rPr lang="de-DE" sz="2000" b="0" dirty="0"/>
              <a:t> (besucht am 22.09.2026)</a:t>
            </a:r>
          </a:p>
          <a:p>
            <a:r>
              <a:rPr lang="de-DE" sz="2000" b="0" dirty="0"/>
              <a:t>[17] Logos-World: </a:t>
            </a:r>
            <a:r>
              <a:rPr lang="de-DE" sz="2000" b="0" i="1" dirty="0"/>
              <a:t>Azure DevOps Logo and Symbol, </a:t>
            </a:r>
            <a:r>
              <a:rPr lang="de-DE" sz="2000" b="0" i="1" dirty="0" err="1"/>
              <a:t>Meaning</a:t>
            </a:r>
            <a:r>
              <a:rPr lang="de-DE" sz="2000" b="0" i="1" dirty="0"/>
              <a:t>, </a:t>
            </a:r>
            <a:r>
              <a:rPr lang="de-DE" sz="2000" b="0" i="1" dirty="0" err="1"/>
              <a:t>History</a:t>
            </a:r>
            <a:r>
              <a:rPr lang="de-DE" sz="2000" b="0" i="1" dirty="0"/>
              <a:t>, PNG, Brand</a:t>
            </a:r>
            <a:r>
              <a:rPr lang="de-DE" sz="2000" b="0" dirty="0"/>
              <a:t>. URL: </a:t>
            </a:r>
            <a:r>
              <a:rPr lang="de-DE" sz="2000" b="0" dirty="0">
                <a:hlinkClick r:id="rId6"/>
              </a:rPr>
              <a:t>https://logos-world.net/azure-devops-logo/</a:t>
            </a:r>
            <a:r>
              <a:rPr lang="de-DE" sz="2000" b="0" dirty="0"/>
              <a:t> (besucht am 22.09.2026)</a:t>
            </a:r>
          </a:p>
          <a:p>
            <a:r>
              <a:rPr lang="de-DE" sz="2000" b="0" dirty="0"/>
              <a:t>[18] </a:t>
            </a:r>
            <a:r>
              <a:rPr lang="de-DE" sz="2000" b="0" dirty="0" err="1"/>
              <a:t>seeklogo</a:t>
            </a:r>
            <a:r>
              <a:rPr lang="de-DE" sz="2000" b="0" dirty="0"/>
              <a:t>: </a:t>
            </a:r>
            <a:r>
              <a:rPr lang="de-DE" sz="2000" b="0" i="1" dirty="0" err="1"/>
              <a:t>Active</a:t>
            </a:r>
            <a:r>
              <a:rPr lang="de-DE" sz="2000" b="0" i="1" dirty="0"/>
              <a:t> Directory Vector Logo</a:t>
            </a:r>
            <a:r>
              <a:rPr lang="de-DE" sz="2000" b="0" dirty="0"/>
              <a:t>. URL: </a:t>
            </a:r>
            <a:r>
              <a:rPr lang="de-DE" sz="2000" b="0" dirty="0">
                <a:hlinkClick r:id="rId7"/>
              </a:rPr>
              <a:t>https://seeklogo.com/vector-logo/331553/active-directory</a:t>
            </a:r>
            <a:r>
              <a:rPr lang="de-DE" sz="2000" b="0" dirty="0"/>
              <a:t> (besucht am 22.09.2026)</a:t>
            </a:r>
          </a:p>
          <a:p>
            <a:r>
              <a:rPr lang="de-DE" sz="2000" b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4377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ter_NEW">
  <a:themeElements>
    <a:clrScheme name="Heraeus Blue1">
      <a:dk1>
        <a:srgbClr val="000000"/>
      </a:dk1>
      <a:lt1>
        <a:srgbClr val="FFFFFF"/>
      </a:lt1>
      <a:dk2>
        <a:srgbClr val="535456"/>
      </a:dk2>
      <a:lt2>
        <a:srgbClr val="F6F6F6"/>
      </a:lt2>
      <a:accent1>
        <a:srgbClr val="007EB9"/>
      </a:accent1>
      <a:accent2>
        <a:srgbClr val="37A8E0"/>
      </a:accent2>
      <a:accent3>
        <a:srgbClr val="84C5ED"/>
      </a:accent3>
      <a:accent4>
        <a:srgbClr val="C8E2F7"/>
      </a:accent4>
      <a:accent5>
        <a:srgbClr val="002E63"/>
      </a:accent5>
      <a:accent6>
        <a:srgbClr val="00559D"/>
      </a:accent6>
      <a:hlink>
        <a:srgbClr val="007EB9"/>
      </a:hlink>
      <a:folHlink>
        <a:srgbClr val="838487"/>
      </a:folHlink>
    </a:clrScheme>
    <a:fontScheme name="Arial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E3E3E3"/>
        </a:solidFill>
        <a:ln>
          <a:noFill/>
        </a:ln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>
          <a:defRPr dirty="0" err="1" smtClean="0">
            <a:solidFill>
              <a:schemeClr val="tx2">
                <a:lumMod val="75000"/>
              </a:schemeClr>
            </a:solidFill>
          </a:defRPr>
        </a:defPPr>
      </a:lstStyle>
    </a:txDef>
  </a:objectDefaults>
  <a:extraClrSchemeLst/>
  <a:custClrLst>
    <a:custClr name="Dark Gray">
      <a:srgbClr val="535456"/>
    </a:custClr>
    <a:custClr name="Deep Gray (Palladium)">
      <a:srgbClr val="6B6C6E"/>
    </a:custClr>
    <a:custClr name="Heraeus Gray (Platinum)">
      <a:srgbClr val="838487"/>
    </a:custClr>
    <a:custClr name="Light Gray (Silver)">
      <a:srgbClr val="BBBCBD"/>
    </a:custClr>
    <a:custClr name="Soft Gray">
      <a:srgbClr val="E3E3E3"/>
    </a:custClr>
    <a:custClr name="Pale Gray">
      <a:srgbClr val="F6F6F6"/>
    </a:custClr>
    <a:custClr name="Dark Blue">
      <a:srgbClr val="002E63"/>
    </a:custClr>
    <a:custClr name="Deep Blue">
      <a:srgbClr val="00559D"/>
    </a:custClr>
    <a:custClr name="Heraeus Blue">
      <a:srgbClr val="007EB9"/>
    </a:custClr>
    <a:custClr name="Light Blue">
      <a:srgbClr val="37A8E0"/>
    </a:custClr>
    <a:custClr name="Soft Blue">
      <a:srgbClr val="84C5ED"/>
    </a:custClr>
    <a:custClr name="Pale Blue">
      <a:srgbClr val="C8E2F7"/>
    </a:custClr>
    <a:custClr name="Dark Green">
      <a:srgbClr val="0C5A28"/>
    </a:custClr>
    <a:custClr name="Deep Green">
      <a:srgbClr val="3B8933"/>
    </a:custClr>
    <a:custClr name="Heraeus Green">
      <a:srgbClr val="72B904"/>
    </a:custClr>
    <a:custClr name="Light Green">
      <a:srgbClr val="BAD150"/>
    </a:custClr>
    <a:custClr name="Soft Green">
      <a:srgbClr val="DBE38F"/>
    </a:custClr>
    <a:custClr name="Pale Green">
      <a:srgbClr val="ECF2DA"/>
    </a:custClr>
    <a:custClr name="Dark Yellow (Gold)">
      <a:srgbClr val="A58000"/>
    </a:custClr>
    <a:custClr name="Deep Yellow">
      <a:srgbClr val="DEA600"/>
    </a:custClr>
    <a:custClr name="Heraeus Yellow">
      <a:srgbClr val="FFD200"/>
    </a:custClr>
    <a:custClr name="Light Yellow">
      <a:srgbClr val="FFDF43"/>
    </a:custClr>
    <a:custClr name="Soft Yellow">
      <a:srgbClr val="FFEB7F"/>
    </a:custClr>
    <a:custClr name="Pale Yellow">
      <a:srgbClr val="FFF9C7"/>
    </a:custClr>
    <a:custClr name="Dark Orange">
      <a:srgbClr val="9D140E"/>
    </a:custClr>
    <a:custClr name="Deep Orange">
      <a:srgbClr val="BF420C"/>
    </a:custClr>
    <a:custClr name="Heraeus Orange">
      <a:srgbClr val="EF8700"/>
    </a:custClr>
    <a:custClr name="Light Orange">
      <a:srgbClr val="F7A83B"/>
    </a:custClr>
    <a:custClr name="Soft Orange">
      <a:srgbClr val="FDD490"/>
    </a:custClr>
    <a:custClr name="Pale Orange">
      <a:srgbClr val="FEECD5"/>
    </a:custClr>
    <a:custClr name="Dark Purple">
      <a:srgbClr val="520937"/>
    </a:custClr>
    <a:custClr name="Deep Purple">
      <a:srgbClr val="7F1557"/>
    </a:custClr>
    <a:custClr name="Heraeus Purple">
      <a:srgbClr val="9B006B"/>
    </a:custClr>
    <a:custClr name="Light Purple">
      <a:srgbClr val="BD6392"/>
    </a:custClr>
    <a:custClr name="Soft Purple">
      <a:srgbClr val="E3ADC3"/>
    </a:custClr>
    <a:custClr name="Pale Purple">
      <a:srgbClr val="E9DAE5"/>
    </a:custClr>
  </a:custClrLst>
  <a:extLst>
    <a:ext uri="{05A4C25C-085E-4340-85A3-A5531E510DB2}">
      <thm15:themeFamily xmlns:thm15="http://schemas.microsoft.com/office/thememl/2012/main" name="Title_Slide_Pool.potx" id="{AAB35D65-0521-458D-9168-8B9D53B9717D}" vid="{50FCEBC9-CD63-4333-94BC-2AC189134D7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Title_Slide_Pool</Template>
  <TotalTime>0</TotalTime>
  <Words>1496</Words>
  <Application>Microsoft Office PowerPoint</Application>
  <PresentationFormat>Breitbild</PresentationFormat>
  <Paragraphs>232</Paragraphs>
  <Slides>27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2" baseType="lpstr">
      <vt:lpstr>Arial</vt:lpstr>
      <vt:lpstr>Arial Black</vt:lpstr>
      <vt:lpstr>Calibri</vt:lpstr>
      <vt:lpstr>Wingdings</vt:lpstr>
      <vt:lpstr>Master_NEW</vt:lpstr>
      <vt:lpstr>Cloud infrastructure automation  </vt:lpstr>
      <vt:lpstr>Agenda – 6 topics</vt:lpstr>
      <vt:lpstr>Einführung</vt:lpstr>
      <vt:lpstr>Backend team</vt:lpstr>
      <vt:lpstr>Backend team</vt:lpstr>
      <vt:lpstr>Daily tools</vt:lpstr>
      <vt:lpstr>Projekt 1 - logging</vt:lpstr>
      <vt:lpstr>Projekt 1 - logging</vt:lpstr>
      <vt:lpstr>Projekt 1 - logging</vt:lpstr>
      <vt:lpstr>Projekt 1 - logging</vt:lpstr>
      <vt:lpstr>Projekt 1 - logging</vt:lpstr>
      <vt:lpstr>Projekt 1 - logging</vt:lpstr>
      <vt:lpstr>Projekt 2 – TXT-Records</vt:lpstr>
      <vt:lpstr>Projekt 2 – TXT-Records</vt:lpstr>
      <vt:lpstr>Projekt 2 – TXT-Records</vt:lpstr>
      <vt:lpstr>Projekt 2 – TXT-Records</vt:lpstr>
      <vt:lpstr>Projekt 2 – TXT-Records</vt:lpstr>
      <vt:lpstr>Projekt 3 – PW-CHange-webapp</vt:lpstr>
      <vt:lpstr>Projekt 3 – PW-CHange-webapp</vt:lpstr>
      <vt:lpstr>Projekt 3 – PW-CHange-webapp</vt:lpstr>
      <vt:lpstr>Projekt 3 – PW-CHange-webapp</vt:lpstr>
      <vt:lpstr>reflexion</vt:lpstr>
      <vt:lpstr>reflexion</vt:lpstr>
      <vt:lpstr>PowerPoint-Präsentation</vt:lpstr>
      <vt:lpstr>quellen</vt:lpstr>
      <vt:lpstr>quellen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Akalai, Nassim</dc:creator>
  <cp:lastModifiedBy>Nassim Akalai</cp:lastModifiedBy>
  <cp:revision>3</cp:revision>
  <dcterms:created xsi:type="dcterms:W3CDTF">2026-09-22T17:53:56Z</dcterms:created>
  <dcterms:modified xsi:type="dcterms:W3CDTF">2026-09-22T21:10:34Z</dcterms:modified>
</cp:coreProperties>
</file>