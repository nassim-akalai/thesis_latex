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62" r:id="rId2"/>
    <p:sldId id="259" r:id="rId3"/>
    <p:sldId id="3932" r:id="rId4"/>
    <p:sldId id="3933" r:id="rId5"/>
    <p:sldId id="3935" r:id="rId6"/>
    <p:sldId id="3973" r:id="rId7"/>
    <p:sldId id="3962" r:id="rId8"/>
    <p:sldId id="3961" r:id="rId9"/>
    <p:sldId id="3965" r:id="rId10"/>
    <p:sldId id="3966" r:id="rId11"/>
    <p:sldId id="3963" r:id="rId12"/>
    <p:sldId id="3964" r:id="rId13"/>
    <p:sldId id="3934" r:id="rId14"/>
    <p:sldId id="3974" r:id="rId15"/>
    <p:sldId id="3975" r:id="rId16"/>
    <p:sldId id="3937" r:id="rId17"/>
    <p:sldId id="3956" r:id="rId18"/>
    <p:sldId id="3941" r:id="rId19"/>
    <p:sldId id="3957" r:id="rId20"/>
    <p:sldId id="3938" r:id="rId21"/>
    <p:sldId id="3958" r:id="rId22"/>
    <p:sldId id="3959" r:id="rId23"/>
    <p:sldId id="3939" r:id="rId24"/>
    <p:sldId id="3942" r:id="rId25"/>
    <p:sldId id="3943" r:id="rId26"/>
    <p:sldId id="3945" r:id="rId27"/>
    <p:sldId id="3946" r:id="rId28"/>
    <p:sldId id="3944" r:id="rId29"/>
    <p:sldId id="3947" r:id="rId30"/>
    <p:sldId id="3960" r:id="rId31"/>
    <p:sldId id="3948" r:id="rId32"/>
    <p:sldId id="3949" r:id="rId33"/>
    <p:sldId id="3953" r:id="rId34"/>
    <p:sldId id="3970" r:id="rId35"/>
    <p:sldId id="3950" r:id="rId36"/>
    <p:sldId id="3969" r:id="rId37"/>
    <p:sldId id="3954" r:id="rId38"/>
    <p:sldId id="3976" r:id="rId39"/>
    <p:sldId id="3977" r:id="rId40"/>
    <p:sldId id="3952" r:id="rId41"/>
    <p:sldId id="3967" r:id="rId42"/>
    <p:sldId id="3972" r:id="rId4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CF3"/>
          </a:solidFill>
        </a:fill>
      </a:tcStyle>
    </a:wholeTbl>
    <a:band1H>
      <a:tcStyle>
        <a:tcBdr/>
        <a:fill>
          <a:solidFill>
            <a:srgbClr val="CBD8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D8E6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7EB9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7EB9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7EB9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7EB9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0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3F40EA7-CBB8-4D8D-F188-90ADA3E8547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729ADA-C3CB-A675-A041-1BFF46DECB4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2362449F-1297-4C4F-93AD-C3CFC8FAAE53}" type="datetime1">
              <a:rPr lang="de-DE"/>
              <a:pPr lvl="0"/>
              <a:t>22.09.2026</a:t>
            </a:fld>
            <a:endParaRPr 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0A285C7E-4543-E7DF-2B0C-F0CF394ED6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77BEC1F0-3B27-89B4-3A6B-31D03DF40D3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CCEE8B-CD56-FE67-AA38-C64DD3B9F4D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60122D-1A3D-5900-A5E9-76C9285B51D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E38A2A65-9254-49B2-8B47-820C154F49B5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20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7DF49-770C-5B04-0130-DE1EB7DE0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1B377-01EF-4315-1C9A-24C9676D12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EE774-72C0-DF05-F224-0A6462A13F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CCBA232-D737-4E32-8BCD-8C27265E624C}" type="slidenum"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180535"/>
      </p:ext>
    </p:extLst>
  </p:cSld>
  <p:clrMapOvr>
    <a:masterClrMapping/>
  </p:clrMapOvr>
  <p:transition spd="med">
    <p:fade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42755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294953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48520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285875"/>
      </p:ext>
    </p:extLst>
  </p:cSld>
  <p:clrMapOvr>
    <a:masterClrMapping/>
  </p:clrMapOvr>
  <p:transition spd="med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24536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39334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20643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186855"/>
      </p:ext>
    </p:extLst>
  </p:cSld>
  <p:clrMapOvr>
    <a:masterClrMapping/>
  </p:clrMapOvr>
  <p:transition spd="med"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951790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269505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925664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717370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ia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10535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4">
            <a:extLst>
              <a:ext uri="{FF2B5EF4-FFF2-40B4-BE49-F238E27FC236}">
                <a16:creationId xmlns:a16="http://schemas.microsoft.com/office/drawing/2014/main" id="{69EB1CD4-38F4-4AD5-9EDB-991EDC10F8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3B58F4-F7E6-4196-B2B8-64B14DCCCF2C}" type="slidenum">
              <a:t>‹Nr.›</a:t>
            </a:fld>
            <a:endParaRPr lang="de-DE"/>
          </a:p>
        </p:txBody>
      </p:sp>
      <p:sp>
        <p:nvSpPr>
          <p:cNvPr id="3" name="Titel 22">
            <a:extLst>
              <a:ext uri="{FF2B5EF4-FFF2-40B4-BE49-F238E27FC236}">
                <a16:creationId xmlns:a16="http://schemas.microsoft.com/office/drawing/2014/main" id="{E3B8DB73-3801-3388-CDF7-CE3F260F819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245707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9">
            <a:extLst>
              <a:ext uri="{FF2B5EF4-FFF2-40B4-BE49-F238E27FC236}">
                <a16:creationId xmlns:a16="http://schemas.microsoft.com/office/drawing/2014/main" id="{75FCB593-8E62-194B-2037-C101CE7221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13049" y="3975070"/>
            <a:ext cx="3643993" cy="1899775"/>
          </a:xfrm>
        </p:spPr>
        <p:txBody>
          <a:bodyPr anchor="b"/>
          <a:lstStyle>
            <a:lvl1pPr>
              <a:defRPr b="0"/>
            </a:lvl1pPr>
          </a:lstStyle>
          <a:p>
            <a:pPr lvl="0"/>
            <a:r>
              <a:rPr lang="de-DE"/>
              <a:t>Insert text here. Lorem ipsum dolor sit amet, consetetur sadipscing elitr, sed diam nonumy eirmod tempor invidunt ut labore et dolore magna aliquyam erat.  </a:t>
            </a:r>
          </a:p>
        </p:txBody>
      </p:sp>
      <p:sp>
        <p:nvSpPr>
          <p:cNvPr id="3" name="Textplatzhalter 29">
            <a:extLst>
              <a:ext uri="{FF2B5EF4-FFF2-40B4-BE49-F238E27FC236}">
                <a16:creationId xmlns:a16="http://schemas.microsoft.com/office/drawing/2014/main" id="{24857A22-9BF2-0CE2-2E1F-EDD629E6474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344110" y="3975070"/>
            <a:ext cx="3643938" cy="1900799"/>
          </a:xfrm>
        </p:spPr>
        <p:txBody>
          <a:bodyPr anchor="b"/>
          <a:lstStyle>
            <a:lvl1pPr>
              <a:defRPr b="0"/>
            </a:lvl1pPr>
          </a:lstStyle>
          <a:p>
            <a:pPr lvl="0"/>
            <a:r>
              <a:rPr lang="de-DE"/>
              <a:t>Insert text here. Lorem ipsum dolor sit amet, consetetur sadipscing elitr, sed diam nonumy eirmod.</a:t>
            </a:r>
          </a:p>
        </p:txBody>
      </p:sp>
      <p:sp>
        <p:nvSpPr>
          <p:cNvPr id="4" name="Textplatzhalter 29">
            <a:extLst>
              <a:ext uri="{FF2B5EF4-FFF2-40B4-BE49-F238E27FC236}">
                <a16:creationId xmlns:a16="http://schemas.microsoft.com/office/drawing/2014/main" id="{64C72C85-F441-0E62-7627-0145EDAE633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213442" y="1593287"/>
            <a:ext cx="3643591" cy="1899775"/>
          </a:xfrm>
        </p:spPr>
        <p:txBody>
          <a:bodyPr anchor="b"/>
          <a:lstStyle>
            <a:lvl1pPr>
              <a:defRPr b="0"/>
            </a:lvl1pPr>
          </a:lstStyle>
          <a:p>
            <a:pPr lvl="0"/>
            <a:r>
              <a:rPr lang="de-DE"/>
              <a:t>Insert text here. Lorem ipsum dolor sit amet, consetetur sadipscing elitr, sed diam nonumy eirmod.</a:t>
            </a:r>
          </a:p>
        </p:txBody>
      </p:sp>
      <p:sp>
        <p:nvSpPr>
          <p:cNvPr id="5" name="Textplatzhalter 29">
            <a:extLst>
              <a:ext uri="{FF2B5EF4-FFF2-40B4-BE49-F238E27FC236}">
                <a16:creationId xmlns:a16="http://schemas.microsoft.com/office/drawing/2014/main" id="{D1EA7CD0-C763-78DA-8061-DB1EF404A6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343406" y="1592263"/>
            <a:ext cx="3644642" cy="1900799"/>
          </a:xfrm>
        </p:spPr>
        <p:txBody>
          <a:bodyPr anchor="b"/>
          <a:lstStyle>
            <a:lvl1pPr>
              <a:defRPr b="0"/>
            </a:lvl1pPr>
          </a:lstStyle>
          <a:p>
            <a:pPr lvl="0"/>
            <a:r>
              <a:rPr lang="de-DE"/>
              <a:t>Insert text here. Lorem ipsum dolor sit amet, consetetur sadipscing elitr, sed diam nonumy eirmod tempor invidunt ut labore et dolore magna aliquyam erat.  </a:t>
            </a:r>
          </a:p>
        </p:txBody>
      </p:sp>
    </p:spTree>
    <p:extLst>
      <p:ext uri="{BB962C8B-B14F-4D97-AF65-F5344CB8AC3E}">
        <p14:creationId xmlns:p14="http://schemas.microsoft.com/office/powerpoint/2010/main" val="2306554334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Boxes_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FF19D894-0A7B-2F3F-6EB4-BF3C05B7F49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11522070" cy="55363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07ECFE1-D07A-1E25-92CC-4A7CCAD134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95DBE2-02AB-09F6-4C6D-6315A6DFCAF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0B9D7E-ECD5-4494-A317-D1222FE15C4A}" type="datetime1">
              <a:rPr lang="en-US"/>
              <a:pPr lvl="0"/>
              <a:t>9/22/2026</a:t>
            </a:fld>
            <a:endParaRPr lang="de-DE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83C2C517-FCFF-DC73-0CD8-28B2B6A8199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6">
            <a:extLst>
              <a:ext uri="{FF2B5EF4-FFF2-40B4-BE49-F238E27FC236}">
                <a16:creationId xmlns:a16="http://schemas.microsoft.com/office/drawing/2014/main" id="{80CE928C-8D30-ADBB-E404-9FD4D8CD3A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299F46B-905F-48B7-9AA4-77DAAC7D57D4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805780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3A98F-929C-481C-1469-ED4852AD1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93542-3740-729F-9DEB-35ED9D9DA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963" y="1592272"/>
            <a:ext cx="11522070" cy="478945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  <a:p>
            <a:pPr lvl="8"/>
            <a:r>
              <a:rPr lang="de-DE"/>
              <a:t>Zehnte Ebene</a:t>
            </a:r>
          </a:p>
          <a:p>
            <a:pPr lvl="6"/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1670173-B6A5-D237-1398-51B8207B7D7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34963" y="6524984"/>
            <a:ext cx="9155192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535456"/>
                </a:solidFill>
                <a:uFillTx/>
                <a:latin typeface="Arial"/>
                <a:ea typeface="Microsoft YaHei"/>
              </a:defRPr>
            </a:lvl1pPr>
          </a:lstStyle>
          <a:p>
            <a:pPr lvl="0"/>
            <a:endParaRPr lang="de-D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CBB613-E6D7-F17D-D9D8-B9763237930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535456"/>
                </a:solidFill>
                <a:uFillTx/>
                <a:latin typeface="Arial"/>
                <a:ea typeface="Microsoft YaHei"/>
              </a:defRPr>
            </a:lvl1pPr>
          </a:lstStyle>
          <a:p>
            <a:pPr lvl="0"/>
            <a:fld id="{078EDC64-C5E0-4349-98A7-A6B3F8C92358}" type="slidenum">
              <a:t>‹Nr.›</a:t>
            </a:fld>
            <a:endParaRPr lang="de-DE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034F53D-2720-6D6F-A9C4-D152B42900D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9607326" y="6524984"/>
            <a:ext cx="689046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535456"/>
                </a:solidFill>
                <a:uFillTx/>
                <a:latin typeface="Arial"/>
                <a:ea typeface="Microsoft YaHei"/>
              </a:defRPr>
            </a:lvl1pPr>
          </a:lstStyle>
          <a:p>
            <a:pPr lvl="0"/>
            <a:fld id="{63E003FD-F873-4EA5-B4D8-06037FB1E87B}" type="datetime1">
              <a:rPr lang="en-US"/>
              <a:pPr lvl="0"/>
              <a:t>9/22/2026</a:t>
            </a:fld>
            <a:endParaRPr lang="de-DE"/>
          </a:p>
        </p:txBody>
      </p:sp>
      <p:cxnSp>
        <p:nvCxnSpPr>
          <p:cNvPr id="7" name="Gerader Verbinder 9">
            <a:extLst>
              <a:ext uri="{FF2B5EF4-FFF2-40B4-BE49-F238E27FC236}">
                <a16:creationId xmlns:a16="http://schemas.microsoft.com/office/drawing/2014/main" id="{AA934D2E-38F8-EF7D-B539-DB81522B27B0}"/>
              </a:ext>
            </a:extLst>
          </p:cNvPr>
          <p:cNvCxnSpPr/>
          <p:nvPr/>
        </p:nvCxnSpPr>
        <p:spPr>
          <a:xfrm>
            <a:off x="-1019171" y="765179"/>
            <a:ext cx="995104" cy="0"/>
          </a:xfrm>
          <a:prstGeom prst="straightConnector1">
            <a:avLst/>
          </a:prstGeom>
          <a:noFill/>
          <a:ln w="6345" cap="flat">
            <a:solidFill>
              <a:srgbClr val="FF0000"/>
            </a:solidFill>
            <a:prstDash val="solid"/>
          </a:ln>
        </p:spPr>
      </p:cxnSp>
      <p:sp>
        <p:nvSpPr>
          <p:cNvPr id="8" name="Textfeld 10">
            <a:extLst>
              <a:ext uri="{FF2B5EF4-FFF2-40B4-BE49-F238E27FC236}">
                <a16:creationId xmlns:a16="http://schemas.microsoft.com/office/drawing/2014/main" id="{8F522BB0-821C-4129-011E-88F4DD9BBFD4}"/>
              </a:ext>
            </a:extLst>
          </p:cNvPr>
          <p:cNvSpPr txBox="1"/>
          <p:nvPr/>
        </p:nvSpPr>
        <p:spPr>
          <a:xfrm>
            <a:off x="-1019171" y="250810"/>
            <a:ext cx="995114" cy="4349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3E3F40"/>
              </a:solidFill>
              <a:uFillTx/>
              <a:latin typeface="Arial"/>
              <a:ea typeface="Microsoft YaHei"/>
            </a:endParaRPr>
          </a:p>
        </p:txBody>
      </p:sp>
      <p:cxnSp>
        <p:nvCxnSpPr>
          <p:cNvPr id="9" name="Gerader Verbinder 11">
            <a:extLst>
              <a:ext uri="{FF2B5EF4-FFF2-40B4-BE49-F238E27FC236}">
                <a16:creationId xmlns:a16="http://schemas.microsoft.com/office/drawing/2014/main" id="{64B827D8-F286-9449-CCA3-3FA7711263F5}"/>
              </a:ext>
            </a:extLst>
          </p:cNvPr>
          <p:cNvCxnSpPr/>
          <p:nvPr/>
        </p:nvCxnSpPr>
        <p:spPr>
          <a:xfrm>
            <a:off x="-1019171" y="0"/>
            <a:ext cx="995104" cy="0"/>
          </a:xfrm>
          <a:prstGeom prst="straightConnector1">
            <a:avLst/>
          </a:prstGeom>
          <a:noFill/>
          <a:ln w="6345" cap="flat">
            <a:solidFill>
              <a:srgbClr val="FF0000"/>
            </a:solidFill>
            <a:prstDash val="solid"/>
          </a:ln>
        </p:spPr>
      </p:cxnSp>
      <p:cxnSp>
        <p:nvCxnSpPr>
          <p:cNvPr id="10" name="Gerade Verbindung mit Pfeil 13">
            <a:extLst>
              <a:ext uri="{FF2B5EF4-FFF2-40B4-BE49-F238E27FC236}">
                <a16:creationId xmlns:a16="http://schemas.microsoft.com/office/drawing/2014/main" id="{D3D849ED-6E94-6782-1CEF-137076B3BD27}"/>
              </a:ext>
            </a:extLst>
          </p:cNvPr>
          <p:cNvCxnSpPr/>
          <p:nvPr/>
        </p:nvCxnSpPr>
        <p:spPr>
          <a:xfrm>
            <a:off x="-257175" y="0"/>
            <a:ext cx="0" cy="755998"/>
          </a:xfrm>
          <a:prstGeom prst="straightConnector1">
            <a:avLst/>
          </a:prstGeom>
          <a:noFill/>
          <a:ln w="6345" cap="flat">
            <a:solidFill>
              <a:srgbClr val="FF0000"/>
            </a:solidFill>
            <a:prstDash val="solid"/>
            <a:headEnd type="arrow"/>
            <a:tailEnd type="arrow"/>
          </a:ln>
        </p:spPr>
      </p:cxnSp>
      <p:sp>
        <p:nvSpPr>
          <p:cNvPr id="11" name="Textfeld 15">
            <a:extLst>
              <a:ext uri="{FF2B5EF4-FFF2-40B4-BE49-F238E27FC236}">
                <a16:creationId xmlns:a16="http://schemas.microsoft.com/office/drawing/2014/main" id="{90AEB188-5E8B-9F51-E95A-C724727B3D2D}"/>
              </a:ext>
            </a:extLst>
          </p:cNvPr>
          <p:cNvSpPr txBox="1"/>
          <p:nvPr/>
        </p:nvSpPr>
        <p:spPr>
          <a:xfrm>
            <a:off x="-1421242" y="0"/>
            <a:ext cx="1087852" cy="755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Microsoft YaHei"/>
              </a:rPr>
              <a:t>Don‘t place </a:t>
            </a:r>
            <a:br>
              <a:rPr lang="en-US" sz="12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Microsoft YaHei"/>
              </a:rPr>
            </a:br>
            <a:r>
              <a:rPr lang="en-US" sz="12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Microsoft YaHei"/>
              </a:rPr>
              <a:t>any elements in </a:t>
            </a:r>
            <a:br>
              <a:rPr lang="en-US" sz="12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Microsoft YaHei"/>
              </a:rPr>
            </a:br>
            <a:r>
              <a:rPr lang="en-US" sz="12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Microsoft YaHei"/>
              </a:rPr>
              <a:t>the brand zone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4E355AC-39F3-E682-9C0A-FF3424FAA444}"/>
              </a:ext>
            </a:extLst>
          </p:cNvPr>
          <p:cNvSpPr txBox="1"/>
          <p:nvPr/>
        </p:nvSpPr>
        <p:spPr>
          <a:xfrm>
            <a:off x="10413534" y="6524984"/>
            <a:ext cx="935998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535456"/>
                </a:solidFill>
                <a:uFillTx/>
                <a:latin typeface="Arial"/>
                <a:ea typeface="Microsoft YaHei"/>
              </a:rPr>
              <a:t>strictly confidential</a:t>
            </a:r>
          </a:p>
        </p:txBody>
      </p:sp>
      <p:pic>
        <p:nvPicPr>
          <p:cNvPr id="13" name="Picture 16">
            <a:extLst>
              <a:ext uri="{FF2B5EF4-FFF2-40B4-BE49-F238E27FC236}">
                <a16:creationId xmlns:a16="http://schemas.microsoft.com/office/drawing/2014/main" id="{5FFF1D19-FA53-8E3B-C789-B6B41A720D5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4963" y="251999"/>
            <a:ext cx="1511530" cy="25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B9D99C2C-EB88-3C6D-CD82-AED3D8BF61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12373" y="237597"/>
            <a:ext cx="1444660" cy="2916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>
    <p:fade/>
  </p:transition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2400" b="0" i="0" u="none" strike="noStrike" kern="1200" cap="all" spc="0" baseline="0">
          <a:solidFill>
            <a:srgbClr val="535456"/>
          </a:solidFill>
          <a:uFillTx/>
          <a:latin typeface="Arial"/>
          <a:ea typeface="Microsoft YaHei"/>
        </a:defRPr>
      </a:lvl1pPr>
    </p:titleStyle>
    <p:bodyStyle>
      <a:lvl1pPr marL="0" marR="0" lvl="0" indent="0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None/>
        <a:tabLst/>
        <a:defRPr lang="de-DE" sz="1800" b="1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1pPr>
      <a:lvl2pPr marL="162004" marR="0" lvl="1" indent="-162004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6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2pPr>
      <a:lvl3pPr marL="323999" marR="0" lvl="2" indent="-162004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4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3pPr>
      <a:lvl4pPr marL="486003" marR="0" lvl="3" indent="-162004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2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4pPr>
      <a:lvl5pPr marL="647998" marR="0" lvl="4" indent="-162004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2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5pPr>
      <a:lvl6pPr marL="810002" marR="0" lvl="5" indent="-162004" algn="l" defTabSz="914400" rtl="0" fontAlgn="auto" hangingPunct="1">
        <a:lnSpc>
          <a:spcPct val="100000"/>
        </a:lnSpc>
        <a:spcBef>
          <a:spcPts val="3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2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6pPr>
      <a:lvl7pPr marL="971998" marR="0" lvl="6" indent="-162004" algn="l" defTabSz="914400" rtl="0" fontAlgn="auto" hangingPunct="1">
        <a:lnSpc>
          <a:spcPct val="100000"/>
        </a:lnSpc>
        <a:spcBef>
          <a:spcPts val="3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2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7pPr>
      <a:lvl8pPr marL="1134002" marR="0" lvl="7" indent="-162004" algn="l" defTabSz="914400" rtl="0" fontAlgn="auto" hangingPunct="1">
        <a:lnSpc>
          <a:spcPct val="100000"/>
        </a:lnSpc>
        <a:spcBef>
          <a:spcPts val="3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2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8pPr>
      <a:lvl9pPr marL="1295997" marR="0" lvl="8" indent="-162004" algn="l" defTabSz="914400" rtl="0" fontAlgn="auto" hangingPunct="1">
        <a:lnSpc>
          <a:spcPct val="100000"/>
        </a:lnSpc>
        <a:spcBef>
          <a:spcPts val="300"/>
        </a:spcBef>
        <a:spcAft>
          <a:spcPts val="0"/>
        </a:spcAft>
        <a:buClr>
          <a:srgbClr val="007EB9"/>
        </a:buClr>
        <a:buSzPct val="100000"/>
        <a:buFont typeface="Wingdings" pitchFamily="2"/>
        <a:buChar char="§"/>
        <a:tabLst/>
        <a:defRPr lang="de-DE" sz="1200" b="0" i="0" u="none" strike="noStrike" kern="1200" cap="none" spc="0" baseline="0">
          <a:solidFill>
            <a:srgbClr val="535456"/>
          </a:solidFill>
          <a:uFillTx/>
          <a:latin typeface="Arial"/>
          <a:ea typeface="Microsoft YaHei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10">
            <a:extLst>
              <a:ext uri="{FF2B5EF4-FFF2-40B4-BE49-F238E27FC236}">
                <a16:creationId xmlns:a16="http://schemas.microsoft.com/office/drawing/2014/main" id="{B6669DC0-0AF2-B073-12E9-4D4EB1537877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20" b="20"/>
          <a:stretch>
            <a:fillRect/>
          </a:stretch>
        </p:blipFill>
        <p:spPr>
          <a:xfrm>
            <a:off x="0" y="765169"/>
            <a:ext cx="12191183" cy="6092820"/>
          </a:xfrm>
          <a:solidFill>
            <a:srgbClr val="BBBCBD"/>
          </a:solidFill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B96B92B-B80C-0F14-AC2A-63E140466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3784079"/>
            <a:ext cx="6389690" cy="1913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143999" tIns="431999" rIns="143999" bIns="0" anchor="b" anchorCtr="0" compatLnSpc="1">
            <a:spAutoFit/>
          </a:bodyPr>
          <a:lstStyle/>
          <a:p>
            <a:pPr lvl="0"/>
            <a:r>
              <a:rPr lang="de-DE" b="1">
                <a:solidFill>
                  <a:srgbClr val="007EB9"/>
                </a:solidFill>
              </a:rPr>
              <a:t>Cloud infrastructure automation</a:t>
            </a:r>
            <a:br>
              <a:rPr lang="de-DE" b="1">
                <a:solidFill>
                  <a:srgbClr val="007EB9"/>
                </a:solidFill>
              </a:rPr>
            </a:br>
            <a:br>
              <a:rPr lang="de-DE" b="1">
                <a:solidFill>
                  <a:srgbClr val="007EB9"/>
                </a:solidFill>
              </a:rPr>
            </a:br>
            <a:endParaRPr lang="de-DE" b="1">
              <a:solidFill>
                <a:srgbClr val="007EB9"/>
              </a:solidFill>
            </a:endParaRP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5A1ED905-0127-D27A-712F-5143598C071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34963" y="5697626"/>
            <a:ext cx="6389690" cy="433553"/>
          </a:xfrm>
          <a:solidFill>
            <a:srgbClr val="FFFFFF"/>
          </a:solidFill>
        </p:spPr>
        <p:txBody>
          <a:bodyPr lIns="143999" tIns="71999" rIns="143999" bIns="143999" anchor="b"/>
          <a:lstStyle/>
          <a:p>
            <a:pPr lvl="0">
              <a:spcBef>
                <a:spcPts val="300"/>
              </a:spcBef>
            </a:pPr>
            <a:r>
              <a:rPr lang="de-DE" sz="1400" b="0"/>
              <a:t>Seminar zur Praxisphase</a:t>
            </a:r>
          </a:p>
          <a:p>
            <a:pPr lvl="0">
              <a:spcBef>
                <a:spcPts val="300"/>
              </a:spcBef>
            </a:pPr>
            <a:r>
              <a:rPr lang="de-DE" sz="1400" b="0"/>
              <a:t>Nassim Akalai – Heraeus Consulting &amp; IT Solutions GmbH</a:t>
            </a:r>
          </a:p>
          <a:p>
            <a:pPr lvl="0">
              <a:spcBef>
                <a:spcPts val="300"/>
              </a:spcBef>
            </a:pPr>
            <a:r>
              <a:rPr lang="de-DE" sz="1400" b="0"/>
              <a:t>Frankfurt University of Applied Sciences – 23/09/2026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4FE6C8B-53F5-5709-B2CE-AA5E29514DB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6131180"/>
            <a:ext cx="6389690" cy="35999"/>
          </a:xfrm>
          <a:solidFill>
            <a:srgbClr val="007EB9"/>
          </a:solidFill>
        </p:spPr>
        <p:txBody>
          <a:bodyPr/>
          <a:lstStyle/>
          <a:p>
            <a:endParaRPr lang="de-DE"/>
          </a:p>
        </p:txBody>
      </p:sp>
      <p:pic>
        <p:nvPicPr>
          <p:cNvPr id="6" name="Grafik 3">
            <a:extLst>
              <a:ext uri="{FF2B5EF4-FFF2-40B4-BE49-F238E27FC236}">
                <a16:creationId xmlns:a16="http://schemas.microsoft.com/office/drawing/2014/main" id="{CCEF33C6-D0B7-E6EC-A816-42B55F4F3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202" y="238100"/>
            <a:ext cx="2333951" cy="400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01FBD7A-2C71-217C-8A8F-380D0D8A3A7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135A1095-A693-4A69-B05F-252161ED9268}" type="slidenum">
              <a:t>2</a:t>
            </a:fld>
            <a:endParaRPr lang="en-US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3" name="Titel 88">
            <a:extLst>
              <a:ext uri="{FF2B5EF4-FFF2-40B4-BE49-F238E27FC236}">
                <a16:creationId xmlns:a16="http://schemas.microsoft.com/office/drawing/2014/main" id="{1F25D51E-76F1-27D4-861C-54673D94A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Agenda – 6 topics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6522C30-3E62-AC14-7BEB-5E4E1CC9E97A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2040136"/>
          <a:ext cx="5653085" cy="701043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50995">
                  <a:extLst>
                    <a:ext uri="{9D8B030D-6E8A-4147-A177-3AD203B41FA5}">
                      <a16:colId xmlns:a16="http://schemas.microsoft.com/office/drawing/2014/main" val="2652026713"/>
                    </a:ext>
                  </a:extLst>
                </a:gridCol>
                <a:gridCol w="4802090">
                  <a:extLst>
                    <a:ext uri="{9D8B030D-6E8A-4147-A177-3AD203B41FA5}">
                      <a16:colId xmlns:a16="http://schemas.microsoft.com/office/drawing/2014/main" val="2529873016"/>
                    </a:ext>
                  </a:extLst>
                </a:gridCol>
              </a:tblGrid>
              <a:tr h="548804">
                <a:tc>
                  <a:txBody>
                    <a:bodyPr/>
                    <a:lstStyle/>
                    <a:p>
                      <a:pPr lvl="0" algn="r"/>
                      <a:r>
                        <a:rPr lang="de-DE" sz="3600" b="0">
                          <a:solidFill>
                            <a:srgbClr val="007EB9"/>
                          </a:solidFill>
                        </a:rPr>
                        <a:t>1</a:t>
                      </a:r>
                    </a:p>
                  </a:txBody>
                  <a:tcPr marL="0" marR="270004" marT="0" marB="0">
                    <a:lnR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 b="1">
                          <a:solidFill>
                            <a:srgbClr val="535456"/>
                          </a:solidFill>
                        </a:rPr>
                        <a:t>Einführung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Heraeus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Heraeus Consulting &amp; IT Solutions GmbH</a:t>
                      </a:r>
                    </a:p>
                  </a:txBody>
                  <a:tcPr marL="270004" marR="0" marT="0" marB="0" anchor="ctr">
                    <a:lnL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02306567"/>
                  </a:ext>
                </a:extLst>
              </a:tr>
            </a:tbl>
          </a:graphicData>
        </a:graphic>
      </p:graphicFrame>
      <p:graphicFrame>
        <p:nvGraphicFramePr>
          <p:cNvPr id="5" name="Tabelle 3">
            <a:extLst>
              <a:ext uri="{FF2B5EF4-FFF2-40B4-BE49-F238E27FC236}">
                <a16:creationId xmlns:a16="http://schemas.microsoft.com/office/drawing/2014/main" id="{7F9DE978-89D5-6486-0CF6-25BB7192ACF0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3230748"/>
          <a:ext cx="5653085" cy="9144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50995">
                  <a:extLst>
                    <a:ext uri="{9D8B030D-6E8A-4147-A177-3AD203B41FA5}">
                      <a16:colId xmlns:a16="http://schemas.microsoft.com/office/drawing/2014/main" val="1151200642"/>
                    </a:ext>
                  </a:extLst>
                </a:gridCol>
                <a:gridCol w="4802090">
                  <a:extLst>
                    <a:ext uri="{9D8B030D-6E8A-4147-A177-3AD203B41FA5}">
                      <a16:colId xmlns:a16="http://schemas.microsoft.com/office/drawing/2014/main" val="592583307"/>
                    </a:ext>
                  </a:extLst>
                </a:gridCol>
              </a:tblGrid>
              <a:tr h="536396">
                <a:tc>
                  <a:txBody>
                    <a:bodyPr/>
                    <a:lstStyle/>
                    <a:p>
                      <a:pPr lvl="0" algn="r"/>
                      <a:r>
                        <a:rPr lang="de-DE" sz="3600" b="0">
                          <a:solidFill>
                            <a:srgbClr val="007EB9"/>
                          </a:solidFill>
                        </a:rPr>
                        <a:t>2</a:t>
                      </a:r>
                    </a:p>
                  </a:txBody>
                  <a:tcPr marL="0" marR="270004" marT="0" marB="0">
                    <a:lnR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de-DE" b="1">
                          <a:solidFill>
                            <a:srgbClr val="535456"/>
                          </a:solidFill>
                        </a:rPr>
                        <a:t>Backend Team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Kernaufgaben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Meine Aufgaben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Daily Tools</a:t>
                      </a:r>
                    </a:p>
                  </a:txBody>
                  <a:tcPr marL="270004" marR="0" marT="0" marB="0" anchor="ctr">
                    <a:lnL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62740138"/>
                  </a:ext>
                </a:extLst>
              </a:tr>
            </a:tbl>
          </a:graphicData>
        </a:graphic>
      </p:graphicFrame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67D05870-9DB8-B814-70D2-A4CCBCC75315}"/>
              </a:ext>
            </a:extLst>
          </p:cNvPr>
          <p:cNvGraphicFramePr>
            <a:graphicFrameLocks noGrp="1"/>
          </p:cNvGraphicFramePr>
          <p:nvPr/>
        </p:nvGraphicFramePr>
        <p:xfrm>
          <a:off x="6210476" y="2040136"/>
          <a:ext cx="5653085" cy="112775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50995">
                  <a:extLst>
                    <a:ext uri="{9D8B030D-6E8A-4147-A177-3AD203B41FA5}">
                      <a16:colId xmlns:a16="http://schemas.microsoft.com/office/drawing/2014/main" val="3449784380"/>
                    </a:ext>
                  </a:extLst>
                </a:gridCol>
                <a:gridCol w="4802090">
                  <a:extLst>
                    <a:ext uri="{9D8B030D-6E8A-4147-A177-3AD203B41FA5}">
                      <a16:colId xmlns:a16="http://schemas.microsoft.com/office/drawing/2014/main" val="1879764654"/>
                    </a:ext>
                  </a:extLst>
                </a:gridCol>
              </a:tblGrid>
              <a:tr h="536396">
                <a:tc>
                  <a:txBody>
                    <a:bodyPr/>
                    <a:lstStyle/>
                    <a:p>
                      <a:pPr lvl="0" algn="r"/>
                      <a:r>
                        <a:rPr lang="de-DE" sz="3600" b="0">
                          <a:solidFill>
                            <a:srgbClr val="007EB9"/>
                          </a:solidFill>
                        </a:rPr>
                        <a:t>4</a:t>
                      </a:r>
                    </a:p>
                  </a:txBody>
                  <a:tcPr marL="0" marR="270004" marT="0" marB="0">
                    <a:lnR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 b="1">
                          <a:solidFill>
                            <a:srgbClr val="535456"/>
                          </a:solidFill>
                        </a:rPr>
                        <a:t>Projekt 2 – TXT Records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Situation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Task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Action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Result</a:t>
                      </a:r>
                    </a:p>
                  </a:txBody>
                  <a:tcPr marL="270004" marR="0" marT="0" marB="0" anchor="ctr">
                    <a:lnL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92164452"/>
                  </a:ext>
                </a:extLst>
              </a:tr>
            </a:tbl>
          </a:graphicData>
        </a:graphic>
      </p:graphicFrame>
      <p:graphicFrame>
        <p:nvGraphicFramePr>
          <p:cNvPr id="7" name="Tabelle 3">
            <a:extLst>
              <a:ext uri="{FF2B5EF4-FFF2-40B4-BE49-F238E27FC236}">
                <a16:creationId xmlns:a16="http://schemas.microsoft.com/office/drawing/2014/main" id="{7CBEB3F8-6C43-E47E-DC61-E5BAFD2B1F5F}"/>
              </a:ext>
            </a:extLst>
          </p:cNvPr>
          <p:cNvGraphicFramePr>
            <a:graphicFrameLocks noGrp="1"/>
          </p:cNvGraphicFramePr>
          <p:nvPr/>
        </p:nvGraphicFramePr>
        <p:xfrm>
          <a:off x="6203947" y="3230748"/>
          <a:ext cx="5653085" cy="112775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50995">
                  <a:extLst>
                    <a:ext uri="{9D8B030D-6E8A-4147-A177-3AD203B41FA5}">
                      <a16:colId xmlns:a16="http://schemas.microsoft.com/office/drawing/2014/main" val="2226106730"/>
                    </a:ext>
                  </a:extLst>
                </a:gridCol>
                <a:gridCol w="4802090">
                  <a:extLst>
                    <a:ext uri="{9D8B030D-6E8A-4147-A177-3AD203B41FA5}">
                      <a16:colId xmlns:a16="http://schemas.microsoft.com/office/drawing/2014/main" val="3388752053"/>
                    </a:ext>
                  </a:extLst>
                </a:gridCol>
              </a:tblGrid>
              <a:tr h="536396">
                <a:tc>
                  <a:txBody>
                    <a:bodyPr/>
                    <a:lstStyle/>
                    <a:p>
                      <a:pPr lvl="0" algn="r"/>
                      <a:r>
                        <a:rPr lang="de-DE" sz="3600" b="0">
                          <a:solidFill>
                            <a:srgbClr val="007EB9"/>
                          </a:solidFill>
                        </a:rPr>
                        <a:t>5</a:t>
                      </a:r>
                    </a:p>
                  </a:txBody>
                  <a:tcPr marL="0" marR="270004" marT="0" marB="0">
                    <a:lnR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 b="1">
                          <a:solidFill>
                            <a:srgbClr val="535456"/>
                          </a:solidFill>
                        </a:rPr>
                        <a:t>Projekt 3 - PWChangeWebApp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Situation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Task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Action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Result</a:t>
                      </a:r>
                    </a:p>
                  </a:txBody>
                  <a:tcPr marL="270004" marR="0" marT="0" marB="0" anchor="ctr">
                    <a:lnL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37495436"/>
                  </a:ext>
                </a:extLst>
              </a:tr>
            </a:tbl>
          </a:graphicData>
        </a:graphic>
      </p:graphicFrame>
      <p:graphicFrame>
        <p:nvGraphicFramePr>
          <p:cNvPr id="8" name="Tabelle 3">
            <a:extLst>
              <a:ext uri="{FF2B5EF4-FFF2-40B4-BE49-F238E27FC236}">
                <a16:creationId xmlns:a16="http://schemas.microsoft.com/office/drawing/2014/main" id="{4D086A22-09A5-BFE4-2A18-4908BA0EC287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4421370"/>
          <a:ext cx="5653085" cy="1127756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50995">
                  <a:extLst>
                    <a:ext uri="{9D8B030D-6E8A-4147-A177-3AD203B41FA5}">
                      <a16:colId xmlns:a16="http://schemas.microsoft.com/office/drawing/2014/main" val="713499911"/>
                    </a:ext>
                  </a:extLst>
                </a:gridCol>
                <a:gridCol w="4802090">
                  <a:extLst>
                    <a:ext uri="{9D8B030D-6E8A-4147-A177-3AD203B41FA5}">
                      <a16:colId xmlns:a16="http://schemas.microsoft.com/office/drawing/2014/main" val="800635133"/>
                    </a:ext>
                  </a:extLst>
                </a:gridCol>
              </a:tblGrid>
              <a:tr h="536396">
                <a:tc>
                  <a:txBody>
                    <a:bodyPr/>
                    <a:lstStyle/>
                    <a:p>
                      <a:pPr lvl="0" algn="r"/>
                      <a:r>
                        <a:rPr lang="de-DE" sz="3600" b="0">
                          <a:solidFill>
                            <a:srgbClr val="007EB9"/>
                          </a:solidFill>
                        </a:rPr>
                        <a:t>3</a:t>
                      </a:r>
                    </a:p>
                  </a:txBody>
                  <a:tcPr marL="0" marR="270004" marT="0" marB="0">
                    <a:lnR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 b="1">
                          <a:solidFill>
                            <a:srgbClr val="535456"/>
                          </a:solidFill>
                        </a:rPr>
                        <a:t>Projekt 1 – Logging 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Situation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Task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Action</a:t>
                      </a:r>
                    </a:p>
                    <a:p>
                      <a:pPr marL="285750" marR="0" lvl="0" indent="-28575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  <a:tabLst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Result</a:t>
                      </a:r>
                    </a:p>
                  </a:txBody>
                  <a:tcPr marL="270004" marR="0" marT="0" marB="0" anchor="ctr">
                    <a:lnL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83568213"/>
                  </a:ext>
                </a:extLst>
              </a:tr>
            </a:tbl>
          </a:graphicData>
        </a:graphic>
      </p:graphicFrame>
      <p:pic>
        <p:nvPicPr>
          <p:cNvPr id="11" name="Grafik 4">
            <a:extLst>
              <a:ext uri="{FF2B5EF4-FFF2-40B4-BE49-F238E27FC236}">
                <a16:creationId xmlns:a16="http://schemas.microsoft.com/office/drawing/2014/main" id="{81701A14-DB4C-775E-B32F-6EAC64C64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155" y="231233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5">
            <a:extLst>
              <a:ext uri="{FF2B5EF4-FFF2-40B4-BE49-F238E27FC236}">
                <a16:creationId xmlns:a16="http://schemas.microsoft.com/office/drawing/2014/main" id="{9C916D40-C00E-39E5-B639-23EEE52EC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elle 3">
            <a:extLst>
              <a:ext uri="{FF2B5EF4-FFF2-40B4-BE49-F238E27FC236}">
                <a16:creationId xmlns:a16="http://schemas.microsoft.com/office/drawing/2014/main" id="{4724684E-C96A-F1A6-5A09-D62BA0654D54}"/>
              </a:ext>
            </a:extLst>
          </p:cNvPr>
          <p:cNvGraphicFramePr>
            <a:graphicFrameLocks noGrp="1"/>
          </p:cNvGraphicFramePr>
          <p:nvPr/>
        </p:nvGraphicFramePr>
        <p:xfrm>
          <a:off x="6203947" y="4421370"/>
          <a:ext cx="5653085" cy="5486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850995">
                  <a:extLst>
                    <a:ext uri="{9D8B030D-6E8A-4147-A177-3AD203B41FA5}">
                      <a16:colId xmlns:a16="http://schemas.microsoft.com/office/drawing/2014/main" val="3032461451"/>
                    </a:ext>
                  </a:extLst>
                </a:gridCol>
                <a:gridCol w="4802090">
                  <a:extLst>
                    <a:ext uri="{9D8B030D-6E8A-4147-A177-3AD203B41FA5}">
                      <a16:colId xmlns:a16="http://schemas.microsoft.com/office/drawing/2014/main" val="1939469768"/>
                    </a:ext>
                  </a:extLst>
                </a:gridCol>
              </a:tblGrid>
              <a:tr h="536396">
                <a:tc>
                  <a:txBody>
                    <a:bodyPr/>
                    <a:lstStyle/>
                    <a:p>
                      <a:pPr lvl="0" algn="r"/>
                      <a:r>
                        <a:rPr lang="de-DE" sz="3600" b="0">
                          <a:solidFill>
                            <a:srgbClr val="007EB9"/>
                          </a:solidFill>
                        </a:rPr>
                        <a:t>6</a:t>
                      </a:r>
                    </a:p>
                  </a:txBody>
                  <a:tcPr marL="0" marR="270004" marT="0" marB="0">
                    <a:lnR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de-DE" b="1">
                          <a:solidFill>
                            <a:srgbClr val="535456"/>
                          </a:solidFill>
                        </a:rPr>
                        <a:t>Reflexion</a:t>
                      </a:r>
                    </a:p>
                    <a:p>
                      <a:pPr marL="285750" lvl="0" indent="-285750">
                        <a:buClr>
                          <a:srgbClr val="000000"/>
                        </a:buClr>
                        <a:buSzPct val="100000"/>
                        <a:buFont typeface="Wingdings" pitchFamily="2"/>
                        <a:buChar char="§"/>
                      </a:pPr>
                      <a:r>
                        <a:rPr lang="de-DE" sz="1400" b="0">
                          <a:solidFill>
                            <a:srgbClr val="535456"/>
                          </a:solidFill>
                        </a:rPr>
                        <a:t>Was habe ich mitgenommen?</a:t>
                      </a:r>
                    </a:p>
                  </a:txBody>
                  <a:tcPr marL="270004" marR="0" marT="0" marB="0" anchor="ctr">
                    <a:lnL w="28575" cap="flat" cmpd="sng" algn="ctr">
                      <a:solidFill>
                        <a:srgbClr val="007E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1325403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7">
            <a:extLst>
              <a:ext uri="{FF2B5EF4-FFF2-40B4-BE49-F238E27FC236}">
                <a16:creationId xmlns:a16="http://schemas.microsoft.com/office/drawing/2014/main" id="{AD2AB055-E25A-EFC5-31E7-0E8856F67FA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10656" r="10656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FCAF9D-9FB6-FD47-5536-C4EA2933381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Heraeus</a:t>
            </a:r>
          </a:p>
          <a:p>
            <a:pPr lvl="1"/>
            <a:r>
              <a:rPr lang="de-DE"/>
              <a:t>Globaler deutscher Familien- und Technologiekonzern</a:t>
            </a:r>
          </a:p>
          <a:p>
            <a:pPr lvl="1"/>
            <a:r>
              <a:rPr lang="de-DE"/>
              <a:t>Hauptsitz in Hanau</a:t>
            </a:r>
          </a:p>
          <a:p>
            <a:pPr lvl="1"/>
            <a:r>
              <a:rPr lang="de-DE"/>
              <a:t>Ca. 15.000 Mitarbeiter</a:t>
            </a:r>
          </a:p>
          <a:p>
            <a:pPr lvl="1"/>
            <a:r>
              <a:rPr lang="de-DE"/>
              <a:t>Umsatz bei etwa 43 Milliarden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CACCF2-6329-D651-0951-6F2E81C944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6B01AAC4-EAFF-40A9-A40F-2811E5ABD437}" type="slidenum">
              <a:t>3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532DCDB-EC1D-616C-490A-CBFA9D95E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Einführung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95E9072-AA56-7AE6-0CB5-46D03C76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772" y="234250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1894C3B4-2C42-F76F-8478-37DE02928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58405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0">
            <a:extLst>
              <a:ext uri="{FF2B5EF4-FFF2-40B4-BE49-F238E27FC236}">
                <a16:creationId xmlns:a16="http://schemas.microsoft.com/office/drawing/2014/main" id="{B5B29708-863E-06C8-B99A-E40FAB34C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7">
            <a:extLst>
              <a:ext uri="{FF2B5EF4-FFF2-40B4-BE49-F238E27FC236}">
                <a16:creationId xmlns:a16="http://schemas.microsoft.com/office/drawing/2014/main" id="{9208850D-2E57-BABA-0BBA-03EE3FC1FE4A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10656" r="10656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668205-FFAE-2348-D2CB-5A44574E1E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Heraeus Consulting &amp; IT Solutions GmbH</a:t>
            </a:r>
          </a:p>
          <a:p>
            <a:pPr lvl="1"/>
            <a:r>
              <a:rPr lang="de-DE"/>
              <a:t>Eigene Gesellschaft innerhalb der Heraeus-Gruppe</a:t>
            </a:r>
          </a:p>
          <a:p>
            <a:pPr lvl="1"/>
            <a:r>
              <a:rPr lang="de-DE"/>
              <a:t>Organisations-, Informations- und Beratungsdienstleistungen für Heraeus-Gruppe und Dritte</a:t>
            </a:r>
          </a:p>
          <a:p>
            <a:pPr lvl="1"/>
            <a:r>
              <a:rPr lang="de-DE"/>
              <a:t>Unterteilung:</a:t>
            </a:r>
          </a:p>
          <a:p>
            <a:pPr lvl="2"/>
            <a:r>
              <a:rPr lang="de-DE"/>
              <a:t>Heraeus IT (HIT)</a:t>
            </a:r>
          </a:p>
          <a:p>
            <a:pPr lvl="2"/>
            <a:r>
              <a:rPr lang="de-DE"/>
              <a:t>Heraeus Digital Hub (HDH)</a:t>
            </a:r>
          </a:p>
          <a:p>
            <a:pPr lvl="2"/>
            <a:r>
              <a:rPr lang="de-DE"/>
              <a:t>Excellence Team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9CC837-BE03-0A12-36B6-7111206409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ED6C6939-F1D6-4303-97F6-6C7FBB765D27}" type="slidenum">
              <a:t>4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D7E35B1-F3EE-61FD-09BE-7C5C176AD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Einführung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3612D7-06FD-50A8-38AC-96B7052F7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155" y="323944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8">
            <a:extLst>
              <a:ext uri="{FF2B5EF4-FFF2-40B4-BE49-F238E27FC236}">
                <a16:creationId xmlns:a16="http://schemas.microsoft.com/office/drawing/2014/main" id="{120834C3-35CC-0031-8E5F-C811062AD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0">
            <a:extLst>
              <a:ext uri="{FF2B5EF4-FFF2-40B4-BE49-F238E27FC236}">
                <a16:creationId xmlns:a16="http://schemas.microsoft.com/office/drawing/2014/main" id="{4ABD694A-459B-097E-D8CD-11C77089F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5175E6C7-2480-BAFA-ED72-1DD14A44DF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Kernaufgaben</a:t>
            </a:r>
          </a:p>
          <a:p>
            <a:pPr lvl="1"/>
            <a:r>
              <a:rPr lang="de-DE"/>
              <a:t>Automatisierung</a:t>
            </a:r>
          </a:p>
          <a:p>
            <a:pPr lvl="1"/>
            <a:r>
              <a:rPr lang="de-DE"/>
              <a:t>Backup &amp; Monitoring</a:t>
            </a:r>
          </a:p>
          <a:p>
            <a:pPr lvl="1"/>
            <a:r>
              <a:rPr lang="de-DE"/>
              <a:t>Azure &amp; OnPrem</a:t>
            </a:r>
          </a:p>
          <a:p>
            <a:pPr lvl="1"/>
            <a:r>
              <a:rPr lang="de-DE"/>
              <a:t>Nutanix</a:t>
            </a:r>
          </a:p>
          <a:p>
            <a:pPr lvl="1"/>
            <a:r>
              <a:rPr lang="de-DE"/>
              <a:t>Azure (Cost- &amp; Cloud Management)</a:t>
            </a:r>
          </a:p>
          <a:p>
            <a:pPr lvl="1"/>
            <a:r>
              <a:rPr lang="de-DE"/>
              <a:t>Windows Server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B9593BAC-E14B-5BAB-A57F-C436DD1676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3D1F2DF3-263E-4AA3-9D67-85C8132C64CF}" type="slidenum">
              <a:t>5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C8F7346B-DDDD-920A-2F77-DA97ED945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Backend team</a:t>
            </a:r>
          </a:p>
        </p:txBody>
      </p:sp>
      <p:pic>
        <p:nvPicPr>
          <p:cNvPr id="6" name="Bildplatzhalter 7">
            <a:extLst>
              <a:ext uri="{FF2B5EF4-FFF2-40B4-BE49-F238E27FC236}">
                <a16:creationId xmlns:a16="http://schemas.microsoft.com/office/drawing/2014/main" id="{CE47C01C-C515-31CA-A3FE-45B5517FFB0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3293" r="3293"/>
          <a:stretch>
            <a:fillRect/>
          </a:stretch>
        </p:blipFill>
        <p:spPr>
          <a:xfrm>
            <a:off x="6205100" y="1592263"/>
            <a:ext cx="5653085" cy="4789490"/>
          </a:xfrm>
          <a:solidFill>
            <a:srgbClr val="BBBCBD"/>
          </a:solidFill>
        </p:spPr>
      </p:pic>
      <p:pic>
        <p:nvPicPr>
          <p:cNvPr id="7" name="Grafik 9">
            <a:extLst>
              <a:ext uri="{FF2B5EF4-FFF2-40B4-BE49-F238E27FC236}">
                <a16:creationId xmlns:a16="http://schemas.microsoft.com/office/drawing/2014/main" id="{16E397FD-99CE-EC92-B802-0CD9A6F61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783" y="323944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6">
            <a:extLst>
              <a:ext uri="{FF2B5EF4-FFF2-40B4-BE49-F238E27FC236}">
                <a16:creationId xmlns:a16="http://schemas.microsoft.com/office/drawing/2014/main" id="{97697247-8C25-B0B1-1EA7-830435BF7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FE4BD1F-4AD8-467B-F1F8-83610EB5B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F441ED4D-CEDA-C1A8-2FC7-295CB16D6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699" y="3249073"/>
            <a:ext cx="2148730" cy="6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12">
            <a:extLst>
              <a:ext uri="{FF2B5EF4-FFF2-40B4-BE49-F238E27FC236}">
                <a16:creationId xmlns:a16="http://schemas.microsoft.com/office/drawing/2014/main" id="{263958EA-CA1F-A1D1-A058-F75D6195D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3944" y="3128299"/>
            <a:ext cx="2236375" cy="236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4">
            <a:extLst>
              <a:ext uri="{FF2B5EF4-FFF2-40B4-BE49-F238E27FC236}">
                <a16:creationId xmlns:a16="http://schemas.microsoft.com/office/drawing/2014/main" id="{6ED1A15F-14C3-FCE2-5BB4-34A66D183A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0155" y="5517910"/>
            <a:ext cx="2067165" cy="698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6EE3EF7-121C-6FBA-5FA4-BB0C990E18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Meine Aufgaben</a:t>
            </a:r>
          </a:p>
          <a:p>
            <a:pPr lvl="1"/>
            <a:r>
              <a:rPr lang="de-DE"/>
              <a:t>Automatisierung der Infrastrukturverwaltung</a:t>
            </a:r>
          </a:p>
          <a:p>
            <a:pPr lvl="1"/>
            <a:r>
              <a:rPr lang="de-DE"/>
              <a:t>Erstellung, Wartung und Weiterentwicklung interner APIs, CI/CD Pipelines, Tools &amp; Skripten</a:t>
            </a:r>
          </a:p>
          <a:p>
            <a:pPr lvl="2"/>
            <a:r>
              <a:rPr lang="de-DE"/>
              <a:t>Darunter: PowerShell, Python, C#, etc.</a:t>
            </a:r>
          </a:p>
          <a:p>
            <a:pPr lvl="1"/>
            <a:r>
              <a:rPr lang="de-DE"/>
              <a:t>Betrieb bestehender Systeme und Aufbau der Containerlandschaft</a:t>
            </a:r>
          </a:p>
          <a:p>
            <a:pPr lvl="2"/>
            <a:r>
              <a:rPr lang="de-DE"/>
              <a:t>Kubernetes &amp; Rancher via IaC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B62613F9-82C3-C14D-E0FB-2D9D3F3AB0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318DC4D1-0278-47C4-9AF4-F3F2E803E9F1}" type="slidenum">
              <a:t>6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EA4E6A74-1FE5-2983-7B22-9D7E63445E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Backend team</a:t>
            </a:r>
          </a:p>
        </p:txBody>
      </p:sp>
      <p:pic>
        <p:nvPicPr>
          <p:cNvPr id="6" name="Bildplatzhalter 7">
            <a:extLst>
              <a:ext uri="{FF2B5EF4-FFF2-40B4-BE49-F238E27FC236}">
                <a16:creationId xmlns:a16="http://schemas.microsoft.com/office/drawing/2014/main" id="{7E8095BE-57AC-C694-838B-6313BCF7CE7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3293" r="3293"/>
          <a:stretch>
            <a:fillRect/>
          </a:stretch>
        </p:blipFill>
        <p:spPr>
          <a:xfrm>
            <a:off x="6205100" y="1592263"/>
            <a:ext cx="5653085" cy="4789490"/>
          </a:xfrm>
          <a:solidFill>
            <a:srgbClr val="BBBCBD"/>
          </a:solidFill>
        </p:spPr>
      </p:pic>
      <p:pic>
        <p:nvPicPr>
          <p:cNvPr id="7" name="Grafik 9">
            <a:extLst>
              <a:ext uri="{FF2B5EF4-FFF2-40B4-BE49-F238E27FC236}">
                <a16:creationId xmlns:a16="http://schemas.microsoft.com/office/drawing/2014/main" id="{5D704934-EF6E-FAFB-33B8-D5EE61E5C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783" y="323944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6">
            <a:extLst>
              <a:ext uri="{FF2B5EF4-FFF2-40B4-BE49-F238E27FC236}">
                <a16:creationId xmlns:a16="http://schemas.microsoft.com/office/drawing/2014/main" id="{87B90BE9-30E8-DD51-52CB-397940893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341EB33-7EB9-C896-15FA-8D97D0266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0">
            <a:extLst>
              <a:ext uri="{FF2B5EF4-FFF2-40B4-BE49-F238E27FC236}">
                <a16:creationId xmlns:a16="http://schemas.microsoft.com/office/drawing/2014/main" id="{1FCF1700-FB16-C310-CE56-A26620FB5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699" y="3249073"/>
            <a:ext cx="2148730" cy="64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12">
            <a:extLst>
              <a:ext uri="{FF2B5EF4-FFF2-40B4-BE49-F238E27FC236}">
                <a16:creationId xmlns:a16="http://schemas.microsoft.com/office/drawing/2014/main" id="{7626C031-EFE1-A09C-EE71-85433839B1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3944" y="3128299"/>
            <a:ext cx="2236375" cy="236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4">
            <a:extLst>
              <a:ext uri="{FF2B5EF4-FFF2-40B4-BE49-F238E27FC236}">
                <a16:creationId xmlns:a16="http://schemas.microsoft.com/office/drawing/2014/main" id="{31C33935-B278-AF27-44EE-1B0B047EFC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0155" y="5517910"/>
            <a:ext cx="2067165" cy="698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5E4CB6EB-6C66-9143-EF1E-0D9A5AB5F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880"/>
            <a:ext cx="12191996" cy="6080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9">
            <a:extLst>
              <a:ext uri="{FF2B5EF4-FFF2-40B4-BE49-F238E27FC236}">
                <a16:creationId xmlns:a16="http://schemas.microsoft.com/office/drawing/2014/main" id="{B273377A-BD6F-71E2-418C-6705C9F63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0630E14C-F380-1F78-4691-CC8DAD302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179"/>
            <a:ext cx="12191996" cy="6092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9">
            <a:extLst>
              <a:ext uri="{FF2B5EF4-FFF2-40B4-BE49-F238E27FC236}">
                <a16:creationId xmlns:a16="http://schemas.microsoft.com/office/drawing/2014/main" id="{5B2A9BC1-3795-CA9B-8073-585AEDD2B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11">
            <a:extLst>
              <a:ext uri="{FF2B5EF4-FFF2-40B4-BE49-F238E27FC236}">
                <a16:creationId xmlns:a16="http://schemas.microsoft.com/office/drawing/2014/main" id="{55B25966-3356-3085-4FE8-1E4483E21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1819491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feld 13">
            <a:extLst>
              <a:ext uri="{FF2B5EF4-FFF2-40B4-BE49-F238E27FC236}">
                <a16:creationId xmlns:a16="http://schemas.microsoft.com/office/drawing/2014/main" id="{72FD3A81-F1B6-14DC-6F7A-0284310984DE}"/>
              </a:ext>
            </a:extLst>
          </p:cNvPr>
          <p:cNvSpPr txBox="1"/>
          <p:nvPr/>
        </p:nvSpPr>
        <p:spPr>
          <a:xfrm>
            <a:off x="8385057" y="1850937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6" name="Grafik 15">
            <a:extLst>
              <a:ext uri="{FF2B5EF4-FFF2-40B4-BE49-F238E27FC236}">
                <a16:creationId xmlns:a16="http://schemas.microsoft.com/office/drawing/2014/main" id="{AA9DEF5C-D948-0370-A8A1-041E50744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2378747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feld 17">
            <a:extLst>
              <a:ext uri="{FF2B5EF4-FFF2-40B4-BE49-F238E27FC236}">
                <a16:creationId xmlns:a16="http://schemas.microsoft.com/office/drawing/2014/main" id="{EA86B577-3039-D7F3-F4B1-812B8EEBCA8C}"/>
              </a:ext>
            </a:extLst>
          </p:cNvPr>
          <p:cNvSpPr txBox="1"/>
          <p:nvPr/>
        </p:nvSpPr>
        <p:spPr>
          <a:xfrm>
            <a:off x="8385057" y="2404103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8" name="Grafik 34">
            <a:extLst>
              <a:ext uri="{FF2B5EF4-FFF2-40B4-BE49-F238E27FC236}">
                <a16:creationId xmlns:a16="http://schemas.microsoft.com/office/drawing/2014/main" id="{DF38581A-A138-EC6F-8E84-5A00683F9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3064108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feld 36">
            <a:extLst>
              <a:ext uri="{FF2B5EF4-FFF2-40B4-BE49-F238E27FC236}">
                <a16:creationId xmlns:a16="http://schemas.microsoft.com/office/drawing/2014/main" id="{DB1E0552-391B-A6E9-F272-0980B2DE0119}"/>
              </a:ext>
            </a:extLst>
          </p:cNvPr>
          <p:cNvSpPr txBox="1"/>
          <p:nvPr/>
        </p:nvSpPr>
        <p:spPr>
          <a:xfrm>
            <a:off x="8375090" y="3092546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10" name="Grafik 38">
            <a:extLst>
              <a:ext uri="{FF2B5EF4-FFF2-40B4-BE49-F238E27FC236}">
                <a16:creationId xmlns:a16="http://schemas.microsoft.com/office/drawing/2014/main" id="{00899134-1043-916E-3BFB-528743FBE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3749469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feld 40">
            <a:extLst>
              <a:ext uri="{FF2B5EF4-FFF2-40B4-BE49-F238E27FC236}">
                <a16:creationId xmlns:a16="http://schemas.microsoft.com/office/drawing/2014/main" id="{8CC91015-AD21-E85A-D8D9-3BAC940C9236}"/>
              </a:ext>
            </a:extLst>
          </p:cNvPr>
          <p:cNvSpPr txBox="1"/>
          <p:nvPr/>
        </p:nvSpPr>
        <p:spPr>
          <a:xfrm>
            <a:off x="8376946" y="3777907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12" name="Grafik 42">
            <a:extLst>
              <a:ext uri="{FF2B5EF4-FFF2-40B4-BE49-F238E27FC236}">
                <a16:creationId xmlns:a16="http://schemas.microsoft.com/office/drawing/2014/main" id="{D11EAA5E-45C7-CE35-6977-6FF5AC5DA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4288947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feld 44">
            <a:extLst>
              <a:ext uri="{FF2B5EF4-FFF2-40B4-BE49-F238E27FC236}">
                <a16:creationId xmlns:a16="http://schemas.microsoft.com/office/drawing/2014/main" id="{EA722B2E-0653-8D29-2354-85166EB47066}"/>
              </a:ext>
            </a:extLst>
          </p:cNvPr>
          <p:cNvSpPr txBox="1"/>
          <p:nvPr/>
        </p:nvSpPr>
        <p:spPr>
          <a:xfrm>
            <a:off x="8375090" y="4327882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14" name="Grafik 46">
            <a:extLst>
              <a:ext uri="{FF2B5EF4-FFF2-40B4-BE49-F238E27FC236}">
                <a16:creationId xmlns:a16="http://schemas.microsoft.com/office/drawing/2014/main" id="{796CB829-41C4-3450-37EC-FC9F00E6D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4843695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feld 48">
            <a:extLst>
              <a:ext uri="{FF2B5EF4-FFF2-40B4-BE49-F238E27FC236}">
                <a16:creationId xmlns:a16="http://schemas.microsoft.com/office/drawing/2014/main" id="{94A709FA-B56E-7A4B-CAFC-CD372A4ED48C}"/>
              </a:ext>
            </a:extLst>
          </p:cNvPr>
          <p:cNvSpPr txBox="1"/>
          <p:nvPr/>
        </p:nvSpPr>
        <p:spPr>
          <a:xfrm>
            <a:off x="8389400" y="4875653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16" name="Grafik 50">
            <a:extLst>
              <a:ext uri="{FF2B5EF4-FFF2-40B4-BE49-F238E27FC236}">
                <a16:creationId xmlns:a16="http://schemas.microsoft.com/office/drawing/2014/main" id="{3959F1E0-A3C3-4EF7-587A-F88AD11C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5531105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feld 52">
            <a:extLst>
              <a:ext uri="{FF2B5EF4-FFF2-40B4-BE49-F238E27FC236}">
                <a16:creationId xmlns:a16="http://schemas.microsoft.com/office/drawing/2014/main" id="{3A72745E-0D14-22FF-B64E-543423EE4920}"/>
              </a:ext>
            </a:extLst>
          </p:cNvPr>
          <p:cNvSpPr txBox="1"/>
          <p:nvPr/>
        </p:nvSpPr>
        <p:spPr>
          <a:xfrm>
            <a:off x="8389391" y="5559552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18" name="Grafik 54">
            <a:extLst>
              <a:ext uri="{FF2B5EF4-FFF2-40B4-BE49-F238E27FC236}">
                <a16:creationId xmlns:a16="http://schemas.microsoft.com/office/drawing/2014/main" id="{CD27DE49-EE91-2146-8891-0755B718E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3" y="6092820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feld 56">
            <a:extLst>
              <a:ext uri="{FF2B5EF4-FFF2-40B4-BE49-F238E27FC236}">
                <a16:creationId xmlns:a16="http://schemas.microsoft.com/office/drawing/2014/main" id="{B9ACEF9C-12A3-D174-2B55-8CF89A989805}"/>
              </a:ext>
            </a:extLst>
          </p:cNvPr>
          <p:cNvSpPr txBox="1"/>
          <p:nvPr/>
        </p:nvSpPr>
        <p:spPr>
          <a:xfrm>
            <a:off x="8389391" y="6121267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20" name="Grafik 65">
            <a:extLst>
              <a:ext uri="{FF2B5EF4-FFF2-40B4-BE49-F238E27FC236}">
                <a16:creationId xmlns:a16="http://schemas.microsoft.com/office/drawing/2014/main" id="{0EA1033F-B3D9-4B8E-F4F5-42B976BCF1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15" y="2096865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feld 67">
            <a:extLst>
              <a:ext uri="{FF2B5EF4-FFF2-40B4-BE49-F238E27FC236}">
                <a16:creationId xmlns:a16="http://schemas.microsoft.com/office/drawing/2014/main" id="{0869C1C2-F36E-F288-A27F-896159D7281F}"/>
              </a:ext>
            </a:extLst>
          </p:cNvPr>
          <p:cNvSpPr txBox="1"/>
          <p:nvPr/>
        </p:nvSpPr>
        <p:spPr>
          <a:xfrm>
            <a:off x="8388321" y="2128714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22" name="Grafik 69">
            <a:extLst>
              <a:ext uri="{FF2B5EF4-FFF2-40B4-BE49-F238E27FC236}">
                <a16:creationId xmlns:a16="http://schemas.microsoft.com/office/drawing/2014/main" id="{EE44FCDD-1A42-77F7-79EB-C427B0D7A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15" y="2706934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feld 71">
            <a:extLst>
              <a:ext uri="{FF2B5EF4-FFF2-40B4-BE49-F238E27FC236}">
                <a16:creationId xmlns:a16="http://schemas.microsoft.com/office/drawing/2014/main" id="{C034A842-061A-F604-A32A-4ABE410C0D59}"/>
              </a:ext>
            </a:extLst>
          </p:cNvPr>
          <p:cNvSpPr txBox="1"/>
          <p:nvPr/>
        </p:nvSpPr>
        <p:spPr>
          <a:xfrm>
            <a:off x="8385057" y="2743373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24" name="Grafik 73">
            <a:extLst>
              <a:ext uri="{FF2B5EF4-FFF2-40B4-BE49-F238E27FC236}">
                <a16:creationId xmlns:a16="http://schemas.microsoft.com/office/drawing/2014/main" id="{36502751-770C-A746-2F8A-F884A8C0B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15" y="3449793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feld 75">
            <a:extLst>
              <a:ext uri="{FF2B5EF4-FFF2-40B4-BE49-F238E27FC236}">
                <a16:creationId xmlns:a16="http://schemas.microsoft.com/office/drawing/2014/main" id="{E2537718-ABE1-DDD1-E7CE-5D175D238F33}"/>
              </a:ext>
            </a:extLst>
          </p:cNvPr>
          <p:cNvSpPr txBox="1"/>
          <p:nvPr/>
        </p:nvSpPr>
        <p:spPr>
          <a:xfrm>
            <a:off x="8376946" y="3483425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26" name="Grafik 77">
            <a:extLst>
              <a:ext uri="{FF2B5EF4-FFF2-40B4-BE49-F238E27FC236}">
                <a16:creationId xmlns:a16="http://schemas.microsoft.com/office/drawing/2014/main" id="{8C8B564F-87FE-D773-BE19-C869A7430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938" y="3993440"/>
            <a:ext cx="814748" cy="22641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feld 79">
            <a:extLst>
              <a:ext uri="{FF2B5EF4-FFF2-40B4-BE49-F238E27FC236}">
                <a16:creationId xmlns:a16="http://schemas.microsoft.com/office/drawing/2014/main" id="{AF6DBEBD-18B6-014A-A5E5-A2CE70619548}"/>
              </a:ext>
            </a:extLst>
          </p:cNvPr>
          <p:cNvSpPr txBox="1"/>
          <p:nvPr/>
        </p:nvSpPr>
        <p:spPr>
          <a:xfrm>
            <a:off x="8369795" y="4045552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28" name="Grafik 81">
            <a:extLst>
              <a:ext uri="{FF2B5EF4-FFF2-40B4-BE49-F238E27FC236}">
                <a16:creationId xmlns:a16="http://schemas.microsoft.com/office/drawing/2014/main" id="{9946907E-69ED-78C5-9F79-47F2CB4EF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15" y="4545930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feld 83">
            <a:extLst>
              <a:ext uri="{FF2B5EF4-FFF2-40B4-BE49-F238E27FC236}">
                <a16:creationId xmlns:a16="http://schemas.microsoft.com/office/drawing/2014/main" id="{C0F82B41-BC04-F29F-1F44-4792076CBEC8}"/>
              </a:ext>
            </a:extLst>
          </p:cNvPr>
          <p:cNvSpPr txBox="1"/>
          <p:nvPr/>
        </p:nvSpPr>
        <p:spPr>
          <a:xfrm>
            <a:off x="8375090" y="4609737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30" name="Grafik 85">
            <a:extLst>
              <a:ext uri="{FF2B5EF4-FFF2-40B4-BE49-F238E27FC236}">
                <a16:creationId xmlns:a16="http://schemas.microsoft.com/office/drawing/2014/main" id="{D2688712-2660-6308-BC54-A038CDF16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15" y="5170264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feld 87">
            <a:extLst>
              <a:ext uri="{FF2B5EF4-FFF2-40B4-BE49-F238E27FC236}">
                <a16:creationId xmlns:a16="http://schemas.microsoft.com/office/drawing/2014/main" id="{8E84AB75-CFCC-0A4C-3C65-05EB650B53CC}"/>
              </a:ext>
            </a:extLst>
          </p:cNvPr>
          <p:cNvSpPr txBox="1"/>
          <p:nvPr/>
        </p:nvSpPr>
        <p:spPr>
          <a:xfrm>
            <a:off x="8389391" y="5204993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32" name="Grafik 89">
            <a:extLst>
              <a:ext uri="{FF2B5EF4-FFF2-40B4-BE49-F238E27FC236}">
                <a16:creationId xmlns:a16="http://schemas.microsoft.com/office/drawing/2014/main" id="{841842DA-BA0D-7DA0-3575-8FF857770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0815" y="5818939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feld 91">
            <a:extLst>
              <a:ext uri="{FF2B5EF4-FFF2-40B4-BE49-F238E27FC236}">
                <a16:creationId xmlns:a16="http://schemas.microsoft.com/office/drawing/2014/main" id="{7BEBC514-2495-F8B4-8704-F57982858BC8}"/>
              </a:ext>
            </a:extLst>
          </p:cNvPr>
          <p:cNvSpPr txBox="1"/>
          <p:nvPr/>
        </p:nvSpPr>
        <p:spPr>
          <a:xfrm>
            <a:off x="8389391" y="5853668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34" name="Grafik 156">
            <a:extLst>
              <a:ext uri="{FF2B5EF4-FFF2-40B4-BE49-F238E27FC236}">
                <a16:creationId xmlns:a16="http://schemas.microsoft.com/office/drawing/2014/main" id="{38FBDD63-3504-AAD2-F8A5-1C43DBEC8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1819491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feld 158">
            <a:extLst>
              <a:ext uri="{FF2B5EF4-FFF2-40B4-BE49-F238E27FC236}">
                <a16:creationId xmlns:a16="http://schemas.microsoft.com/office/drawing/2014/main" id="{DE27CF12-6C83-22CF-56FB-A56DF33E0A5C}"/>
              </a:ext>
            </a:extLst>
          </p:cNvPr>
          <p:cNvSpPr txBox="1"/>
          <p:nvPr/>
        </p:nvSpPr>
        <p:spPr>
          <a:xfrm>
            <a:off x="9096917" y="1847938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36" name="Grafik 160">
            <a:extLst>
              <a:ext uri="{FF2B5EF4-FFF2-40B4-BE49-F238E27FC236}">
                <a16:creationId xmlns:a16="http://schemas.microsoft.com/office/drawing/2014/main" id="{AF314DE0-72CB-6D14-228D-73B5A18BD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2378747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feld 162">
            <a:extLst>
              <a:ext uri="{FF2B5EF4-FFF2-40B4-BE49-F238E27FC236}">
                <a16:creationId xmlns:a16="http://schemas.microsoft.com/office/drawing/2014/main" id="{F4A7EF70-44D5-2CAE-0C99-10F451B323DF}"/>
              </a:ext>
            </a:extLst>
          </p:cNvPr>
          <p:cNvSpPr txBox="1"/>
          <p:nvPr/>
        </p:nvSpPr>
        <p:spPr>
          <a:xfrm>
            <a:off x="9096917" y="2407194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38" name="Grafik 164">
            <a:extLst>
              <a:ext uri="{FF2B5EF4-FFF2-40B4-BE49-F238E27FC236}">
                <a16:creationId xmlns:a16="http://schemas.microsoft.com/office/drawing/2014/main" id="{ABC50555-610D-0A4A-2AE9-34E211043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3064108"/>
            <a:ext cx="973598" cy="27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feld 166">
            <a:extLst>
              <a:ext uri="{FF2B5EF4-FFF2-40B4-BE49-F238E27FC236}">
                <a16:creationId xmlns:a16="http://schemas.microsoft.com/office/drawing/2014/main" id="{21FA2358-721F-0E54-E7DB-816476157309}"/>
              </a:ext>
            </a:extLst>
          </p:cNvPr>
          <p:cNvSpPr txBox="1"/>
          <p:nvPr/>
        </p:nvSpPr>
        <p:spPr>
          <a:xfrm>
            <a:off x="9096917" y="3092546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40" name="Grafik 168">
            <a:extLst>
              <a:ext uri="{FF2B5EF4-FFF2-40B4-BE49-F238E27FC236}">
                <a16:creationId xmlns:a16="http://schemas.microsoft.com/office/drawing/2014/main" id="{7994EC2C-0122-71E1-F8E1-E43003A48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3749469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extfeld 170">
            <a:extLst>
              <a:ext uri="{FF2B5EF4-FFF2-40B4-BE49-F238E27FC236}">
                <a16:creationId xmlns:a16="http://schemas.microsoft.com/office/drawing/2014/main" id="{12AE457C-9705-C5B4-3956-479040DE31C2}"/>
              </a:ext>
            </a:extLst>
          </p:cNvPr>
          <p:cNvSpPr txBox="1"/>
          <p:nvPr/>
        </p:nvSpPr>
        <p:spPr>
          <a:xfrm>
            <a:off x="9096917" y="3777907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42" name="Grafik 172">
            <a:extLst>
              <a:ext uri="{FF2B5EF4-FFF2-40B4-BE49-F238E27FC236}">
                <a16:creationId xmlns:a16="http://schemas.microsoft.com/office/drawing/2014/main" id="{6BAF77E5-6361-542C-EC1D-E335D46BC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4288947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Textfeld 174">
            <a:extLst>
              <a:ext uri="{FF2B5EF4-FFF2-40B4-BE49-F238E27FC236}">
                <a16:creationId xmlns:a16="http://schemas.microsoft.com/office/drawing/2014/main" id="{B2BFF062-41A9-87E5-5E2A-3F913288F9B1}"/>
              </a:ext>
            </a:extLst>
          </p:cNvPr>
          <p:cNvSpPr txBox="1"/>
          <p:nvPr/>
        </p:nvSpPr>
        <p:spPr>
          <a:xfrm>
            <a:off x="9096917" y="4317385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44" name="Grafik 176">
            <a:extLst>
              <a:ext uri="{FF2B5EF4-FFF2-40B4-BE49-F238E27FC236}">
                <a16:creationId xmlns:a16="http://schemas.microsoft.com/office/drawing/2014/main" id="{1C2C0C13-5FFF-D690-5836-CB987059C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4843695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feld 178">
            <a:extLst>
              <a:ext uri="{FF2B5EF4-FFF2-40B4-BE49-F238E27FC236}">
                <a16:creationId xmlns:a16="http://schemas.microsoft.com/office/drawing/2014/main" id="{7F75ECC7-030E-8526-3FE0-658FA34E7C7C}"/>
              </a:ext>
            </a:extLst>
          </p:cNvPr>
          <p:cNvSpPr txBox="1"/>
          <p:nvPr/>
        </p:nvSpPr>
        <p:spPr>
          <a:xfrm>
            <a:off x="9096917" y="4872133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46" name="Grafik 180">
            <a:extLst>
              <a:ext uri="{FF2B5EF4-FFF2-40B4-BE49-F238E27FC236}">
                <a16:creationId xmlns:a16="http://schemas.microsoft.com/office/drawing/2014/main" id="{82E894A5-78CD-2637-1451-F2FB246B9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5531105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feld 182">
            <a:extLst>
              <a:ext uri="{FF2B5EF4-FFF2-40B4-BE49-F238E27FC236}">
                <a16:creationId xmlns:a16="http://schemas.microsoft.com/office/drawing/2014/main" id="{DCEA6E14-D946-0F9C-9D53-5A55F9F08326}"/>
              </a:ext>
            </a:extLst>
          </p:cNvPr>
          <p:cNvSpPr txBox="1"/>
          <p:nvPr/>
        </p:nvSpPr>
        <p:spPr>
          <a:xfrm>
            <a:off x="9096917" y="5559552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48" name="Grafik 184">
            <a:extLst>
              <a:ext uri="{FF2B5EF4-FFF2-40B4-BE49-F238E27FC236}">
                <a16:creationId xmlns:a16="http://schemas.microsoft.com/office/drawing/2014/main" id="{D371D34F-6472-3524-5371-648E08133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030" y="6092820"/>
            <a:ext cx="97359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Textfeld 186">
            <a:extLst>
              <a:ext uri="{FF2B5EF4-FFF2-40B4-BE49-F238E27FC236}">
                <a16:creationId xmlns:a16="http://schemas.microsoft.com/office/drawing/2014/main" id="{955D115A-1A11-CABC-0314-0ECEF821AD7B}"/>
              </a:ext>
            </a:extLst>
          </p:cNvPr>
          <p:cNvSpPr txBox="1"/>
          <p:nvPr/>
        </p:nvSpPr>
        <p:spPr>
          <a:xfrm>
            <a:off x="9096917" y="6121267"/>
            <a:ext cx="194502" cy="13342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50" name="Grafik 188">
            <a:extLst>
              <a:ext uri="{FF2B5EF4-FFF2-40B4-BE49-F238E27FC236}">
                <a16:creationId xmlns:a16="http://schemas.microsoft.com/office/drawing/2014/main" id="{0A81909B-6C95-F7B0-6BB6-AF6E9886C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42" y="2096865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Textfeld 190">
            <a:extLst>
              <a:ext uri="{FF2B5EF4-FFF2-40B4-BE49-F238E27FC236}">
                <a16:creationId xmlns:a16="http://schemas.microsoft.com/office/drawing/2014/main" id="{AFF70C43-63FA-0D79-6C47-57C019512B79}"/>
              </a:ext>
            </a:extLst>
          </p:cNvPr>
          <p:cNvSpPr txBox="1"/>
          <p:nvPr/>
        </p:nvSpPr>
        <p:spPr>
          <a:xfrm>
            <a:off x="9082607" y="2131585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52" name="Grafik 192">
            <a:extLst>
              <a:ext uri="{FF2B5EF4-FFF2-40B4-BE49-F238E27FC236}">
                <a16:creationId xmlns:a16="http://schemas.microsoft.com/office/drawing/2014/main" id="{29C652A6-D7A5-19B0-B48B-091EA5402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42" y="2706934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Textfeld 194">
            <a:extLst>
              <a:ext uri="{FF2B5EF4-FFF2-40B4-BE49-F238E27FC236}">
                <a16:creationId xmlns:a16="http://schemas.microsoft.com/office/drawing/2014/main" id="{2A13FCD8-53E2-86C6-42A4-A51D2C1F6A2C}"/>
              </a:ext>
            </a:extLst>
          </p:cNvPr>
          <p:cNvSpPr txBox="1"/>
          <p:nvPr/>
        </p:nvSpPr>
        <p:spPr>
          <a:xfrm>
            <a:off x="9082607" y="2741654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54" name="Grafik 196">
            <a:extLst>
              <a:ext uri="{FF2B5EF4-FFF2-40B4-BE49-F238E27FC236}">
                <a16:creationId xmlns:a16="http://schemas.microsoft.com/office/drawing/2014/main" id="{C32848AD-4507-7C30-7ACD-6DD9D9622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42" y="3449793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feld 198">
            <a:extLst>
              <a:ext uri="{FF2B5EF4-FFF2-40B4-BE49-F238E27FC236}">
                <a16:creationId xmlns:a16="http://schemas.microsoft.com/office/drawing/2014/main" id="{39CE3E2A-D4BC-28AA-1E1E-E888E45E8162}"/>
              </a:ext>
            </a:extLst>
          </p:cNvPr>
          <p:cNvSpPr txBox="1"/>
          <p:nvPr/>
        </p:nvSpPr>
        <p:spPr>
          <a:xfrm>
            <a:off x="9082607" y="3484522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56" name="Grafik 200">
            <a:extLst>
              <a:ext uri="{FF2B5EF4-FFF2-40B4-BE49-F238E27FC236}">
                <a16:creationId xmlns:a16="http://schemas.microsoft.com/office/drawing/2014/main" id="{C02662D3-1D97-8ECE-44B3-E85F7EE83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42" y="4003325"/>
            <a:ext cx="814748" cy="20204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feld 202">
            <a:extLst>
              <a:ext uri="{FF2B5EF4-FFF2-40B4-BE49-F238E27FC236}">
                <a16:creationId xmlns:a16="http://schemas.microsoft.com/office/drawing/2014/main" id="{9641015D-09C0-4B6E-7048-3C9C23C0734F}"/>
              </a:ext>
            </a:extLst>
          </p:cNvPr>
          <p:cNvSpPr txBox="1"/>
          <p:nvPr/>
        </p:nvSpPr>
        <p:spPr>
          <a:xfrm>
            <a:off x="9082607" y="4038045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58" name="Grafik 204">
            <a:extLst>
              <a:ext uri="{FF2B5EF4-FFF2-40B4-BE49-F238E27FC236}">
                <a16:creationId xmlns:a16="http://schemas.microsoft.com/office/drawing/2014/main" id="{D3478D66-4DBA-BEE4-DEB3-E7A934A7B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42" y="4545930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Textfeld 206">
            <a:extLst>
              <a:ext uri="{FF2B5EF4-FFF2-40B4-BE49-F238E27FC236}">
                <a16:creationId xmlns:a16="http://schemas.microsoft.com/office/drawing/2014/main" id="{434FA3A8-980B-05A3-B251-52A3C54625CF}"/>
              </a:ext>
            </a:extLst>
          </p:cNvPr>
          <p:cNvSpPr txBox="1"/>
          <p:nvPr/>
        </p:nvSpPr>
        <p:spPr>
          <a:xfrm>
            <a:off x="9082607" y="4580659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60" name="Grafik 208">
            <a:extLst>
              <a:ext uri="{FF2B5EF4-FFF2-40B4-BE49-F238E27FC236}">
                <a16:creationId xmlns:a16="http://schemas.microsoft.com/office/drawing/2014/main" id="{B9B3E479-14B6-3F05-C52C-51DC7E5A6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42" y="5170264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Textfeld 210">
            <a:extLst>
              <a:ext uri="{FF2B5EF4-FFF2-40B4-BE49-F238E27FC236}">
                <a16:creationId xmlns:a16="http://schemas.microsoft.com/office/drawing/2014/main" id="{987DACAD-DBA8-DE80-9CE4-05031C1789C6}"/>
              </a:ext>
            </a:extLst>
          </p:cNvPr>
          <p:cNvSpPr txBox="1"/>
          <p:nvPr/>
        </p:nvSpPr>
        <p:spPr>
          <a:xfrm>
            <a:off x="9082607" y="5204993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62" name="Grafik 212">
            <a:extLst>
              <a:ext uri="{FF2B5EF4-FFF2-40B4-BE49-F238E27FC236}">
                <a16:creationId xmlns:a16="http://schemas.microsoft.com/office/drawing/2014/main" id="{A95FF622-A3D8-8302-7344-61A8E10AB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342" y="5818939"/>
            <a:ext cx="814748" cy="19030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feld 214">
            <a:extLst>
              <a:ext uri="{FF2B5EF4-FFF2-40B4-BE49-F238E27FC236}">
                <a16:creationId xmlns:a16="http://schemas.microsoft.com/office/drawing/2014/main" id="{AE715D48-E7EF-5C70-6EE1-CA554162BDD8}"/>
              </a:ext>
            </a:extLst>
          </p:cNvPr>
          <p:cNvSpPr txBox="1"/>
          <p:nvPr/>
        </p:nvSpPr>
        <p:spPr>
          <a:xfrm>
            <a:off x="9082607" y="5853668"/>
            <a:ext cx="266218" cy="11684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8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</a:t>
            </a:r>
          </a:p>
        </p:txBody>
      </p:sp>
      <p:pic>
        <p:nvPicPr>
          <p:cNvPr id="64" name="Grafik 216">
            <a:extLst>
              <a:ext uri="{FF2B5EF4-FFF2-40B4-BE49-F238E27FC236}">
                <a16:creationId xmlns:a16="http://schemas.microsoft.com/office/drawing/2014/main" id="{D09D157D-B025-BB4B-BB77-95010E3604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1790029"/>
            <a:ext cx="1838437" cy="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rafik 218">
            <a:extLst>
              <a:ext uri="{FF2B5EF4-FFF2-40B4-BE49-F238E27FC236}">
                <a16:creationId xmlns:a16="http://schemas.microsoft.com/office/drawing/2014/main" id="{F8E8F0B2-E3FB-F214-DA64-0B25E498F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2073850"/>
            <a:ext cx="1838437" cy="23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rafik 220">
            <a:extLst>
              <a:ext uri="{FF2B5EF4-FFF2-40B4-BE49-F238E27FC236}">
                <a16:creationId xmlns:a16="http://schemas.microsoft.com/office/drawing/2014/main" id="{A4EA598E-99C6-B2CB-D1C7-567552FC7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0607" y="2385111"/>
            <a:ext cx="1838437" cy="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rafik 222">
            <a:extLst>
              <a:ext uri="{FF2B5EF4-FFF2-40B4-BE49-F238E27FC236}">
                <a16:creationId xmlns:a16="http://schemas.microsoft.com/office/drawing/2014/main" id="{2012C270-77EA-82E6-F431-3E65D48F50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7" y="2668932"/>
            <a:ext cx="1838437" cy="23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rafik 224">
            <a:extLst>
              <a:ext uri="{FF2B5EF4-FFF2-40B4-BE49-F238E27FC236}">
                <a16:creationId xmlns:a16="http://schemas.microsoft.com/office/drawing/2014/main" id="{5AD78FC4-0466-05A8-22E6-2747C9EF7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0607" y="3092546"/>
            <a:ext cx="1838437" cy="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rafik 226">
            <a:extLst>
              <a:ext uri="{FF2B5EF4-FFF2-40B4-BE49-F238E27FC236}">
                <a16:creationId xmlns:a16="http://schemas.microsoft.com/office/drawing/2014/main" id="{D45EFC45-CC23-BE82-276E-7EBD7DC3EF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7" y="3407356"/>
            <a:ext cx="1838437" cy="23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rafik 228">
            <a:extLst>
              <a:ext uri="{FF2B5EF4-FFF2-40B4-BE49-F238E27FC236}">
                <a16:creationId xmlns:a16="http://schemas.microsoft.com/office/drawing/2014/main" id="{76EC1525-BF19-CBC3-E743-D80EB4D8DB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0607" y="3695776"/>
            <a:ext cx="1838437" cy="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rafik 230">
            <a:extLst>
              <a:ext uri="{FF2B5EF4-FFF2-40B4-BE49-F238E27FC236}">
                <a16:creationId xmlns:a16="http://schemas.microsoft.com/office/drawing/2014/main" id="{79F7FC4A-DB78-5951-6A0B-AED44A4B3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7" y="3979596"/>
            <a:ext cx="1838437" cy="23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rafik 232">
            <a:extLst>
              <a:ext uri="{FF2B5EF4-FFF2-40B4-BE49-F238E27FC236}">
                <a16:creationId xmlns:a16="http://schemas.microsoft.com/office/drawing/2014/main" id="{B0326E3C-04EB-9FBF-47F4-6B70AB5BF4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4288947"/>
            <a:ext cx="1838437" cy="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rafik 234">
            <a:extLst>
              <a:ext uri="{FF2B5EF4-FFF2-40B4-BE49-F238E27FC236}">
                <a16:creationId xmlns:a16="http://schemas.microsoft.com/office/drawing/2014/main" id="{16F2462F-1D55-4A8A-849A-91166A5C1F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607" y="4551371"/>
            <a:ext cx="1838437" cy="23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rafik 236">
            <a:extLst>
              <a:ext uri="{FF2B5EF4-FFF2-40B4-BE49-F238E27FC236}">
                <a16:creationId xmlns:a16="http://schemas.microsoft.com/office/drawing/2014/main" id="{E58CE8B3-7890-2A5A-C091-5CF2E759B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743" y="4832695"/>
            <a:ext cx="1838437" cy="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rafik 238">
            <a:extLst>
              <a:ext uri="{FF2B5EF4-FFF2-40B4-BE49-F238E27FC236}">
                <a16:creationId xmlns:a16="http://schemas.microsoft.com/office/drawing/2014/main" id="{B671E1D1-899A-CC29-6710-5C2060046A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743" y="5166826"/>
            <a:ext cx="1838437" cy="23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rafik 240">
            <a:extLst>
              <a:ext uri="{FF2B5EF4-FFF2-40B4-BE49-F238E27FC236}">
                <a16:creationId xmlns:a16="http://schemas.microsoft.com/office/drawing/2014/main" id="{6AE79270-BC85-4E6D-57D1-576EF9EED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743" y="5497171"/>
            <a:ext cx="1838437" cy="2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rafik 242">
            <a:extLst>
              <a:ext uri="{FF2B5EF4-FFF2-40B4-BE49-F238E27FC236}">
                <a16:creationId xmlns:a16="http://schemas.microsoft.com/office/drawing/2014/main" id="{3FD925FB-3E1A-5BFB-B873-29BB60475E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181" y="5782848"/>
            <a:ext cx="1838437" cy="23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rafik 244">
            <a:extLst>
              <a:ext uri="{FF2B5EF4-FFF2-40B4-BE49-F238E27FC236}">
                <a16:creationId xmlns:a16="http://schemas.microsoft.com/office/drawing/2014/main" id="{5850C03B-A37E-2732-94B1-02C5428DB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181" y="6113202"/>
            <a:ext cx="1838437" cy="204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E006CDB5-F395-0BCF-AFFA-3258C8023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594"/>
            <a:ext cx="12191996" cy="6226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11">
            <a:extLst>
              <a:ext uri="{FF2B5EF4-FFF2-40B4-BE49-F238E27FC236}">
                <a16:creationId xmlns:a16="http://schemas.microsoft.com/office/drawing/2014/main" id="{F52F8FC8-0799-9EA0-805E-3BAB1033A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F8F02E8D-94E4-3EAC-4EA7-48F67A55F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309"/>
            <a:ext cx="12191996" cy="583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9">
            <a:extLst>
              <a:ext uri="{FF2B5EF4-FFF2-40B4-BE49-F238E27FC236}">
                <a16:creationId xmlns:a16="http://schemas.microsoft.com/office/drawing/2014/main" id="{F9AA75D1-28AC-4DC6-6251-EA07BB4B9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799991" flipH="1">
            <a:off x="11223619" y="1051065"/>
            <a:ext cx="736604" cy="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E0A6C095-F4F7-31DF-BE54-1EDD16CCB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534"/>
            <a:ext cx="12191996" cy="6086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9">
            <a:extLst>
              <a:ext uri="{FF2B5EF4-FFF2-40B4-BE49-F238E27FC236}">
                <a16:creationId xmlns:a16="http://schemas.microsoft.com/office/drawing/2014/main" id="{92745D8D-5626-918A-5AFC-B19912EA2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5D010754-F6DA-7BA8-386E-43CFEA1D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534"/>
            <a:ext cx="12191996" cy="6086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9">
            <a:extLst>
              <a:ext uri="{FF2B5EF4-FFF2-40B4-BE49-F238E27FC236}">
                <a16:creationId xmlns:a16="http://schemas.microsoft.com/office/drawing/2014/main" id="{4EA48724-9D21-B491-27CB-2A6C9EDD9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C77F9BD5-44B1-1762-4136-3D95496FE55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>
                <a:cs typeface="Arial"/>
              </a:rPr>
              <a:t>Situation</a:t>
            </a:r>
            <a:endParaRPr lang="de-DE" b="0">
              <a:solidFill>
                <a:srgbClr val="000000"/>
              </a:solidFill>
              <a:cs typeface="Arial"/>
            </a:endParaRPr>
          </a:p>
          <a:p>
            <a:pPr marL="161921" lvl="1" indent="-161921">
              <a:buFont typeface="Wingdings"/>
            </a:pPr>
            <a:r>
              <a:rPr lang="de-DE">
                <a:cs typeface="Arial"/>
              </a:rPr>
              <a:t>Bestehende Deployment API verfügt nur über Laufzeit Logging</a:t>
            </a: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1" indent="-161921">
              <a:buFont typeface="Wingdings"/>
            </a:pPr>
            <a:r>
              <a:rPr lang="de-DE">
                <a:cs typeface="Arial"/>
              </a:rPr>
              <a:t>Für Betrieb, Security-Nachvollziehbarkeit und Fehleranalyse fehlt Audit-Track pro Request</a:t>
            </a: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1" indent="-161921">
              <a:buFont typeface="Wingdings"/>
            </a:pPr>
            <a:endParaRPr lang="de-DE">
              <a:solidFill>
                <a:srgbClr val="000000"/>
              </a:solidFill>
              <a:cs typeface="Arial"/>
            </a:endParaRPr>
          </a:p>
          <a:p>
            <a:pPr lvl="0"/>
            <a:endParaRPr lang="de-DE">
              <a:cs typeface="Arial"/>
            </a:endParaRP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E894A5B1-8110-CB2E-8927-78A70CF79EF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34963" y="6524984"/>
            <a:ext cx="9155192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de-DE" sz="900">
                <a:solidFill>
                  <a:srgbClr val="535456"/>
                </a:solidFill>
                <a:latin typeface="Arial"/>
                <a:ea typeface="Microsoft YaHei"/>
                <a:cs typeface="Arial"/>
              </a:rPr>
              <a:t>C#-Klasse ApiRequestLog</a:t>
            </a:r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79AD91B7-8F5D-4045-FF6B-9565928D91C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4E67AF35-4CDC-466C-BF72-89DCFFF2A761}" type="slidenum">
              <a:t>13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8FC90F26-7444-768F-0452-79031E429F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E8118531-8887-A48D-55FF-81844773B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303169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Bildplatzhalter 12">
            <a:extLst>
              <a:ext uri="{FF2B5EF4-FFF2-40B4-BE49-F238E27FC236}">
                <a16:creationId xmlns:a16="http://schemas.microsoft.com/office/drawing/2014/main" id="{44832389-1612-117D-ED69-35B8C6FB066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21" r="21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8" name="Grafik 14">
            <a:extLst>
              <a:ext uri="{FF2B5EF4-FFF2-40B4-BE49-F238E27FC236}">
                <a16:creationId xmlns:a16="http://schemas.microsoft.com/office/drawing/2014/main" id="{A6E91D35-F4E3-1E59-30A4-E8C1B77BF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7">
            <a:extLst>
              <a:ext uri="{FF2B5EF4-FFF2-40B4-BE49-F238E27FC236}">
                <a16:creationId xmlns:a16="http://schemas.microsoft.com/office/drawing/2014/main" id="{B95C9C6F-4A28-5D86-8696-7ED87EED7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9C3E7B6-1AA1-4A2A-FEF2-6AFEB0884C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Task</a:t>
            </a:r>
            <a:endParaRPr lang="de-DE">
              <a:solidFill>
                <a:srgbClr val="000000"/>
              </a:solidFill>
            </a:endParaRPr>
          </a:p>
          <a:p>
            <a:pPr marL="161921" lvl="1" indent="-161921">
              <a:buFont typeface="Wingdings"/>
            </a:pPr>
            <a:r>
              <a:rPr lang="de-DE"/>
              <a:t>Aufbau von vollständiger Logging-Lösung</a:t>
            </a:r>
            <a:endParaRPr lang="de-DE">
              <a:solidFill>
                <a:srgbClr val="000000"/>
              </a:solidFill>
            </a:endParaRPr>
          </a:p>
          <a:p>
            <a:pPr marL="161921" lvl="1" indent="-161921">
              <a:buFont typeface="Wingdings"/>
            </a:pPr>
            <a:r>
              <a:rPr lang="de-DE">
                <a:cs typeface="Arial"/>
              </a:rPr>
              <a:t>Zuverlässiges &amp; sauberes API-Logging</a:t>
            </a: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1" indent="-161921">
              <a:buFont typeface="Wingdings"/>
            </a:pPr>
            <a:r>
              <a:rPr lang="de-DE">
                <a:cs typeface="Arial"/>
              </a:rPr>
              <a:t>API-Requests in DB</a:t>
            </a: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1" indent="-161921">
              <a:buFont typeface="Wingdings"/>
            </a:pPr>
            <a:r>
              <a:rPr lang="de-DE">
                <a:cs typeface="Arial"/>
              </a:rPr>
              <a:t>Caller-ID &amp; Laufzeitinformationen in DB</a:t>
            </a: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2" indent="-285750">
              <a:buFont typeface="Wingdings"/>
            </a:pP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2" indent="0">
              <a:buNone/>
            </a:pPr>
            <a:endParaRPr lang="de-DE">
              <a:solidFill>
                <a:srgbClr val="000000"/>
              </a:solidFill>
              <a:cs typeface="Arial"/>
            </a:endParaRPr>
          </a:p>
          <a:p>
            <a:pPr lvl="0"/>
            <a:endParaRPr lang="de-DE">
              <a:cs typeface="Arial"/>
            </a:endParaRP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2C5008FE-93E1-371F-2631-CEB2F8F7D25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34963" y="6524984"/>
            <a:ext cx="9155192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de-DE" sz="900">
                <a:solidFill>
                  <a:srgbClr val="535456"/>
                </a:solidFill>
                <a:latin typeface="Arial"/>
                <a:ea typeface="Microsoft YaHei"/>
                <a:cs typeface="Arial"/>
              </a:rPr>
              <a:t>Beispielausgabe eines Logs</a:t>
            </a:r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89EAA303-E615-481C-DEB5-92E3EA6BFC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6615F9D5-3BB2-4D5E-9190-1A9170CED726}" type="slidenum">
              <a:t>14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7A86F3F-BBCD-76F3-8BFE-E261575ED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15">
            <a:extLst>
              <a:ext uri="{FF2B5EF4-FFF2-40B4-BE49-F238E27FC236}">
                <a16:creationId xmlns:a16="http://schemas.microsoft.com/office/drawing/2014/main" id="{450030E3-4CAA-8ABC-D923-F54A492F1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47" y="4808216"/>
            <a:ext cx="5653085" cy="157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1B772FC-3F9E-2EFC-594F-75B977CC4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31" y="19998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13">
            <a:extLst>
              <a:ext uri="{FF2B5EF4-FFF2-40B4-BE49-F238E27FC236}">
                <a16:creationId xmlns:a16="http://schemas.microsoft.com/office/drawing/2014/main" id="{E02817AC-AB1D-5CD3-8D01-102E4EC170D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l="32366" r="32366"/>
          <a:stretch>
            <a:fillRect/>
          </a:stretch>
        </p:blipFill>
        <p:spPr>
          <a:xfrm>
            <a:off x="6639714" y="3272628"/>
            <a:ext cx="4781553" cy="1428750"/>
          </a:xfrm>
          <a:solidFill>
            <a:srgbClr val="BBBCBD"/>
          </a:solidFill>
        </p:spPr>
      </p:pic>
      <p:pic>
        <p:nvPicPr>
          <p:cNvPr id="9" name="Grafik 10">
            <a:extLst>
              <a:ext uri="{FF2B5EF4-FFF2-40B4-BE49-F238E27FC236}">
                <a16:creationId xmlns:a16="http://schemas.microsoft.com/office/drawing/2014/main" id="{B3E19F82-D64A-B6CD-FB38-488C7F58F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571" y="1556107"/>
            <a:ext cx="5721537" cy="3108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2">
            <a:extLst>
              <a:ext uri="{FF2B5EF4-FFF2-40B4-BE49-F238E27FC236}">
                <a16:creationId xmlns:a16="http://schemas.microsoft.com/office/drawing/2014/main" id="{32CF2151-EC90-83EC-0E42-7851B9EAF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3" y="4664985"/>
            <a:ext cx="5944550" cy="175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16">
            <a:extLst>
              <a:ext uri="{FF2B5EF4-FFF2-40B4-BE49-F238E27FC236}">
                <a16:creationId xmlns:a16="http://schemas.microsoft.com/office/drawing/2014/main" id="{E2C3004D-1C51-5B7C-682C-C59FDBB1DC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3947" y="4879448"/>
            <a:ext cx="5077535" cy="52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A2E5F38E-EEC2-86BC-9BEF-49AC6496EC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rafik 9">
            <a:extLst>
              <a:ext uri="{FF2B5EF4-FFF2-40B4-BE49-F238E27FC236}">
                <a16:creationId xmlns:a16="http://schemas.microsoft.com/office/drawing/2014/main" id="{C2FDADCA-2D08-671A-2EB5-87EFE2710A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platzhalter 16" descr="Ein Bild, das Text, Screenshot, Schrift, Algebra enthält.&#10;&#10;KI-generierte Inhalte können fehlerhaft sein.">
            <a:extLst>
              <a:ext uri="{FF2B5EF4-FFF2-40B4-BE49-F238E27FC236}">
                <a16:creationId xmlns:a16="http://schemas.microsoft.com/office/drawing/2014/main" id="{A7093016-C9C0-D486-3C5A-30C40FAEE12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r="-20146" b="-38365"/>
          <a:stretch>
            <a:fillRect/>
          </a:stretch>
        </p:blipFill>
        <p:spPr>
          <a:xfrm>
            <a:off x="6246184" y="1625309"/>
            <a:ext cx="5653085" cy="4789490"/>
          </a:xfrm>
          <a:prstGeom prst="rect">
            <a:avLst/>
          </a:prstGeom>
          <a:solidFill>
            <a:srgbClr val="BBBCBD"/>
          </a:solidFill>
          <a:ln>
            <a:noFill/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6586485-4C3F-5DBE-AEF1-1E8867769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384" y="4991444"/>
            <a:ext cx="5846518" cy="143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rafik 17">
            <a:extLst>
              <a:ext uri="{FF2B5EF4-FFF2-40B4-BE49-F238E27FC236}">
                <a16:creationId xmlns:a16="http://schemas.microsoft.com/office/drawing/2014/main" id="{8162FEA5-36C5-5F64-14FB-92A1502399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0975" y="1621487"/>
            <a:ext cx="1264304" cy="35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DD27697C-0337-B01F-1F45-29346095BA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  <a:endParaRPr lang="en-US" b="0">
              <a:solidFill>
                <a:srgbClr val="000000"/>
              </a:solidFill>
              <a:cs typeface="Arial"/>
            </a:endParaRPr>
          </a:p>
          <a:p>
            <a:pPr marL="161921" lvl="1" indent="-161921">
              <a:buFont typeface="Wingdings"/>
            </a:pPr>
            <a:r>
              <a:rPr lang="de-DE"/>
              <a:t>Implementierung von Serilog</a:t>
            </a: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1" indent="-161921">
              <a:buFont typeface="Wingdings"/>
            </a:pPr>
            <a:r>
              <a:rPr lang="de-DE">
                <a:cs typeface="Arial"/>
              </a:rPr>
              <a:t>Eigene Middleware für API-Request-Logging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323853" lvl="2" indent="-161921">
              <a:buFont typeface="Wingdings"/>
            </a:pPr>
            <a:r>
              <a:rPr lang="de-DE">
                <a:cs typeface="Arial"/>
              </a:rPr>
              <a:t>Misst Dauer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323853" lvl="2" indent="-161921">
              <a:buFont typeface="Wingdings"/>
            </a:pPr>
            <a:r>
              <a:rPr lang="de-DE">
                <a:cs typeface="Arial"/>
              </a:rPr>
              <a:t>Erfasst Statuscode, Pfad, Methode, IP, Caller, Hostname &amp; Environment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323853" lvl="2" indent="-161921">
              <a:buFont typeface="Wingdings"/>
            </a:pPr>
            <a:r>
              <a:rPr lang="de-DE">
                <a:cs typeface="Arial"/>
              </a:rPr>
              <a:t>Protokolliert Fehler</a:t>
            </a:r>
            <a:endParaRPr lang="en-US">
              <a:solidFill>
                <a:srgbClr val="000000"/>
              </a:solidFill>
              <a:cs typeface="Arial"/>
            </a:endParaRPr>
          </a:p>
          <a:p>
            <a:pPr marL="161921" lvl="2" indent="0">
              <a:buNone/>
            </a:pPr>
            <a:endParaRPr lang="de-DE">
              <a:solidFill>
                <a:srgbClr val="000000"/>
              </a:solidFill>
              <a:cs typeface="Arial"/>
            </a:endParaRPr>
          </a:p>
          <a:p>
            <a:pPr marL="161921" lvl="2" indent="0">
              <a:buNone/>
            </a:pPr>
            <a:endParaRPr lang="de-DE">
              <a:solidFill>
                <a:srgbClr val="000000"/>
              </a:solidFill>
              <a:cs typeface="Arial"/>
            </a:endParaRPr>
          </a:p>
          <a:p>
            <a:pPr lvl="0"/>
            <a:endParaRPr lang="de-DE">
              <a:cs typeface="Arial"/>
            </a:endParaRPr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EEC085F7-7EB2-D88D-9C7A-87B1E4967D5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34963" y="6524984"/>
            <a:ext cx="9155192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Serilog Setup (Konsole + Datei + Rotation)</a:t>
            </a:r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4F14A61F-164A-2DE4-1549-F19582EF988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B04890A6-1F4F-40DB-90B8-30B25B9BF8E9}" type="slidenum">
              <a:t>15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05721857-468F-D1A4-6E01-C79BA3FED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15">
            <a:extLst>
              <a:ext uri="{FF2B5EF4-FFF2-40B4-BE49-F238E27FC236}">
                <a16:creationId xmlns:a16="http://schemas.microsoft.com/office/drawing/2014/main" id="{8D5E7E92-758A-B14E-053A-3B09B18E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47" y="4808216"/>
            <a:ext cx="5653085" cy="157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B33ED72-C19D-8CC9-4F9F-9D37DF54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31" y="199988"/>
            <a:ext cx="2429213" cy="5525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Bildplatzhalter 8">
            <a:extLst>
              <a:ext uri="{FF2B5EF4-FFF2-40B4-BE49-F238E27FC236}">
                <a16:creationId xmlns:a16="http://schemas.microsoft.com/office/drawing/2014/main" id="{E8423964-B605-A541-D055-B44DC5557A5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203947" y="1592263"/>
            <a:ext cx="5653085" cy="4789490"/>
          </a:xfrm>
          <a:solidFill>
            <a:srgbClr val="BBBCBD"/>
          </a:solidFill>
        </p:spPr>
        <p:txBody>
          <a:bodyPr/>
          <a:lstStyle/>
          <a:p>
            <a:endParaRPr lang="de-DE"/>
          </a:p>
        </p:txBody>
      </p:sp>
      <p:pic>
        <p:nvPicPr>
          <p:cNvPr id="9" name="Grafik 10">
            <a:extLst>
              <a:ext uri="{FF2B5EF4-FFF2-40B4-BE49-F238E27FC236}">
                <a16:creationId xmlns:a16="http://schemas.microsoft.com/office/drawing/2014/main" id="{C5F4FA05-6BAA-FF45-E68E-292C9C6C0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571" y="1556107"/>
            <a:ext cx="5721537" cy="3108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2">
            <a:extLst>
              <a:ext uri="{FF2B5EF4-FFF2-40B4-BE49-F238E27FC236}">
                <a16:creationId xmlns:a16="http://schemas.microsoft.com/office/drawing/2014/main" id="{FA7CB51C-4FAE-C343-7DC2-B1F933B30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3" y="4664985"/>
            <a:ext cx="5944550" cy="175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16">
            <a:extLst>
              <a:ext uri="{FF2B5EF4-FFF2-40B4-BE49-F238E27FC236}">
                <a16:creationId xmlns:a16="http://schemas.microsoft.com/office/drawing/2014/main" id="{4DFBEB30-2BAE-C2D5-8BBD-F0DDCE2D1F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47" y="4879448"/>
            <a:ext cx="5077535" cy="52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8D122FA0-F653-5479-E5D3-401AFD1D8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rafik 9">
            <a:extLst>
              <a:ext uri="{FF2B5EF4-FFF2-40B4-BE49-F238E27FC236}">
                <a16:creationId xmlns:a16="http://schemas.microsoft.com/office/drawing/2014/main" id="{F1EE60EA-C9B8-D4E4-7C18-7EED2DB6D8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03A8225-5863-3BE5-C4ED-5E8D06FE6E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</a:p>
          <a:p>
            <a:pPr lvl="1"/>
            <a:r>
              <a:rPr lang="de-DE"/>
              <a:t>Implementierung von Serilog</a:t>
            </a:r>
          </a:p>
          <a:p>
            <a:pPr lvl="1"/>
            <a:r>
              <a:rPr lang="de-DE"/>
              <a:t>Eigene Middleware für API-Request-Logging</a:t>
            </a:r>
          </a:p>
          <a:p>
            <a:pPr lvl="2"/>
            <a:r>
              <a:rPr lang="de-DE"/>
              <a:t>Misst Dauer</a:t>
            </a:r>
          </a:p>
          <a:p>
            <a:pPr lvl="2"/>
            <a:r>
              <a:rPr lang="de-DE"/>
              <a:t>Erfasst Statuscode, Pfad, Methode, IP, Caller, Hostname &amp; Environment</a:t>
            </a:r>
          </a:p>
          <a:p>
            <a:pPr lvl="2"/>
            <a:r>
              <a:rPr lang="de-DE"/>
              <a:t>Protokolliert Fehler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15F17A18-02D7-D0ED-C927-DE3D2A7D4FA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34963" y="6524984"/>
            <a:ext cx="9155192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de-DE" sz="900">
                <a:solidFill>
                  <a:srgbClr val="535456"/>
                </a:solidFill>
                <a:latin typeface="Arial"/>
                <a:ea typeface="Microsoft YaHei"/>
                <a:cs typeface="Arial"/>
              </a:rPr>
              <a:t>Zeitmessung inkl. Fehlermeldung (500)</a:t>
            </a:r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289B83D5-102B-3C7F-B70E-E6ACA39D1E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2443EB59-ECD3-4B94-8194-C619FC40D60B}" type="slidenum">
              <a:t>16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9E857ECA-B08D-5AE1-F329-863ADD313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82E7F220-29A9-067C-F743-8CCAF6420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Bildplatzhalter 10">
            <a:extLst>
              <a:ext uri="{FF2B5EF4-FFF2-40B4-BE49-F238E27FC236}">
                <a16:creationId xmlns:a16="http://schemas.microsoft.com/office/drawing/2014/main" id="{1DF9F5B5-2E08-2CB4-3471-B844CEA6C6C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-20" t="522" r="68" b="-39147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8" name="Grafik 12">
            <a:extLst>
              <a:ext uri="{FF2B5EF4-FFF2-40B4-BE49-F238E27FC236}">
                <a16:creationId xmlns:a16="http://schemas.microsoft.com/office/drawing/2014/main" id="{4F8EA145-C66B-1FD3-D648-CE182F00D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3" y="4975140"/>
            <a:ext cx="5823374" cy="140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4">
            <a:extLst>
              <a:ext uri="{FF2B5EF4-FFF2-40B4-BE49-F238E27FC236}">
                <a16:creationId xmlns:a16="http://schemas.microsoft.com/office/drawing/2014/main" id="{E743D699-6CDB-15E4-60B6-F5B32E4B7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AE3A2D27-DF55-AA60-6560-9F27419DF4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4670A698-70FE-9BE4-43D7-CBBD87D7245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</a:p>
          <a:p>
            <a:pPr lvl="1"/>
            <a:r>
              <a:rPr lang="de-DE"/>
              <a:t>Implementierung von Serilog</a:t>
            </a:r>
          </a:p>
          <a:p>
            <a:pPr lvl="1"/>
            <a:r>
              <a:rPr lang="de-DE"/>
              <a:t>Eigene Middleware für API-Request-Logging</a:t>
            </a:r>
          </a:p>
          <a:p>
            <a:pPr lvl="2"/>
            <a:r>
              <a:rPr lang="de-DE"/>
              <a:t>Misst Dauer</a:t>
            </a:r>
          </a:p>
          <a:p>
            <a:pPr lvl="2"/>
            <a:r>
              <a:rPr lang="de-DE"/>
              <a:t>Erfasst Statuscode, Pfad, Methode, IP, Caller, Hostname &amp; Environment</a:t>
            </a:r>
          </a:p>
          <a:p>
            <a:pPr lvl="2"/>
            <a:r>
              <a:rPr lang="de-DE"/>
              <a:t>Protokolliert Fehler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314BF727-ABD7-1AC8-7934-A791A38631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77713F02-765C-4B69-AEB7-4AEA726B241F}" type="slidenum">
              <a:t>17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9558B6CB-5704-7E1E-D1F6-824ABA6215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D1A0EF77-5178-3156-5009-7CCEFB363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2">
            <a:extLst>
              <a:ext uri="{FF2B5EF4-FFF2-40B4-BE49-F238E27FC236}">
                <a16:creationId xmlns:a16="http://schemas.microsoft.com/office/drawing/2014/main" id="{39F9A9D5-CBAD-399B-FBA6-1B7410669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3" y="4975140"/>
            <a:ext cx="5823374" cy="140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10">
            <a:extLst>
              <a:ext uri="{FF2B5EF4-FFF2-40B4-BE49-F238E27FC236}">
                <a16:creationId xmlns:a16="http://schemas.microsoft.com/office/drawing/2014/main" id="{472E1CFB-C3CA-1D83-D83E-6C88667F7D8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l="710" r="710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11">
            <a:extLst>
              <a:ext uri="{FF2B5EF4-FFF2-40B4-BE49-F238E27FC236}">
                <a16:creationId xmlns:a16="http://schemas.microsoft.com/office/drawing/2014/main" id="{8972D113-86BD-D108-5E0E-8CC31230E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74E0F67D-61E0-4552-AD7C-ED911084E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E0DF96CE-C053-B1DF-6112-7FF6D48B8E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</a:p>
          <a:p>
            <a:pPr lvl="1"/>
            <a:r>
              <a:rPr lang="de-DE"/>
              <a:t>SQL-Skript für Tabelle</a:t>
            </a:r>
          </a:p>
          <a:p>
            <a:pPr lvl="1"/>
            <a:r>
              <a:rPr lang="de-DE"/>
              <a:t>Activity Endpoints zum Auslesen mit Filtern	</a:t>
            </a:r>
          </a:p>
          <a:p>
            <a:pPr lvl="2"/>
            <a:r>
              <a:rPr lang="de-DE"/>
              <a:t>Zeit, Caller, Pfad, Hostname, Status</a:t>
            </a:r>
          </a:p>
          <a:p>
            <a:pPr lvl="1"/>
            <a:r>
              <a:rPr lang="de-DE"/>
              <a:t>Tägliche Löschung alter Logs (Background-Service)</a:t>
            </a:r>
          </a:p>
          <a:p>
            <a:pPr lvl="1"/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879DE00B-5F08-5E2C-5227-C70B971761D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2E7A6146-5CD4-4B6C-897E-BA54189689B0}" type="slidenum">
              <a:t>18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2FE52E78-23DC-66D0-ED7E-F688BB53D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34393FBA-9A27-9CEE-C3AF-A95EFE443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Bildplatzhalter 10">
            <a:extLst>
              <a:ext uri="{FF2B5EF4-FFF2-40B4-BE49-F238E27FC236}">
                <a16:creationId xmlns:a16="http://schemas.microsoft.com/office/drawing/2014/main" id="{4A34746D-EE52-81D2-421C-91EF4304D69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-20" t="1" r="-1" b="-12637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8" name="Grafik 15">
            <a:extLst>
              <a:ext uri="{FF2B5EF4-FFF2-40B4-BE49-F238E27FC236}">
                <a16:creationId xmlns:a16="http://schemas.microsoft.com/office/drawing/2014/main" id="{D0377178-5FE5-532E-B3B2-D323220D3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711" y="3200372"/>
            <a:ext cx="3648584" cy="457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7">
            <a:extLst>
              <a:ext uri="{FF2B5EF4-FFF2-40B4-BE49-F238E27FC236}">
                <a16:creationId xmlns:a16="http://schemas.microsoft.com/office/drawing/2014/main" id="{5CA1D60D-1131-1103-588D-B4440AA73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47" y="5848282"/>
            <a:ext cx="5651942" cy="60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9">
            <a:extLst>
              <a:ext uri="{FF2B5EF4-FFF2-40B4-BE49-F238E27FC236}">
                <a16:creationId xmlns:a16="http://schemas.microsoft.com/office/drawing/2014/main" id="{E2B12DDA-4163-3019-34F4-6A2CFB1A8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7">
            <a:extLst>
              <a:ext uri="{FF2B5EF4-FFF2-40B4-BE49-F238E27FC236}">
                <a16:creationId xmlns:a16="http://schemas.microsoft.com/office/drawing/2014/main" id="{DB43D8B1-6B1E-3F2B-6FD5-34F1C7485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5633C461-595F-60C9-96B3-95007188C01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</a:p>
          <a:p>
            <a:pPr lvl="1"/>
            <a:r>
              <a:rPr lang="de-DE"/>
              <a:t>SQL-Skript für Tabelle</a:t>
            </a:r>
          </a:p>
          <a:p>
            <a:pPr lvl="1"/>
            <a:r>
              <a:rPr lang="de-DE"/>
              <a:t>Activity Endpoints zum Auslesen mit Filtern	</a:t>
            </a:r>
          </a:p>
          <a:p>
            <a:pPr lvl="2"/>
            <a:r>
              <a:rPr lang="de-DE"/>
              <a:t>Zeit, Caller, Pfad, Hostname, Status</a:t>
            </a:r>
          </a:p>
          <a:p>
            <a:pPr lvl="1"/>
            <a:r>
              <a:rPr lang="de-DE"/>
              <a:t>Tägliche Löschung alter Logs (Background-Service)</a:t>
            </a:r>
          </a:p>
          <a:p>
            <a:pPr lvl="1"/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0890C470-C60B-85D8-B1AA-CAD49B55349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E05EC79A-FAFE-4DA5-BC88-61B8CBE7D78A}" type="slidenum">
              <a:t>19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4386564-1E9D-23BB-269B-4EADB9E56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5DD26A1C-B29C-5BC2-EFE3-A9C5A0F83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5">
            <a:extLst>
              <a:ext uri="{FF2B5EF4-FFF2-40B4-BE49-F238E27FC236}">
                <a16:creationId xmlns:a16="http://schemas.microsoft.com/office/drawing/2014/main" id="{515C4C75-E875-DE40-5423-48DD5AB96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711" y="3200372"/>
            <a:ext cx="3648584" cy="457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17">
            <a:extLst>
              <a:ext uri="{FF2B5EF4-FFF2-40B4-BE49-F238E27FC236}">
                <a16:creationId xmlns:a16="http://schemas.microsoft.com/office/drawing/2014/main" id="{C82DD471-3775-598D-8074-0975489AA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7" y="5848282"/>
            <a:ext cx="5651942" cy="602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Bildplatzhalter 11">
            <a:extLst>
              <a:ext uri="{FF2B5EF4-FFF2-40B4-BE49-F238E27FC236}">
                <a16:creationId xmlns:a16="http://schemas.microsoft.com/office/drawing/2014/main" id="{807CC0EA-EB1A-D775-52FE-656A416CAAEC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r="-20" b="-116976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10" name="Grafik 20">
            <a:extLst>
              <a:ext uri="{FF2B5EF4-FFF2-40B4-BE49-F238E27FC236}">
                <a16:creationId xmlns:a16="http://schemas.microsoft.com/office/drawing/2014/main" id="{8B1F11AC-A28B-90BD-1C85-A99747FCA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47" y="3656493"/>
            <a:ext cx="5678058" cy="2120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24">
            <a:extLst>
              <a:ext uri="{FF2B5EF4-FFF2-40B4-BE49-F238E27FC236}">
                <a16:creationId xmlns:a16="http://schemas.microsoft.com/office/drawing/2014/main" id="{C61E2EB7-B14E-82C8-58B0-A910F8828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47" y="5757775"/>
            <a:ext cx="5915847" cy="71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erader Verbinder 26">
            <a:extLst>
              <a:ext uri="{FF2B5EF4-FFF2-40B4-BE49-F238E27FC236}">
                <a16:creationId xmlns:a16="http://schemas.microsoft.com/office/drawing/2014/main" id="{1E3089CF-1981-19DA-7882-A8BF3DF69999}"/>
              </a:ext>
            </a:extLst>
          </p:cNvPr>
          <p:cNvCxnSpPr/>
          <p:nvPr/>
        </p:nvCxnSpPr>
        <p:spPr>
          <a:xfrm>
            <a:off x="6203947" y="5757775"/>
            <a:ext cx="5566877" cy="0"/>
          </a:xfrm>
          <a:prstGeom prst="straightConnector1">
            <a:avLst/>
          </a:prstGeom>
          <a:noFill/>
          <a:ln w="6345" cap="flat">
            <a:solidFill>
              <a:srgbClr val="535456"/>
            </a:solidFill>
            <a:prstDash val="solid"/>
          </a:ln>
        </p:spPr>
      </p:cxnSp>
      <p:cxnSp>
        <p:nvCxnSpPr>
          <p:cNvPr id="13" name="Gerader Verbinder 28">
            <a:extLst>
              <a:ext uri="{FF2B5EF4-FFF2-40B4-BE49-F238E27FC236}">
                <a16:creationId xmlns:a16="http://schemas.microsoft.com/office/drawing/2014/main" id="{B40E2CE0-C074-C446-0AE7-1BB0407E1F1C}"/>
              </a:ext>
            </a:extLst>
          </p:cNvPr>
          <p:cNvCxnSpPr/>
          <p:nvPr/>
        </p:nvCxnSpPr>
        <p:spPr>
          <a:xfrm>
            <a:off x="6096003" y="3715618"/>
            <a:ext cx="5566867" cy="0"/>
          </a:xfrm>
          <a:prstGeom prst="straightConnector1">
            <a:avLst/>
          </a:prstGeom>
          <a:noFill/>
          <a:ln w="6345" cap="flat">
            <a:solidFill>
              <a:srgbClr val="535456"/>
            </a:solidFill>
            <a:prstDash val="solid"/>
          </a:ln>
        </p:spPr>
      </p:cxnSp>
      <p:pic>
        <p:nvPicPr>
          <p:cNvPr id="14" name="Grafik 30">
            <a:extLst>
              <a:ext uri="{FF2B5EF4-FFF2-40B4-BE49-F238E27FC236}">
                <a16:creationId xmlns:a16="http://schemas.microsoft.com/office/drawing/2014/main" id="{BA616D92-61BA-B8D4-FA6C-90EAA7CB4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rafik 7">
            <a:extLst>
              <a:ext uri="{FF2B5EF4-FFF2-40B4-BE49-F238E27FC236}">
                <a16:creationId xmlns:a16="http://schemas.microsoft.com/office/drawing/2014/main" id="{E295AFFD-5516-54C2-D4AE-98C334EDDF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CEA1D829-AFCD-40A3-D0C3-1321E6A22B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Result</a:t>
            </a:r>
          </a:p>
          <a:p>
            <a:pPr lvl="1"/>
            <a:r>
              <a:rPr lang="de-DE"/>
              <a:t>End-to-End Logging durch Konsole &amp; DB</a:t>
            </a:r>
          </a:p>
          <a:p>
            <a:pPr lvl="1"/>
            <a:r>
              <a:rPr lang="de-DE"/>
              <a:t>Nachvollziehbare Requests</a:t>
            </a:r>
          </a:p>
          <a:p>
            <a:pPr lvl="1"/>
            <a:r>
              <a:rPr lang="de-DE"/>
              <a:t>Activity Ansicht ist praxistauglich</a:t>
            </a:r>
          </a:p>
          <a:p>
            <a:pPr lvl="1"/>
            <a:r>
              <a:rPr lang="de-DE"/>
              <a:t>DB wächst kontrolliert durch automatische Löschung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9720C6D3-5178-4940-C54C-E0A71EC6A6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70E33D6B-F6AC-43D1-BE67-19AA2EC9D873}" type="slidenum">
              <a:t>20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62DD71A6-0DF3-78BB-DFE9-2D85B740B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1 - Logging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F39650B5-FE66-9866-2E84-9008F0008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2">
            <a:extLst>
              <a:ext uri="{FF2B5EF4-FFF2-40B4-BE49-F238E27FC236}">
                <a16:creationId xmlns:a16="http://schemas.microsoft.com/office/drawing/2014/main" id="{A422FC93-D6C7-FFAE-1142-51D0F841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7" y="5738600"/>
            <a:ext cx="5715420" cy="64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16">
            <a:extLst>
              <a:ext uri="{FF2B5EF4-FFF2-40B4-BE49-F238E27FC236}">
                <a16:creationId xmlns:a16="http://schemas.microsoft.com/office/drawing/2014/main" id="{BF8E677E-612A-8633-AD14-A235F2E6205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t="1" r="-20146" b="-38365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20">
            <a:extLst>
              <a:ext uri="{FF2B5EF4-FFF2-40B4-BE49-F238E27FC236}">
                <a16:creationId xmlns:a16="http://schemas.microsoft.com/office/drawing/2014/main" id="{43C44BB1-35DB-0B18-4BF2-C202A1CA0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504" y="5038728"/>
            <a:ext cx="5801538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22">
            <a:extLst>
              <a:ext uri="{FF2B5EF4-FFF2-40B4-BE49-F238E27FC236}">
                <a16:creationId xmlns:a16="http://schemas.microsoft.com/office/drawing/2014/main" id="{10A53CEE-68D8-B1F0-09E4-792D54253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9023" y="1592263"/>
            <a:ext cx="1018010" cy="4789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24">
            <a:extLst>
              <a:ext uri="{FF2B5EF4-FFF2-40B4-BE49-F238E27FC236}">
                <a16:creationId xmlns:a16="http://schemas.microsoft.com/office/drawing/2014/main" id="{EDEFF4B9-7EF4-2031-315E-1BA49CACC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C7E212AE-6F9A-5BD1-F5E0-95111E6B75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38FDD8C5-F634-6EDF-E27D-62007FA45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7060"/>
            <a:ext cx="12292983" cy="607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9">
            <a:extLst>
              <a:ext uri="{FF2B5EF4-FFF2-40B4-BE49-F238E27FC236}">
                <a16:creationId xmlns:a16="http://schemas.microsoft.com/office/drawing/2014/main" id="{A06E0818-BCBD-E736-F5D7-F450D85C8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40">
            <a:extLst>
              <a:ext uri="{FF2B5EF4-FFF2-40B4-BE49-F238E27FC236}">
                <a16:creationId xmlns:a16="http://schemas.microsoft.com/office/drawing/2014/main" id="{75C39E6C-D7C2-23B7-5764-50E38395D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767"/>
            <a:ext cx="12191996" cy="61182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141">
            <a:extLst>
              <a:ext uri="{FF2B5EF4-FFF2-40B4-BE49-F238E27FC236}">
                <a16:creationId xmlns:a16="http://schemas.microsoft.com/office/drawing/2014/main" id="{B3F9029A-95C6-58BD-639D-600696FF8097}"/>
              </a:ext>
            </a:extLst>
          </p:cNvPr>
          <p:cNvSpPr txBox="1"/>
          <p:nvPr/>
        </p:nvSpPr>
        <p:spPr>
          <a:xfrm>
            <a:off x="7453310" y="2797972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sp>
        <p:nvSpPr>
          <p:cNvPr id="4" name="Textfeld 143">
            <a:extLst>
              <a:ext uri="{FF2B5EF4-FFF2-40B4-BE49-F238E27FC236}">
                <a16:creationId xmlns:a16="http://schemas.microsoft.com/office/drawing/2014/main" id="{6169A25E-6512-6688-73A0-963CCA7E3579}"/>
              </a:ext>
            </a:extLst>
          </p:cNvPr>
          <p:cNvSpPr txBox="1"/>
          <p:nvPr/>
        </p:nvSpPr>
        <p:spPr>
          <a:xfrm>
            <a:off x="7453310" y="3069430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sp>
        <p:nvSpPr>
          <p:cNvPr id="5" name="Textfeld 145">
            <a:extLst>
              <a:ext uri="{FF2B5EF4-FFF2-40B4-BE49-F238E27FC236}">
                <a16:creationId xmlns:a16="http://schemas.microsoft.com/office/drawing/2014/main" id="{4F008DAF-CDD3-557B-BC64-66C7F70AED63}"/>
              </a:ext>
            </a:extLst>
          </p:cNvPr>
          <p:cNvSpPr txBox="1"/>
          <p:nvPr/>
        </p:nvSpPr>
        <p:spPr>
          <a:xfrm>
            <a:off x="7453310" y="3326605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sp>
        <p:nvSpPr>
          <p:cNvPr id="6" name="Textfeld 147">
            <a:extLst>
              <a:ext uri="{FF2B5EF4-FFF2-40B4-BE49-F238E27FC236}">
                <a16:creationId xmlns:a16="http://schemas.microsoft.com/office/drawing/2014/main" id="{A7145752-0273-3C91-0878-913EDC209583}"/>
              </a:ext>
            </a:extLst>
          </p:cNvPr>
          <p:cNvSpPr txBox="1"/>
          <p:nvPr/>
        </p:nvSpPr>
        <p:spPr>
          <a:xfrm>
            <a:off x="7453310" y="4395785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sp>
        <p:nvSpPr>
          <p:cNvPr id="7" name="Textfeld 149">
            <a:extLst>
              <a:ext uri="{FF2B5EF4-FFF2-40B4-BE49-F238E27FC236}">
                <a16:creationId xmlns:a16="http://schemas.microsoft.com/office/drawing/2014/main" id="{BD7F3011-715A-DE49-80ED-CDABFCEBE0E2}"/>
              </a:ext>
            </a:extLst>
          </p:cNvPr>
          <p:cNvSpPr txBox="1"/>
          <p:nvPr/>
        </p:nvSpPr>
        <p:spPr>
          <a:xfrm>
            <a:off x="7453310" y="4668441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sp>
        <p:nvSpPr>
          <p:cNvPr id="8" name="Textfeld 151">
            <a:extLst>
              <a:ext uri="{FF2B5EF4-FFF2-40B4-BE49-F238E27FC236}">
                <a16:creationId xmlns:a16="http://schemas.microsoft.com/office/drawing/2014/main" id="{8021DAD5-33EB-DD37-A47B-1A9B75234346}"/>
              </a:ext>
            </a:extLst>
          </p:cNvPr>
          <p:cNvSpPr txBox="1"/>
          <p:nvPr/>
        </p:nvSpPr>
        <p:spPr>
          <a:xfrm>
            <a:off x="7453310" y="5206602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sp>
        <p:nvSpPr>
          <p:cNvPr id="9" name="Textfeld 153">
            <a:extLst>
              <a:ext uri="{FF2B5EF4-FFF2-40B4-BE49-F238E27FC236}">
                <a16:creationId xmlns:a16="http://schemas.microsoft.com/office/drawing/2014/main" id="{267EA676-D5CF-9437-6A5D-2564BB673F96}"/>
              </a:ext>
            </a:extLst>
          </p:cNvPr>
          <p:cNvSpPr txBox="1"/>
          <p:nvPr/>
        </p:nvSpPr>
        <p:spPr>
          <a:xfrm>
            <a:off x="7453310" y="5464966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sp>
        <p:nvSpPr>
          <p:cNvPr id="10" name="Textfeld 155">
            <a:extLst>
              <a:ext uri="{FF2B5EF4-FFF2-40B4-BE49-F238E27FC236}">
                <a16:creationId xmlns:a16="http://schemas.microsoft.com/office/drawing/2014/main" id="{4F0CB216-1E0D-56C6-D5D2-340D76B5A339}"/>
              </a:ext>
            </a:extLst>
          </p:cNvPr>
          <p:cNvSpPr txBox="1"/>
          <p:nvPr/>
        </p:nvSpPr>
        <p:spPr>
          <a:xfrm>
            <a:off x="7453310" y="6015837"/>
            <a:ext cx="411955" cy="102394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700" b="0" i="0" u="none" strike="noStrike" kern="1200" cap="none" spc="0" baseline="0">
                <a:solidFill>
                  <a:srgbClr val="3E3F40"/>
                </a:solidFill>
                <a:uFillTx/>
                <a:latin typeface="Arial"/>
                <a:ea typeface="Microsoft YaHei"/>
              </a:rPr>
              <a:t>username</a:t>
            </a:r>
          </a:p>
        </p:txBody>
      </p:sp>
      <p:pic>
        <p:nvPicPr>
          <p:cNvPr id="11" name="Grafik 157">
            <a:extLst>
              <a:ext uri="{FF2B5EF4-FFF2-40B4-BE49-F238E27FC236}">
                <a16:creationId xmlns:a16="http://schemas.microsoft.com/office/drawing/2014/main" id="{2AC8F3B0-D1C5-9F15-CA73-A06B06064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2">
            <a:extLst>
              <a:ext uri="{FF2B5EF4-FFF2-40B4-BE49-F238E27FC236}">
                <a16:creationId xmlns:a16="http://schemas.microsoft.com/office/drawing/2014/main" id="{C44C1890-78C8-6D6D-4447-D981A89C0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81511"/>
            <a:ext cx="12191996" cy="16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rafik 4">
            <a:extLst>
              <a:ext uri="{FF2B5EF4-FFF2-40B4-BE49-F238E27FC236}">
                <a16:creationId xmlns:a16="http://schemas.microsoft.com/office/drawing/2014/main" id="{2A84736E-555F-1F00-FDAF-11CE3EBEC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12256"/>
            <a:ext cx="4153479" cy="169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2C5B1C98-A998-AA08-A6B6-0D0410EE8A9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Situation</a:t>
            </a:r>
          </a:p>
          <a:p>
            <a:pPr lvl="1"/>
            <a:r>
              <a:rPr lang="de-DE"/>
              <a:t>Automatisierte DNS-Änderungen durch DNS API (A &amp; CNAME)</a:t>
            </a:r>
          </a:p>
          <a:p>
            <a:pPr lvl="1"/>
            <a:r>
              <a:rPr lang="de-DE"/>
              <a:t>Problem: Server brauchen TLS-Zertifikate für interne HTTPS-Websites</a:t>
            </a:r>
          </a:p>
          <a:p>
            <a:pPr lvl="1"/>
            <a:r>
              <a:rPr lang="de-DE"/>
              <a:t>CA-Validierung durch DNS-01-Challenge: Durch TXT-Records nur möglich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869826FE-A8B5-263D-8D9F-BFF59242FC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34963" y="6524984"/>
            <a:ext cx="9155192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de-DE" sz="900">
                <a:solidFill>
                  <a:srgbClr val="535456"/>
                </a:solidFill>
                <a:latin typeface="Arial"/>
                <a:ea typeface="Microsoft YaHei"/>
                <a:cs typeface="Arial"/>
              </a:rPr>
              <a:t>Erstellung eines TXT-Records</a:t>
            </a:r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2A4AC733-9F43-BF5F-A718-B97127E186D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EBDFEDAA-0729-4065-8AAB-AF4AE8F34B80}" type="slidenum">
              <a:t>23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58587BD1-29F1-5358-4314-53AAF669E1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2 – TXT-Records (WIP)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1E334D45-1674-AA48-4EC8-00670ADA7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5">
            <a:extLst>
              <a:ext uri="{FF2B5EF4-FFF2-40B4-BE49-F238E27FC236}">
                <a16:creationId xmlns:a16="http://schemas.microsoft.com/office/drawing/2014/main" id="{2E1BBAD9-E6FD-AC28-0171-1E92E298D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3" y="4943475"/>
            <a:ext cx="5761040" cy="143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27">
            <a:extLst>
              <a:ext uri="{FF2B5EF4-FFF2-40B4-BE49-F238E27FC236}">
                <a16:creationId xmlns:a16="http://schemas.microsoft.com/office/drawing/2014/main" id="{0081C2B7-D235-F894-4BE9-54D3E6FF6DB2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l="-20" t="1280" b="-70760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29">
            <a:extLst>
              <a:ext uri="{FF2B5EF4-FFF2-40B4-BE49-F238E27FC236}">
                <a16:creationId xmlns:a16="http://schemas.microsoft.com/office/drawing/2014/main" id="{D8298153-19D3-3019-5CDC-129D86B4E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47" y="4335453"/>
            <a:ext cx="5651942" cy="210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A94F5C93-544D-A1F7-1E38-741C31CA1D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8">
            <a:extLst>
              <a:ext uri="{FF2B5EF4-FFF2-40B4-BE49-F238E27FC236}">
                <a16:creationId xmlns:a16="http://schemas.microsoft.com/office/drawing/2014/main" id="{2F7AEB67-6808-595A-640A-43B3595576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F5C02CA-FBBE-1655-C95C-592A7E6A939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Task</a:t>
            </a:r>
          </a:p>
          <a:p>
            <a:pPr lvl="1"/>
            <a:r>
              <a:rPr lang="de-DE"/>
              <a:t>TXT-Record Support einbauen</a:t>
            </a:r>
          </a:p>
          <a:p>
            <a:pPr lvl="1"/>
            <a:r>
              <a:rPr lang="de-DE"/>
              <a:t>Security: Nicht jeder Key darf TXT überall schreiben</a:t>
            </a:r>
          </a:p>
          <a:p>
            <a:pPr lvl="1"/>
            <a:r>
              <a:rPr lang="de-DE"/>
              <a:t>Anforderung: Zonen-Beschränkung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3" name="Fußzeilenplatzhalter 3">
            <a:extLst>
              <a:ext uri="{FF2B5EF4-FFF2-40B4-BE49-F238E27FC236}">
                <a16:creationId xmlns:a16="http://schemas.microsoft.com/office/drawing/2014/main" id="{67509AB1-0DC9-B3B6-4ED4-E87861C806B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34963" y="6524984"/>
            <a:ext cx="9155192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de-DE" sz="900">
                <a:solidFill>
                  <a:srgbClr val="535456"/>
                </a:solidFill>
                <a:latin typeface="Arial"/>
                <a:ea typeface="Microsoft YaHei"/>
                <a:cs typeface="Arial"/>
              </a:rPr>
              <a:t>Erstellung eines TXT-Records</a:t>
            </a:r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B74C2A0A-51D2-0202-51F4-3BA7FE4A0A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540B4B4B-A72F-4122-BEE3-7E35D0907AEE}" type="slidenum">
              <a:t>24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8F3ECD7C-1CE4-F800-7B78-F06D423063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2 – TXT-Records (WIP)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64FC3408-FC45-B07F-4065-AB4B3627F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3">
            <a:extLst>
              <a:ext uri="{FF2B5EF4-FFF2-40B4-BE49-F238E27FC236}">
                <a16:creationId xmlns:a16="http://schemas.microsoft.com/office/drawing/2014/main" id="{B1B67E61-E91E-1FD1-4178-9996E4014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3" y="4410078"/>
            <a:ext cx="5761040" cy="197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27">
            <a:extLst>
              <a:ext uri="{FF2B5EF4-FFF2-40B4-BE49-F238E27FC236}">
                <a16:creationId xmlns:a16="http://schemas.microsoft.com/office/drawing/2014/main" id="{A2937880-7D9E-BA31-1E64-D68B3CD7DCEC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t="287" r="-20" b="-69770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18">
            <a:extLst>
              <a:ext uri="{FF2B5EF4-FFF2-40B4-BE49-F238E27FC236}">
                <a16:creationId xmlns:a16="http://schemas.microsoft.com/office/drawing/2014/main" id="{DE586B8B-5178-B985-490D-3B4F922E9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947" y="4410078"/>
            <a:ext cx="5651942" cy="2047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EDF4164B-73CD-F12B-2AAC-23C72161D3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8">
            <a:extLst>
              <a:ext uri="{FF2B5EF4-FFF2-40B4-BE49-F238E27FC236}">
                <a16:creationId xmlns:a16="http://schemas.microsoft.com/office/drawing/2014/main" id="{C706B5F4-E89B-DEAA-4227-7927CB0947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71A80276-BEFA-7AC9-151B-9C7AEE9FE59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</a:p>
          <a:p>
            <a:pPr lvl="1"/>
            <a:r>
              <a:rPr lang="de-DE"/>
              <a:t>DB-Spalte </a:t>
            </a:r>
            <a:r>
              <a:rPr lang="de-DE" i="1"/>
              <a:t>txt_allowed</a:t>
            </a:r>
            <a:r>
              <a:rPr lang="de-DE"/>
              <a:t> für Erlaubnis zur Erstellung von TXT-Records</a:t>
            </a:r>
          </a:p>
          <a:p>
            <a:pPr lvl="1"/>
            <a:r>
              <a:rPr lang="de-DE"/>
              <a:t>Neue Tabelle mit Zonen-Allowlist pro User</a:t>
            </a:r>
          </a:p>
          <a:p>
            <a:pPr lvl="1"/>
            <a:r>
              <a:rPr lang="de-DE"/>
              <a:t>Security-Checks:</a:t>
            </a:r>
          </a:p>
          <a:p>
            <a:pPr lvl="2"/>
            <a:r>
              <a:rPr lang="de-DE"/>
              <a:t>Flag prüfen: </a:t>
            </a:r>
            <a:r>
              <a:rPr lang="de-DE" i="1"/>
              <a:t>check_txt_allowed()</a:t>
            </a:r>
          </a:p>
          <a:p>
            <a:pPr lvl="2"/>
            <a:r>
              <a:rPr lang="de-DE"/>
              <a:t>Zonenliste prüfen: </a:t>
            </a:r>
            <a:r>
              <a:rPr lang="de-DE" i="1"/>
              <a:t>check_txt_zone_allowed()</a:t>
            </a:r>
          </a:p>
          <a:p>
            <a:pPr lvl="1"/>
            <a:r>
              <a:rPr lang="de-DE"/>
              <a:t>Admin Funktionen erweitert durch </a:t>
            </a:r>
            <a:r>
              <a:rPr lang="de-DE" i="1"/>
              <a:t>txt_allowed</a:t>
            </a:r>
            <a:r>
              <a:rPr lang="de-DE"/>
              <a:t> &amp; </a:t>
            </a:r>
            <a:r>
              <a:rPr lang="de-DE" i="1"/>
              <a:t>txt_zones</a:t>
            </a:r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35FC4BD0-C6E2-83B1-FD0B-54A58C947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493458EC-2ACE-4E47-AF9A-4911C6C36533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25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52DB22BE-796F-ED2E-97EA-5546D8EE6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2 – TXT-Records (WIP)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7D44F28F-A0CE-4FB2-1923-A276599FB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3">
            <a:extLst>
              <a:ext uri="{FF2B5EF4-FFF2-40B4-BE49-F238E27FC236}">
                <a16:creationId xmlns:a16="http://schemas.microsoft.com/office/drawing/2014/main" id="{145CD9AD-AB60-0611-CF14-E1CABCFBF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7" y="5476871"/>
            <a:ext cx="5653085" cy="90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19">
            <a:extLst>
              <a:ext uri="{FF2B5EF4-FFF2-40B4-BE49-F238E27FC236}">
                <a16:creationId xmlns:a16="http://schemas.microsoft.com/office/drawing/2014/main" id="{71F07362-FD2B-85A5-0096-36F01754C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47" y="4410078"/>
            <a:ext cx="5653085" cy="2043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Bildplatzhalter 29">
            <a:extLst>
              <a:ext uri="{FF2B5EF4-FFF2-40B4-BE49-F238E27FC236}">
                <a16:creationId xmlns:a16="http://schemas.microsoft.com/office/drawing/2014/main" id="{75F85A16-481A-2E74-247A-7E779270E10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5"/>
          <a:srcRect t="1" r="-20" b="-29472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10" name="Grafik 31">
            <a:extLst>
              <a:ext uri="{FF2B5EF4-FFF2-40B4-BE49-F238E27FC236}">
                <a16:creationId xmlns:a16="http://schemas.microsoft.com/office/drawing/2014/main" id="{A195BBAC-57CF-F295-2F6B-E5DBB7F038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47" y="5114751"/>
            <a:ext cx="5653085" cy="126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9">
            <a:extLst>
              <a:ext uri="{FF2B5EF4-FFF2-40B4-BE49-F238E27FC236}">
                <a16:creationId xmlns:a16="http://schemas.microsoft.com/office/drawing/2014/main" id="{5CF150CD-1574-A05F-3E09-32DD7AF82E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F7A1F835-81B7-C5F0-4572-01AAB372FE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E35D8F7-B085-4F74-0B88-79FF0AEB20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</a:p>
          <a:p>
            <a:pPr lvl="1"/>
            <a:r>
              <a:rPr lang="de-DE"/>
              <a:t>TXT als erlaubten Record-Typen</a:t>
            </a:r>
          </a:p>
          <a:p>
            <a:pPr lvl="1"/>
            <a:r>
              <a:rPr lang="de-DE"/>
              <a:t>Regex für TXT-Werte (ACME, 255 Zeichen)</a:t>
            </a:r>
          </a:p>
          <a:p>
            <a:pPr lvl="1"/>
            <a:r>
              <a:rPr lang="de-DE"/>
              <a:t>Regex für Hostname</a:t>
            </a:r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BE3C4D74-60CE-6586-C51A-5DFD257D31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45459D7A-54FB-4C4D-A80F-4A60DA44D4C2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26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DDECD786-E247-7886-6768-8B5333631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2 – TXT-Records (WIP)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A02FD6D0-644E-0C4C-17D3-B101923C3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3">
            <a:extLst>
              <a:ext uri="{FF2B5EF4-FFF2-40B4-BE49-F238E27FC236}">
                <a16:creationId xmlns:a16="http://schemas.microsoft.com/office/drawing/2014/main" id="{547D912F-16CD-6F44-F28C-21427E7CF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7" y="6057854"/>
            <a:ext cx="5651942" cy="323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19">
            <a:extLst>
              <a:ext uri="{FF2B5EF4-FFF2-40B4-BE49-F238E27FC236}">
                <a16:creationId xmlns:a16="http://schemas.microsoft.com/office/drawing/2014/main" id="{7874FB7D-D11D-5440-B707-488D444EF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47" y="2691426"/>
            <a:ext cx="5651942" cy="369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Bildplatzhalter 25">
            <a:extLst>
              <a:ext uri="{FF2B5EF4-FFF2-40B4-BE49-F238E27FC236}">
                <a16:creationId xmlns:a16="http://schemas.microsoft.com/office/drawing/2014/main" id="{18CFD605-B35C-B891-9ADB-E933741A9E3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5"/>
          <a:srcRect l="1" t="84" r="-21" b="-26810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10" name="Grafik 29">
            <a:extLst>
              <a:ext uri="{FF2B5EF4-FFF2-40B4-BE49-F238E27FC236}">
                <a16:creationId xmlns:a16="http://schemas.microsoft.com/office/drawing/2014/main" id="{240EFBC6-7A37-D9AB-B8F4-32E2ADF35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3" y="5295747"/>
            <a:ext cx="5823374" cy="108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9">
            <a:extLst>
              <a:ext uri="{FF2B5EF4-FFF2-40B4-BE49-F238E27FC236}">
                <a16:creationId xmlns:a16="http://schemas.microsoft.com/office/drawing/2014/main" id="{938E06F6-C98F-AA61-D72E-951C041813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7DE44918-140B-50E9-C609-A9726ABA6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B57B067-8964-A4FB-FE9C-C6D3CB3E27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Action</a:t>
            </a:r>
          </a:p>
          <a:p>
            <a:pPr lvl="1"/>
            <a:r>
              <a:rPr lang="de-DE"/>
              <a:t>TXT-Berechtigungsblock</a:t>
            </a:r>
          </a:p>
          <a:p>
            <a:pPr lvl="1"/>
            <a:r>
              <a:rPr lang="de-DE"/>
              <a:t>Existenzcheck durch genauen TXT-Wert</a:t>
            </a:r>
          </a:p>
          <a:p>
            <a:pPr lvl="1"/>
            <a:r>
              <a:rPr lang="de-DE"/>
              <a:t>Neue Error-Messages</a:t>
            </a:r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549C92AD-72E7-B4E8-8BDF-10E0A24737E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B8F82364-DD8C-4961-A77A-9A40309C49FB}" type="slidenum">
              <a:t>27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B96E7B75-16C1-FE7A-3892-344F41424F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2 – TXT-Records (WIP)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E258C353-A448-8138-E5C2-936145D9C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3">
            <a:extLst>
              <a:ext uri="{FF2B5EF4-FFF2-40B4-BE49-F238E27FC236}">
                <a16:creationId xmlns:a16="http://schemas.microsoft.com/office/drawing/2014/main" id="{5ADB8B29-F9C6-3785-0378-9A661538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7" y="5488283"/>
            <a:ext cx="5715420" cy="893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19">
            <a:extLst>
              <a:ext uri="{FF2B5EF4-FFF2-40B4-BE49-F238E27FC236}">
                <a16:creationId xmlns:a16="http://schemas.microsoft.com/office/drawing/2014/main" id="{18B41726-3B39-C657-8356-3423F3638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498" y="4372697"/>
            <a:ext cx="5759869" cy="2009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Bildplatzhalter 23">
            <a:extLst>
              <a:ext uri="{FF2B5EF4-FFF2-40B4-BE49-F238E27FC236}">
                <a16:creationId xmlns:a16="http://schemas.microsoft.com/office/drawing/2014/main" id="{C9ACC26C-DAC9-00D3-5128-F234B73B699B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5"/>
          <a:srcRect r="-20" b="-26493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10" name="Grafik 25">
            <a:extLst>
              <a:ext uri="{FF2B5EF4-FFF2-40B4-BE49-F238E27FC236}">
                <a16:creationId xmlns:a16="http://schemas.microsoft.com/office/drawing/2014/main" id="{37DC533D-F927-00EA-A3C9-56A792ACE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47" y="5377220"/>
            <a:ext cx="5653085" cy="100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9">
            <a:extLst>
              <a:ext uri="{FF2B5EF4-FFF2-40B4-BE49-F238E27FC236}">
                <a16:creationId xmlns:a16="http://schemas.microsoft.com/office/drawing/2014/main" id="{D95E5678-4964-F46F-14EA-7905007E21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027BE73D-2913-EFF9-D59A-47D401C871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6C2079CF-40B6-7E8F-D276-EA96973A5F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Result</a:t>
            </a:r>
          </a:p>
          <a:p>
            <a:pPr lvl="1"/>
            <a:r>
              <a:rPr lang="de-DE"/>
              <a:t>ACME-Clients können TXT-Records erstellen/ löschen über API</a:t>
            </a:r>
          </a:p>
          <a:p>
            <a:pPr lvl="1"/>
            <a:r>
              <a:rPr lang="de-DE"/>
              <a:t>Sicherheit durch Berechtigungsmodell:</a:t>
            </a:r>
          </a:p>
          <a:p>
            <a:pPr lvl="2"/>
            <a:r>
              <a:rPr lang="de-DE"/>
              <a:t>Authentifizierung (API-Key)</a:t>
            </a:r>
          </a:p>
          <a:p>
            <a:pPr lvl="2"/>
            <a:r>
              <a:rPr lang="de-DE"/>
              <a:t>txt_allowed flag pro User</a:t>
            </a:r>
          </a:p>
          <a:p>
            <a:pPr lvl="2"/>
            <a:r>
              <a:rPr lang="de-DE"/>
              <a:t>Zone-Allowlist pro User</a:t>
            </a:r>
          </a:p>
          <a:p>
            <a:pPr lvl="2"/>
            <a:r>
              <a:rPr lang="de-DE"/>
              <a:t>Per-User hostname regex 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2468D3B5-48FB-51DA-716B-B2C93DE69D8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44014B0B-A3A1-4B10-B606-86B506A434A3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28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AC0A9AA8-BF4D-0B17-31FB-39937EC077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2 – TXT-Records (WIP)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587A1D77-9516-0264-F00D-77461A46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3">
            <a:extLst>
              <a:ext uri="{FF2B5EF4-FFF2-40B4-BE49-F238E27FC236}">
                <a16:creationId xmlns:a16="http://schemas.microsoft.com/office/drawing/2014/main" id="{8EF22B54-573D-F89D-E7DE-B6F20474B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718" y="5495928"/>
            <a:ext cx="57346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19">
            <a:extLst>
              <a:ext uri="{FF2B5EF4-FFF2-40B4-BE49-F238E27FC236}">
                <a16:creationId xmlns:a16="http://schemas.microsoft.com/office/drawing/2014/main" id="{E99C0210-448A-ED80-04DB-2323DA6EC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718" y="4747765"/>
            <a:ext cx="5734650" cy="1633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Bildplatzhalter 23">
            <a:extLst>
              <a:ext uri="{FF2B5EF4-FFF2-40B4-BE49-F238E27FC236}">
                <a16:creationId xmlns:a16="http://schemas.microsoft.com/office/drawing/2014/main" id="{DA86F11D-BA47-443E-DCE7-263DA1F3F482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5"/>
          <a:srcRect l="-18" t="-1" r="263" b="-76183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10" name="Grafik 25">
            <a:extLst>
              <a:ext uri="{FF2B5EF4-FFF2-40B4-BE49-F238E27FC236}">
                <a16:creationId xmlns:a16="http://schemas.microsoft.com/office/drawing/2014/main" id="{77D494DD-97BD-D2C9-B5E2-D26E6BAF5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622" y="4275514"/>
            <a:ext cx="5715420" cy="2106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9">
            <a:extLst>
              <a:ext uri="{FF2B5EF4-FFF2-40B4-BE49-F238E27FC236}">
                <a16:creationId xmlns:a16="http://schemas.microsoft.com/office/drawing/2014/main" id="{A1219113-E885-6C33-A8B4-B3D298657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7">
            <a:extLst>
              <a:ext uri="{FF2B5EF4-FFF2-40B4-BE49-F238E27FC236}">
                <a16:creationId xmlns:a16="http://schemas.microsoft.com/office/drawing/2014/main" id="{B79B34A6-95A0-5233-3CB0-4E08D4CD8F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1185751-E88D-1436-9EF6-89C2F1C973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Result</a:t>
            </a:r>
          </a:p>
          <a:p>
            <a:pPr lvl="1"/>
            <a:r>
              <a:rPr lang="de-DE"/>
              <a:t>Wartbarkeit da bestehende Architktur-Muster verwendet wurden</a:t>
            </a:r>
          </a:p>
          <a:p>
            <a:pPr lvl="1"/>
            <a:r>
              <a:rPr lang="de-DE"/>
              <a:t>Betriebssicherheit durch Doppel-Logging durch Datei &amp; DB</a:t>
            </a:r>
          </a:p>
          <a:p>
            <a:pPr lvl="1"/>
            <a:r>
              <a:rPr lang="de-DE"/>
              <a:t>Noch work in progress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91E419FB-66D4-ACA0-A838-FE2A5CCAD2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B4FFA50C-CA6E-42B0-A53C-A4A2070432DB}" type="slidenum">
              <a:t>29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1CA391B6-219B-27C9-60FD-8172CA256D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2 – TXT-Records (WIP)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64BEA1E3-F534-ACB3-DA3B-5B7AEE887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3">
            <a:extLst>
              <a:ext uri="{FF2B5EF4-FFF2-40B4-BE49-F238E27FC236}">
                <a16:creationId xmlns:a16="http://schemas.microsoft.com/office/drawing/2014/main" id="{A6E193BE-77E5-320E-DB1F-0F08B23DF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47" y="4771503"/>
            <a:ext cx="5715420" cy="161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23">
            <a:extLst>
              <a:ext uri="{FF2B5EF4-FFF2-40B4-BE49-F238E27FC236}">
                <a16:creationId xmlns:a16="http://schemas.microsoft.com/office/drawing/2014/main" id="{E4D0B6A9-4B50-7792-A43C-2693DF5ED5F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r="11168" b="4467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9">
            <a:extLst>
              <a:ext uri="{FF2B5EF4-FFF2-40B4-BE49-F238E27FC236}">
                <a16:creationId xmlns:a16="http://schemas.microsoft.com/office/drawing/2014/main" id="{154856E7-6641-2FD9-1017-C147C9ACF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7">
            <a:extLst>
              <a:ext uri="{FF2B5EF4-FFF2-40B4-BE49-F238E27FC236}">
                <a16:creationId xmlns:a16="http://schemas.microsoft.com/office/drawing/2014/main" id="{B1DEA3A2-CD85-ADC3-ACAA-35D8F9CE7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>
            <a:extLst>
              <a:ext uri="{FF2B5EF4-FFF2-40B4-BE49-F238E27FC236}">
                <a16:creationId xmlns:a16="http://schemas.microsoft.com/office/drawing/2014/main" id="{CF3F8E66-2BBA-0BF3-86CC-7D949196E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235"/>
            <a:ext cx="12191996" cy="60737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hteck 9">
            <a:extLst>
              <a:ext uri="{FF2B5EF4-FFF2-40B4-BE49-F238E27FC236}">
                <a16:creationId xmlns:a16="http://schemas.microsoft.com/office/drawing/2014/main" id="{25A8CE56-B79E-2CAB-3B42-81B07998CF8B}"/>
              </a:ext>
            </a:extLst>
          </p:cNvPr>
          <p:cNvSpPr/>
          <p:nvPr/>
        </p:nvSpPr>
        <p:spPr>
          <a:xfrm>
            <a:off x="2733671" y="1881185"/>
            <a:ext cx="3362321" cy="785807"/>
          </a:xfrm>
          <a:prstGeom prst="rect">
            <a:avLst/>
          </a:prstGeom>
          <a:noFill/>
          <a:ln w="25402" cap="flat">
            <a:solidFill>
              <a:srgbClr val="FF0000"/>
            </a:solidFill>
            <a:prstDash val="solid"/>
          </a:ln>
        </p:spPr>
        <p:txBody>
          <a:bodyPr vert="horz" wrap="square" lIns="71999" tIns="71999" rIns="71999" bIns="71999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535456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4" name="Grafik 11">
            <a:extLst>
              <a:ext uri="{FF2B5EF4-FFF2-40B4-BE49-F238E27FC236}">
                <a16:creationId xmlns:a16="http://schemas.microsoft.com/office/drawing/2014/main" id="{C2890AC1-CB6F-ECF1-47E5-DF0168EAD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7E5D4C7-6B03-3E02-6B02-5E9BDDAE96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Situation</a:t>
            </a:r>
          </a:p>
          <a:p>
            <a:pPr lvl="1"/>
            <a:r>
              <a:rPr lang="de-DE"/>
              <a:t>Mitarbeiter müssen Passwort von heraeusprod-Accounts regelmäßig ändern</a:t>
            </a:r>
          </a:p>
          <a:p>
            <a:pPr lvl="1"/>
            <a:r>
              <a:rPr lang="de-DE"/>
              <a:t>Aktuell: Läuft manuell über Tickets, welche per Hand bearbeitet werden im AD</a:t>
            </a:r>
          </a:p>
          <a:p>
            <a:pPr lvl="1"/>
            <a:r>
              <a:rPr lang="de-DE"/>
              <a:t>Gebraucht wird eine zentrale WebApp zur Passwortänderung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D62D2F68-C484-6CF8-2E22-A8BCB92A34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E65BD7BC-BB1C-4C9C-9349-972B878C8638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31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CFF2FE8E-F4DF-D1AE-7AD7-A600F29BBD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B72F520C-1014-90E2-22DA-A868472EA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155" y="252328"/>
            <a:ext cx="2429213" cy="55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0">
            <a:extLst>
              <a:ext uri="{FF2B5EF4-FFF2-40B4-BE49-F238E27FC236}">
                <a16:creationId xmlns:a16="http://schemas.microsoft.com/office/drawing/2014/main" id="{2CE4773C-A27B-710F-3B0D-976AE9594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15">
            <a:extLst>
              <a:ext uri="{FF2B5EF4-FFF2-40B4-BE49-F238E27FC236}">
                <a16:creationId xmlns:a16="http://schemas.microsoft.com/office/drawing/2014/main" id="{4E5BB701-CB47-119A-E44C-33412DF3D2B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l="3119" r="1057" b="-17647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17">
            <a:extLst>
              <a:ext uri="{FF2B5EF4-FFF2-40B4-BE49-F238E27FC236}">
                <a16:creationId xmlns:a16="http://schemas.microsoft.com/office/drawing/2014/main" id="{3BECE985-6687-E6E4-8DE2-55BA17A5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776" y="5648221"/>
            <a:ext cx="6153326" cy="871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9">
            <a:extLst>
              <a:ext uri="{FF2B5EF4-FFF2-40B4-BE49-F238E27FC236}">
                <a16:creationId xmlns:a16="http://schemas.microsoft.com/office/drawing/2014/main" id="{7E84D79C-AB2E-BEEB-5677-BBF8B7284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38785389-153F-BCD4-50E9-36337DCB24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Task</a:t>
            </a:r>
          </a:p>
          <a:p>
            <a:pPr lvl="1"/>
            <a:r>
              <a:rPr lang="de-DE"/>
              <a:t>Entwicklung einer WebApp mit folgenden Anforderungen:</a:t>
            </a:r>
          </a:p>
          <a:p>
            <a:pPr lvl="2"/>
            <a:r>
              <a:rPr lang="de-DE"/>
              <a:t>User können AD-Passwort über zentrales Formular ändern</a:t>
            </a:r>
          </a:p>
          <a:p>
            <a:pPr lvl="2"/>
            <a:r>
              <a:rPr lang="de-DE"/>
              <a:t>Sicherheit durch LDAPS, Rate-Limiting gegen Brute-Force Attacken &amp; CSRF Tokens</a:t>
            </a:r>
          </a:p>
          <a:p>
            <a:pPr lvl="2"/>
            <a:r>
              <a:rPr lang="de-DE"/>
              <a:t>Logging &amp; Audit </a:t>
            </a:r>
          </a:p>
          <a:p>
            <a:pPr lvl="2"/>
            <a:r>
              <a:rPr lang="de-DE"/>
              <a:t>Benutzerfreundlichkeit durch Passwort Generator, welcher Policies einhält</a:t>
            </a:r>
          </a:p>
          <a:p>
            <a:pPr lvl="2"/>
            <a:r>
              <a:rPr lang="de-DE"/>
              <a:t>Skalierbarkeit: ASP.NET Core für Enterprise-Standard</a:t>
            </a:r>
          </a:p>
          <a:p>
            <a:pPr marL="162004" lvl="2" indent="0">
              <a:buNone/>
            </a:pPr>
            <a:endParaRPr lang="de-DE"/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CE133767-83A2-68FD-6E86-8B6BD6B8CC9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C824FA76-E965-46DA-9F5A-CB6F47ACD349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32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01EAD484-88F5-1DCE-B586-661B0ABEB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6DBF1153-7F42-3B24-C8BF-786AD76A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04CCEF9F-BEBE-4BC3-CDC9-E8C9467E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17">
            <a:extLst>
              <a:ext uri="{FF2B5EF4-FFF2-40B4-BE49-F238E27FC236}">
                <a16:creationId xmlns:a16="http://schemas.microsoft.com/office/drawing/2014/main" id="{FC299535-D0EA-9C67-1279-FFD161B643FF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14975" t="14945" r="19471" b="-14945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19">
            <a:extLst>
              <a:ext uri="{FF2B5EF4-FFF2-40B4-BE49-F238E27FC236}">
                <a16:creationId xmlns:a16="http://schemas.microsoft.com/office/drawing/2014/main" id="{9A503202-84FC-26D7-FB18-7201BC006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3" y="5581653"/>
            <a:ext cx="5871206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21">
            <a:extLst>
              <a:ext uri="{FF2B5EF4-FFF2-40B4-BE49-F238E27FC236}">
                <a16:creationId xmlns:a16="http://schemas.microsoft.com/office/drawing/2014/main" id="{C7288D1E-088C-1FD6-11EC-71880A77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A2FD4944-BCF5-0A05-12A9-01ED742C03D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/>
              <a:t>Action</a:t>
            </a:r>
          </a:p>
          <a:p>
            <a:pPr marL="161921" lvl="1" indent="-161921"/>
            <a:r>
              <a:rPr lang="de-DE" dirty="0">
                <a:cs typeface="Arial"/>
              </a:rPr>
              <a:t>Startup</a:t>
            </a:r>
          </a:p>
          <a:p>
            <a:pPr marL="323916" lvl="2" indent="-161921"/>
            <a:r>
              <a:rPr lang="de-DE" dirty="0" err="1">
                <a:cs typeface="Arial"/>
              </a:rPr>
              <a:t>Serilog</a:t>
            </a:r>
            <a:r>
              <a:rPr lang="de-DE" dirty="0">
                <a:cs typeface="Arial"/>
              </a:rPr>
              <a:t> als </a:t>
            </a:r>
            <a:r>
              <a:rPr lang="de-DE" dirty="0" err="1">
                <a:cs typeface="Arial"/>
              </a:rPr>
              <a:t>Logging</a:t>
            </a:r>
            <a:endParaRPr lang="de-DE" dirty="0">
              <a:cs typeface="Arial"/>
            </a:endParaRPr>
          </a:p>
          <a:p>
            <a:pPr marL="323916" lvl="2" indent="-161921"/>
            <a:r>
              <a:rPr lang="de-DE" dirty="0">
                <a:cs typeface="Arial"/>
              </a:rPr>
              <a:t>Tagesrotation auf Daten-Disk D:\ (90 Tage Aufbewahrung)</a:t>
            </a:r>
          </a:p>
          <a:p>
            <a:pPr marL="323916" lvl="2" indent="-161921"/>
            <a:r>
              <a:rPr lang="de-DE" dirty="0">
                <a:cs typeface="Arial"/>
              </a:rPr>
              <a:t>AD- und Security-Settings via </a:t>
            </a:r>
            <a:r>
              <a:rPr lang="de-DE" i="1" dirty="0">
                <a:cs typeface="Arial"/>
              </a:rPr>
              <a:t>Ioptions</a:t>
            </a:r>
          </a:p>
          <a:p>
            <a:pPr marL="323916" lvl="2" indent="-161921"/>
            <a:r>
              <a:rPr lang="de-DE" dirty="0">
                <a:cs typeface="Arial"/>
              </a:rPr>
              <a:t>AD-Service pro Request</a:t>
            </a:r>
          </a:p>
          <a:p>
            <a:pPr marL="323916" lvl="2" indent="-161921"/>
            <a:r>
              <a:rPr lang="de-DE" dirty="0">
                <a:cs typeface="Arial"/>
              </a:rPr>
              <a:t>Rate-Guard anwendungsweit</a:t>
            </a:r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478AE6E2-097D-FFD7-D9C5-7E2BE83B6C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A8940A63-5ED5-42F3-BC23-103D70EA7C77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33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D64DEA3F-08BA-33BA-F1F4-4A3B4554B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E91AE5D7-8E45-F929-4504-5EB7F0265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E32747D5-C583-FF40-A847-256EB44D8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5">
            <a:extLst>
              <a:ext uri="{FF2B5EF4-FFF2-40B4-BE49-F238E27FC236}">
                <a16:creationId xmlns:a16="http://schemas.microsoft.com/office/drawing/2014/main" id="{0A4336D8-2A5E-4A6D-339F-C8D422EFD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358" y="1556107"/>
            <a:ext cx="244309" cy="482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7">
            <a:extLst>
              <a:ext uri="{FF2B5EF4-FFF2-40B4-BE49-F238E27FC236}">
                <a16:creationId xmlns:a16="http://schemas.microsoft.com/office/drawing/2014/main" id="{8C7DAA47-79F7-DAFB-79A3-CABF03298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FF39416-014D-53C7-3393-158AE4FD5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752" y="1555990"/>
            <a:ext cx="6271281" cy="35168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6E7BB52E-490D-20B3-7802-3BEE686F00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/>
              <a:t>Action</a:t>
            </a:r>
          </a:p>
          <a:p>
            <a:pPr lvl="1"/>
            <a:r>
              <a:rPr lang="de-DE" dirty="0"/>
              <a:t>Konfiguration (</a:t>
            </a:r>
            <a:r>
              <a:rPr lang="de-DE" dirty="0" err="1"/>
              <a:t>appsettings.json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Keine </a:t>
            </a:r>
            <a:r>
              <a:rPr lang="de-DE" dirty="0" err="1"/>
              <a:t>Hardcodierung</a:t>
            </a:r>
            <a:r>
              <a:rPr lang="de-DE" dirty="0"/>
              <a:t> von Hosts, Limits und Domains</a:t>
            </a:r>
          </a:p>
          <a:p>
            <a:pPr lvl="2"/>
            <a:r>
              <a:rPr lang="de-DE" dirty="0"/>
              <a:t>AD-Ziel: RODC</a:t>
            </a:r>
          </a:p>
          <a:p>
            <a:pPr lvl="2"/>
            <a:r>
              <a:rPr lang="de-DE" dirty="0"/>
              <a:t>Domain-Whitelist schützt vor Fremd-Domains</a:t>
            </a:r>
          </a:p>
          <a:p>
            <a:pPr lvl="2"/>
            <a:r>
              <a:rPr lang="de-DE" dirty="0"/>
              <a:t>Service-Account-Passwort kommt aus Umgebung/Key/Vault</a:t>
            </a:r>
          </a:p>
          <a:p>
            <a:pPr lvl="2"/>
            <a:r>
              <a:rPr lang="de-DE" dirty="0"/>
              <a:t>Rate-Limits pro Umgebung überschreibbar</a:t>
            </a:r>
          </a:p>
          <a:p>
            <a:pPr marL="162004" lvl="2" indent="0">
              <a:buNone/>
            </a:pPr>
            <a:endParaRPr lang="de-DE" dirty="0"/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F59B2FC1-A439-B9CE-6159-1A86B6352A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5D5F4788-DF83-4439-A759-BEC930154407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34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0C955838-3F7C-1877-BBA0-1893BF216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FEBC6BF4-89E8-1EC6-6389-F93C16CD4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0A256BA5-B6C2-335E-C2F4-1FFEC4F87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15">
            <a:extLst>
              <a:ext uri="{FF2B5EF4-FFF2-40B4-BE49-F238E27FC236}">
                <a16:creationId xmlns:a16="http://schemas.microsoft.com/office/drawing/2014/main" id="{C416350F-32D2-6BC0-3A3C-0A1AF4DA8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358" y="1556107"/>
            <a:ext cx="244309" cy="482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3">
            <a:extLst>
              <a:ext uri="{FF2B5EF4-FFF2-40B4-BE49-F238E27FC236}">
                <a16:creationId xmlns:a16="http://schemas.microsoft.com/office/drawing/2014/main" id="{D03D7998-38F1-EC75-E219-AD44DBEE0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7541" y="1592263"/>
            <a:ext cx="244309" cy="482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16">
            <a:extLst>
              <a:ext uri="{FF2B5EF4-FFF2-40B4-BE49-F238E27FC236}">
                <a16:creationId xmlns:a16="http://schemas.microsoft.com/office/drawing/2014/main" id="{F26B2CE3-E574-596A-7BD8-B833D8FEF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0E2F4E1-651A-8640-543F-7C7E9814D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47" y="1555989"/>
            <a:ext cx="5679351" cy="359305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26712E23-3EDF-AD02-107B-45BF1FEDC3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/>
              <a:t>Action</a:t>
            </a:r>
          </a:p>
          <a:p>
            <a:pPr lvl="1"/>
            <a:r>
              <a:rPr lang="de-DE" dirty="0"/>
              <a:t>Rate </a:t>
            </a:r>
            <a:r>
              <a:rPr lang="de-DE" dirty="0" err="1"/>
              <a:t>Limiting</a:t>
            </a:r>
            <a:endParaRPr lang="de-DE" dirty="0"/>
          </a:p>
          <a:p>
            <a:pPr lvl="2"/>
            <a:r>
              <a:rPr lang="de-DE" dirty="0"/>
              <a:t>Stufe 1: 20 Versuche/ Stunde pro Nutzer (Brute-Force-Schutz)</a:t>
            </a:r>
          </a:p>
          <a:p>
            <a:pPr lvl="2"/>
            <a:r>
              <a:rPr lang="de-DE" dirty="0"/>
              <a:t>Stufe 2: 30 verschiedene erfolgreiche Nutzer/ Stunde (Global)</a:t>
            </a:r>
          </a:p>
          <a:p>
            <a:pPr lvl="2"/>
            <a:r>
              <a:rPr lang="de-DE" dirty="0"/>
              <a:t>Fixed-</a:t>
            </a:r>
            <a:r>
              <a:rPr lang="de-DE" dirty="0" err="1"/>
              <a:t>Window</a:t>
            </a:r>
            <a:r>
              <a:rPr lang="de-DE" dirty="0"/>
              <a:t>-Verfahren, Zähler im Arbeitsspeicher</a:t>
            </a:r>
          </a:p>
          <a:p>
            <a:pPr lvl="2"/>
            <a:r>
              <a:rPr lang="de-DE" dirty="0"/>
              <a:t>Globale Sperre schützt vor Massen-Missbrauch</a:t>
            </a:r>
          </a:p>
          <a:p>
            <a:pPr lvl="2"/>
            <a:r>
              <a:rPr lang="de-DE" dirty="0"/>
              <a:t>Auslösen der globalen Sperre wird als </a:t>
            </a:r>
            <a:r>
              <a:rPr lang="de-DE" i="1" dirty="0" err="1"/>
              <a:t>Warning</a:t>
            </a:r>
            <a:r>
              <a:rPr lang="de-DE" dirty="0"/>
              <a:t> geloggt</a:t>
            </a:r>
          </a:p>
          <a:p>
            <a:pPr marL="162004" lvl="2" indent="0">
              <a:buNone/>
            </a:pPr>
            <a:endParaRPr lang="de-DE" dirty="0"/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CAF064C7-7F38-02D8-5635-5C12A70CDFE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2A4A9EC4-617A-4C37-BF5D-F898ED0458F5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35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FDD8FCC2-07E3-E158-E100-39575565E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C38C99A7-7BF6-2602-6510-A45C30FF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42C7051B-673E-1DE2-0B18-F0407AF82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3">
            <a:extLst>
              <a:ext uri="{FF2B5EF4-FFF2-40B4-BE49-F238E27FC236}">
                <a16:creationId xmlns:a16="http://schemas.microsoft.com/office/drawing/2014/main" id="{7A24B1D8-6625-8E67-AA3F-1F08FC161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757" y="5787338"/>
            <a:ext cx="7123276" cy="594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5">
            <a:extLst>
              <a:ext uri="{FF2B5EF4-FFF2-40B4-BE49-F238E27FC236}">
                <a16:creationId xmlns:a16="http://schemas.microsoft.com/office/drawing/2014/main" id="{675801D9-C464-D927-A5CF-37DAA3848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89F0686-845E-4F3D-4AAB-73236B4B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180" y="1935333"/>
            <a:ext cx="6094853" cy="25871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C1D6A688-8FC2-508A-54F7-EAE2DDDE79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/>
              <a:t>Action</a:t>
            </a:r>
          </a:p>
          <a:p>
            <a:pPr lvl="1"/>
            <a:r>
              <a:rPr lang="de-DE" dirty="0"/>
              <a:t>Controller</a:t>
            </a:r>
          </a:p>
          <a:p>
            <a:pPr lvl="2"/>
            <a:r>
              <a:rPr lang="de-DE" dirty="0"/>
              <a:t>GET/Password/ </a:t>
            </a:r>
            <a:r>
              <a:rPr lang="de-DE" dirty="0">
                <a:sym typeface="Wingdings" panose="05000000000000000000" pitchFamily="2" charset="2"/>
              </a:rPr>
              <a:t> Leeres Formular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POST/Password/Change  Validierung  Limits  AD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CSRF-Schutz über </a:t>
            </a:r>
            <a:r>
              <a:rPr lang="de-DE" i="1" dirty="0" err="1">
                <a:sym typeface="Wingdings" panose="05000000000000000000" pitchFamily="2" charset="2"/>
              </a:rPr>
              <a:t>ValidateAntiForgeryToken</a:t>
            </a:r>
            <a:endParaRPr lang="de-DE" i="1" dirty="0">
              <a:sym typeface="Wingdings" panose="05000000000000000000" pitchFamily="2" charset="2"/>
            </a:endParaRPr>
          </a:p>
          <a:p>
            <a:pPr lvl="2"/>
            <a:r>
              <a:rPr lang="de-DE" dirty="0">
                <a:sym typeface="Wingdings" panose="05000000000000000000" pitchFamily="2" charset="2"/>
              </a:rPr>
              <a:t>Fehlermeldungen lokalisiert über </a:t>
            </a:r>
            <a:r>
              <a:rPr lang="de-DE" i="1" dirty="0" err="1">
                <a:sym typeface="Wingdings" panose="05000000000000000000" pitchFamily="2" charset="2"/>
              </a:rPr>
              <a:t>IStringLocalizer</a:t>
            </a:r>
            <a:endParaRPr lang="de-DE" i="1" dirty="0"/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99C8674C-4734-5371-D5D4-8914B05FBBD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6D2BD36E-137D-44CC-A611-C35D038A4169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36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00F3BCF0-3BA5-5C58-CF49-A67545092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CE773A1B-E3BF-A4BD-E1CA-12D8C21C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0125E30E-A913-9651-1F15-CF5BCEAF5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3">
            <a:extLst>
              <a:ext uri="{FF2B5EF4-FFF2-40B4-BE49-F238E27FC236}">
                <a16:creationId xmlns:a16="http://schemas.microsoft.com/office/drawing/2014/main" id="{C596876A-A206-C1FA-AFBC-6D66D3655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758" y="5786579"/>
            <a:ext cx="7123276" cy="595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15">
            <a:extLst>
              <a:ext uri="{FF2B5EF4-FFF2-40B4-BE49-F238E27FC236}">
                <a16:creationId xmlns:a16="http://schemas.microsoft.com/office/drawing/2014/main" id="{494E3469-ACAC-7BED-5912-1D1A83A80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35B43BC-7881-6246-5853-8DC02E3C7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13" y="1185846"/>
            <a:ext cx="6046820" cy="519589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0D68981-22A3-FA4B-9FCE-D2C7C51F73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/>
              <a:t>Action</a:t>
            </a:r>
          </a:p>
          <a:p>
            <a:pPr lvl="1"/>
            <a:r>
              <a:rPr lang="de-DE" dirty="0"/>
              <a:t>AD-Service: Self-Service über RODC</a:t>
            </a:r>
          </a:p>
          <a:p>
            <a:pPr lvl="2"/>
            <a:r>
              <a:rPr lang="de-DE" dirty="0"/>
              <a:t>Nutzer ändert selbst PW – kein privilegierter Service-Account nötig</a:t>
            </a:r>
          </a:p>
          <a:p>
            <a:pPr lvl="2"/>
            <a:r>
              <a:rPr lang="de-DE" dirty="0"/>
              <a:t>RODC leitet die Änderungen an einen beschreibbaren DC weiter (RWDC)</a:t>
            </a:r>
          </a:p>
          <a:p>
            <a:pPr lvl="2"/>
            <a:r>
              <a:rPr lang="de-DE" dirty="0"/>
              <a:t>Flexible Nutzersuche durch UPN, </a:t>
            </a:r>
            <a:r>
              <a:rPr lang="de-DE" dirty="0" err="1"/>
              <a:t>sAMAccountName</a:t>
            </a:r>
            <a:r>
              <a:rPr lang="de-DE" dirty="0"/>
              <a:t> und NetBIOS</a:t>
            </a:r>
          </a:p>
          <a:p>
            <a:pPr lvl="2"/>
            <a:r>
              <a:rPr lang="de-DE" dirty="0"/>
              <a:t>Failover: Konfigurierbarer Host </a:t>
            </a:r>
            <a:r>
              <a:rPr lang="de-DE" dirty="0">
                <a:sym typeface="Wingdings" panose="05000000000000000000" pitchFamily="2" charset="2"/>
              </a:rPr>
              <a:t> Automatische DC-Ermittlung</a:t>
            </a:r>
            <a:endParaRPr lang="de-DE" dirty="0"/>
          </a:p>
          <a:p>
            <a:pPr marL="162004" lvl="2" indent="0">
              <a:buNone/>
            </a:pPr>
            <a:endParaRPr lang="de-DE" dirty="0"/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2030B99B-00B2-9649-60AA-8438711C94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C35C025B-1292-4C95-87A5-7FBA9C4F137B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37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AB1B3AE5-7409-0E83-91B2-4E7231737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3863A6F8-3369-65BC-59C8-051FDEB67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CB4D69D1-4C9E-2714-D6D9-2E4BDE5FA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7">
            <a:extLst>
              <a:ext uri="{FF2B5EF4-FFF2-40B4-BE49-F238E27FC236}">
                <a16:creationId xmlns:a16="http://schemas.microsoft.com/office/drawing/2014/main" id="{B48FAFAB-AFD2-E99E-1E61-9CF39930C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970" y="4533896"/>
            <a:ext cx="6897063" cy="184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CB63C8-AC62-C6BA-0B80-D7DE5917D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1556108"/>
            <a:ext cx="5761034" cy="288443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8DA10-F646-B2F2-D9C6-40F78B5C3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1B7EE3EF-8018-60CF-FFF6-B05FA1ED02C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/>
              <a:t>Action</a:t>
            </a:r>
          </a:p>
          <a:p>
            <a:pPr lvl="1"/>
            <a:r>
              <a:rPr lang="de-DE" dirty="0"/>
              <a:t>Audit-</a:t>
            </a:r>
            <a:r>
              <a:rPr lang="de-DE" dirty="0" err="1"/>
              <a:t>Logging</a:t>
            </a:r>
            <a:r>
              <a:rPr lang="de-DE" dirty="0"/>
              <a:t> &amp; Security-Header</a:t>
            </a:r>
          </a:p>
          <a:p>
            <a:pPr lvl="2"/>
            <a:r>
              <a:rPr lang="de-DE" dirty="0"/>
              <a:t>Jeder Request wird protokolliert</a:t>
            </a:r>
          </a:p>
          <a:p>
            <a:pPr lvl="2"/>
            <a:r>
              <a:rPr lang="de-DE" dirty="0"/>
              <a:t>Richtiges Outcome statt nur HTTP-Statuscode</a:t>
            </a:r>
          </a:p>
          <a:p>
            <a:pPr lvl="2"/>
            <a:r>
              <a:rPr lang="de-DE" dirty="0"/>
              <a:t>Statische Dateien vom </a:t>
            </a:r>
            <a:r>
              <a:rPr lang="de-DE" dirty="0" err="1"/>
              <a:t>Logging</a:t>
            </a:r>
            <a:r>
              <a:rPr lang="de-DE" dirty="0"/>
              <a:t> ausgenommen</a:t>
            </a:r>
          </a:p>
          <a:p>
            <a:pPr lvl="2"/>
            <a:r>
              <a:rPr lang="de-DE" dirty="0"/>
              <a:t>Security-Header auf jeder Response</a:t>
            </a:r>
          </a:p>
          <a:p>
            <a:pPr lvl="2"/>
            <a:r>
              <a:rPr lang="de-DE" dirty="0"/>
              <a:t>CSP per Konfiguration sichtbar</a:t>
            </a:r>
          </a:p>
          <a:p>
            <a:pPr marL="162004" lvl="2" indent="0">
              <a:buNone/>
            </a:pPr>
            <a:endParaRPr lang="de-DE" dirty="0"/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DCE48DC6-8B78-0245-9123-FBE5EB9E54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C35C025B-1292-4C95-87A5-7FBA9C4F137B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38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9DC6A8D9-0EE8-AADD-6E9F-5CFC3FA670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AA564C0A-C6BA-C50C-82AD-D560373F3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053F8084-469A-EB40-00E3-5065D1740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7">
            <a:extLst>
              <a:ext uri="{FF2B5EF4-FFF2-40B4-BE49-F238E27FC236}">
                <a16:creationId xmlns:a16="http://schemas.microsoft.com/office/drawing/2014/main" id="{09B02C10-5BC6-35D1-F086-FC19FAE76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970" y="4533896"/>
            <a:ext cx="6897063" cy="184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CBF7FAA-E15A-461C-CFD3-29E209B59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156" y="1412866"/>
            <a:ext cx="6784206" cy="329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24724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E9D03-E75D-F5ED-AD9A-C0C3EEC9E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2081B27D-925E-F125-CA36-3BDA5672FE1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/>
              <a:t>Action</a:t>
            </a:r>
          </a:p>
          <a:p>
            <a:pPr lvl="1"/>
            <a:r>
              <a:rPr lang="de-DE" dirty="0"/>
              <a:t>Frontend</a:t>
            </a:r>
          </a:p>
          <a:p>
            <a:pPr lvl="2"/>
            <a:r>
              <a:rPr lang="de-DE" dirty="0"/>
              <a:t>Validierung doppelt durch Client (Data </a:t>
            </a:r>
            <a:r>
              <a:rPr lang="de-DE" dirty="0" err="1"/>
              <a:t>Annotations</a:t>
            </a:r>
            <a:r>
              <a:rPr lang="de-DE" dirty="0"/>
              <a:t>) und Server</a:t>
            </a:r>
          </a:p>
          <a:p>
            <a:pPr lvl="2"/>
            <a:r>
              <a:rPr lang="de-DE" dirty="0"/>
              <a:t>Mindestlänge 12 Zeichen, Wiederholung muss übereinstimmen</a:t>
            </a:r>
          </a:p>
          <a:p>
            <a:pPr lvl="2"/>
            <a:r>
              <a:rPr lang="de-DE" dirty="0"/>
              <a:t>Passwort-Generator</a:t>
            </a:r>
          </a:p>
          <a:p>
            <a:pPr lvl="2"/>
            <a:r>
              <a:rPr lang="de-DE" dirty="0"/>
              <a:t>Sichtbarkeits-</a:t>
            </a:r>
            <a:r>
              <a:rPr lang="de-DE" dirty="0" err="1"/>
              <a:t>Toggle</a:t>
            </a:r>
            <a:r>
              <a:rPr lang="de-DE" dirty="0"/>
              <a:t> pro Feld, Dark Mode</a:t>
            </a:r>
          </a:p>
          <a:p>
            <a:pPr lvl="2"/>
            <a:r>
              <a:rPr lang="de-DE" dirty="0"/>
              <a:t>Drei Sprachen: Deutsch, Englisch, Mandarin</a:t>
            </a:r>
          </a:p>
          <a:p>
            <a:pPr marL="162004" lvl="2" indent="0">
              <a:buNone/>
            </a:pPr>
            <a:endParaRPr lang="de-DE" dirty="0"/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29162FBC-ED13-1A86-6C50-771093FA7C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C35C025B-1292-4C95-87A5-7FBA9C4F137B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39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F89890BC-1433-DF64-860A-9E3635937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20867037-FA29-7E16-12E7-58D71E3FE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3165D06A-3EA3-CDF9-6EA2-36CEF3F8D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rafik 17">
            <a:extLst>
              <a:ext uri="{FF2B5EF4-FFF2-40B4-BE49-F238E27FC236}">
                <a16:creationId xmlns:a16="http://schemas.microsoft.com/office/drawing/2014/main" id="{83BB90F0-34A9-F94E-83F3-0C445C45D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970" y="4533896"/>
            <a:ext cx="6897063" cy="1847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B91AB7E-A8F9-A639-AE19-582611533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207" y="1674942"/>
            <a:ext cx="5817479" cy="147651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673718-FF49-77E9-CEC9-62AC2B171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207" y="3875788"/>
            <a:ext cx="5908247" cy="158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73030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DB55849B-1E50-C848-FD9B-8E38C757615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 dirty="0" err="1"/>
              <a:t>Result</a:t>
            </a:r>
            <a:endParaRPr lang="de-DE" dirty="0"/>
          </a:p>
          <a:p>
            <a:pPr lvl="1"/>
            <a:r>
              <a:rPr lang="de-DE" dirty="0"/>
              <a:t>Sichere Passwortänderung</a:t>
            </a:r>
          </a:p>
          <a:p>
            <a:pPr lvl="1"/>
            <a:r>
              <a:rPr lang="de-DE" dirty="0"/>
              <a:t>Komplette ASP.NET </a:t>
            </a:r>
            <a:r>
              <a:rPr lang="de-DE" dirty="0" err="1"/>
              <a:t>WebApp</a:t>
            </a:r>
            <a:endParaRPr lang="de-DE" dirty="0"/>
          </a:p>
          <a:p>
            <a:pPr lvl="1"/>
            <a:r>
              <a:rPr lang="de-DE" dirty="0" err="1"/>
              <a:t>Production</a:t>
            </a:r>
            <a:r>
              <a:rPr lang="de-DE" dirty="0"/>
              <a:t>-Ready: Error-Handling, </a:t>
            </a:r>
            <a:r>
              <a:rPr lang="de-DE" dirty="0" err="1"/>
              <a:t>Logging</a:t>
            </a:r>
            <a:r>
              <a:rPr lang="de-DE" dirty="0"/>
              <a:t>, Security</a:t>
            </a:r>
          </a:p>
          <a:p>
            <a:pPr lvl="1"/>
            <a:r>
              <a:rPr lang="de-DE" dirty="0"/>
              <a:t>Wartbar &amp; Erweiterbar</a:t>
            </a:r>
          </a:p>
          <a:p>
            <a:pPr lvl="1"/>
            <a:r>
              <a:rPr lang="de-DE" dirty="0"/>
              <a:t>Benutzerfreundlich</a:t>
            </a:r>
          </a:p>
          <a:p>
            <a:pPr marL="162004" lvl="2" indent="0">
              <a:buNone/>
            </a:pPr>
            <a:endParaRPr lang="de-DE" dirty="0"/>
          </a:p>
        </p:txBody>
      </p:sp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D9E3EC1C-8D8E-DBBD-EBB8-43164F50210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F1F45857-971B-4B1D-A743-531C6EA99E00}" type="slidenum">
              <a:rPr lang="de-DE" sz="900">
                <a:solidFill>
                  <a:srgbClr val="535456"/>
                </a:solidFill>
                <a:latin typeface="Arial"/>
                <a:ea typeface="Microsoft YaHei"/>
              </a:rPr>
              <a:t>40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E6DEE2A3-C258-3C78-D9DE-D9674AF82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Projekt 3 – Pw-change webapp</a:t>
            </a:r>
            <a:endParaRPr lang="de-DE">
              <a:cs typeface="Arial"/>
            </a:endParaRP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E9F53077-C642-6E54-9EA2-3FF44D0CF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fik 11">
            <a:extLst>
              <a:ext uri="{FF2B5EF4-FFF2-40B4-BE49-F238E27FC236}">
                <a16:creationId xmlns:a16="http://schemas.microsoft.com/office/drawing/2014/main" id="{76AAABEE-A5AD-9174-6842-BAB9BC94B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Bildplatzhalter 17">
            <a:extLst>
              <a:ext uri="{FF2B5EF4-FFF2-40B4-BE49-F238E27FC236}">
                <a16:creationId xmlns:a16="http://schemas.microsoft.com/office/drawing/2014/main" id="{F4812CFD-95A0-53B2-2883-01F0D393C3B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8265" r="8265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pic>
        <p:nvPicPr>
          <p:cNvPr id="9" name="Grafik 19">
            <a:extLst>
              <a:ext uri="{FF2B5EF4-FFF2-40B4-BE49-F238E27FC236}">
                <a16:creationId xmlns:a16="http://schemas.microsoft.com/office/drawing/2014/main" id="{314BA026-991B-DE81-63C1-098978F1D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559" y="6524984"/>
            <a:ext cx="1018248" cy="168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8">
            <a:extLst>
              <a:ext uri="{FF2B5EF4-FFF2-40B4-BE49-F238E27FC236}">
                <a16:creationId xmlns:a16="http://schemas.microsoft.com/office/drawing/2014/main" id="{D49E8097-C02B-B6F9-081E-7575E1307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148" y="613900"/>
            <a:ext cx="5661708" cy="624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10">
            <a:extLst>
              <a:ext uri="{FF2B5EF4-FFF2-40B4-BE49-F238E27FC236}">
                <a16:creationId xmlns:a16="http://schemas.microsoft.com/office/drawing/2014/main" id="{5793AFFE-D3B3-ED81-8C39-816592791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12">
            <a:extLst>
              <a:ext uri="{FF2B5EF4-FFF2-40B4-BE49-F238E27FC236}">
                <a16:creationId xmlns:a16="http://schemas.microsoft.com/office/drawing/2014/main" id="{38C48840-F5FF-E6C0-29D4-D7B018B9C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962" y="300005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14">
            <a:extLst>
              <a:ext uri="{FF2B5EF4-FFF2-40B4-BE49-F238E27FC236}">
                <a16:creationId xmlns:a16="http://schemas.microsoft.com/office/drawing/2014/main" id="{7EBDC932-6F32-76D7-361F-15BB2A636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7">
            <a:extLst>
              <a:ext uri="{FF2B5EF4-FFF2-40B4-BE49-F238E27FC236}">
                <a16:creationId xmlns:a16="http://schemas.microsoft.com/office/drawing/2014/main" id="{33491EAA-D1F8-65E0-E6DF-DA4AB533981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10656" r="10656"/>
          <a:stretch>
            <a:fillRect/>
          </a:stretch>
        </p:blipFill>
        <p:spPr>
          <a:xfrm>
            <a:off x="6203947" y="1592263"/>
            <a:ext cx="5653085" cy="4789490"/>
          </a:xfrm>
          <a:solidFill>
            <a:srgbClr val="BBBCBD"/>
          </a:solidFill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E84329-1573-A0E6-59DE-6914705895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34963" y="1592263"/>
            <a:ext cx="5651942" cy="4789490"/>
          </a:xfrm>
        </p:spPr>
        <p:txBody>
          <a:bodyPr/>
          <a:lstStyle/>
          <a:p>
            <a:pPr lvl="0"/>
            <a:r>
              <a:rPr lang="de-DE"/>
              <a:t>Was habe ich mitgenommen?</a:t>
            </a:r>
          </a:p>
          <a:p>
            <a:pPr lvl="1"/>
            <a:r>
              <a:rPr lang="de-DE"/>
              <a:t>Vielfältige Eindrücke im DevOps-Bereich</a:t>
            </a:r>
          </a:p>
          <a:p>
            <a:pPr lvl="1"/>
            <a:r>
              <a:rPr lang="de-DE"/>
              <a:t>Praxisnahe Erfahrung in API- und Webentwicklung</a:t>
            </a:r>
          </a:p>
          <a:p>
            <a:pPr lvl="1"/>
            <a:r>
              <a:rPr lang="de-DE"/>
              <a:t>Automatisierung von Infrastrukturprozessen</a:t>
            </a:r>
          </a:p>
          <a:p>
            <a:pPr lvl="1"/>
            <a:r>
              <a:rPr lang="de-DE"/>
              <a:t>Ausblick auf die Berufswelt</a:t>
            </a:r>
          </a:p>
          <a:p>
            <a:pPr marL="162004" lvl="2" indent="0">
              <a:buNone/>
            </a:pP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E2B554-1FBA-7B57-C431-289FE62F9B4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467682" y="6524984"/>
            <a:ext cx="389360" cy="143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 algn="r"/>
            <a:fld id="{78627BCC-F5E1-4ECD-88F7-9BC1DBC28748}" type="slidenum">
              <a:t>42</a:t>
            </a:fld>
            <a:endParaRPr lang="de-DE" sz="900">
              <a:solidFill>
                <a:srgbClr val="535456"/>
              </a:solidFill>
              <a:latin typeface="Arial"/>
              <a:ea typeface="Microsoft YaHei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B9704C0-CD34-C525-BF90-05894F869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63" y="876470"/>
            <a:ext cx="11522070" cy="536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Reflexion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22ED348-EDE2-944D-65A9-31E1C09FC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147602"/>
            <a:ext cx="1619475" cy="46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11">
            <a:extLst>
              <a:ext uri="{FF2B5EF4-FFF2-40B4-BE49-F238E27FC236}">
                <a16:creationId xmlns:a16="http://schemas.microsoft.com/office/drawing/2014/main" id="{7E38E79F-E529-9059-CB43-181F23EE4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559" y="6550094"/>
            <a:ext cx="1018248" cy="106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Master_NEW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HPE_Master</Template>
  <TotalTime>0</TotalTime>
  <Words>1131</Words>
  <Application>Microsoft Office PowerPoint</Application>
  <PresentationFormat>Breitbild</PresentationFormat>
  <Paragraphs>312</Paragraphs>
  <Slides>42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42</vt:i4>
      </vt:variant>
    </vt:vector>
  </HeadingPairs>
  <TitlesOfParts>
    <vt:vector size="46" baseType="lpstr">
      <vt:lpstr>Arial</vt:lpstr>
      <vt:lpstr>Calibri</vt:lpstr>
      <vt:lpstr>Wingdings</vt:lpstr>
      <vt:lpstr>Master_NEW</vt:lpstr>
      <vt:lpstr>Cloud infrastructure automation  </vt:lpstr>
      <vt:lpstr>Agenda – 6 topics</vt:lpstr>
      <vt:lpstr>Einführung</vt:lpstr>
      <vt:lpstr>Einführung</vt:lpstr>
      <vt:lpstr>Backend team</vt:lpstr>
      <vt:lpstr>Backend team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Projekt 1 - Logging</vt:lpstr>
      <vt:lpstr>Projekt 1 - Logging</vt:lpstr>
      <vt:lpstr>Projekt 1 - Logging</vt:lpstr>
      <vt:lpstr>Projekt 1 - Logging</vt:lpstr>
      <vt:lpstr>Projekt 1 - Logging</vt:lpstr>
      <vt:lpstr>Projekt 1 - Logging</vt:lpstr>
      <vt:lpstr>Projekt 1 - Logging</vt:lpstr>
      <vt:lpstr>Projekt 1 - Logging</vt:lpstr>
      <vt:lpstr>PowerPoint-Präsentation</vt:lpstr>
      <vt:lpstr>PowerPoint-Präsentation</vt:lpstr>
      <vt:lpstr>Projekt 2 – TXT-Records (WIP)</vt:lpstr>
      <vt:lpstr>Projekt 2 – TXT-Records (WIP)</vt:lpstr>
      <vt:lpstr>Projekt 2 – TXT-Records (WIP)</vt:lpstr>
      <vt:lpstr>Projekt 2 – TXT-Records (WIP)</vt:lpstr>
      <vt:lpstr>Projekt 2 – TXT-Records (WIP)</vt:lpstr>
      <vt:lpstr>Projekt 2 – TXT-Records (WIP)</vt:lpstr>
      <vt:lpstr>Projekt 2 – TXT-Records (WIP)</vt:lpstr>
      <vt:lpstr>PowerPoint-Präsentation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Projekt 3 – Pw-change webapp</vt:lpstr>
      <vt:lpstr>PowerPoint-Präsentation</vt:lpstr>
      <vt:lpstr>Reflexion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Akalai, Nassim</dc:creator>
  <cp:lastModifiedBy>Akalai, Nassim</cp:lastModifiedBy>
  <cp:revision>81</cp:revision>
  <dcterms:created xsi:type="dcterms:W3CDTF">2026-08-18T10:00:00Z</dcterms:created>
  <dcterms:modified xsi:type="dcterms:W3CDTF">2026-09-22T15:26:21Z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0x010100B31BB4AC724D91479194FEB4AEF18316</vt:lpwstr>
  </property>
</Properties>
</file>